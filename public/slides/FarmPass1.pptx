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3"/>
    <p:sldId id="16669931" r:id="rId5"/>
    <p:sldId id="256" r:id="rId6"/>
    <p:sldId id="638" r:id="rId7"/>
    <p:sldId id="16669959" r:id="rId8"/>
    <p:sldId id="16669926" r:id="rId9"/>
    <p:sldId id="16669934" r:id="rId10"/>
    <p:sldId id="16669930" r:id="rId11"/>
    <p:sldId id="16669927" r:id="rId12"/>
    <p:sldId id="16669929" r:id="rId13"/>
    <p:sldId id="16669965" r:id="rId14"/>
    <p:sldId id="16669935" r:id="rId15"/>
    <p:sldId id="16669966" r:id="rId16"/>
    <p:sldId id="65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2" autoAdjust="0"/>
    <p:restoredTop sz="94660"/>
  </p:normalViewPr>
  <p:slideViewPr>
    <p:cSldViewPr snapToGrid="0">
      <p:cViewPr varScale="1">
        <p:scale>
          <a:sx n="87" d="100"/>
          <a:sy n="87" d="100"/>
        </p:scale>
        <p:origin x="12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053CA-CF53-450A-A8AB-49CB73F3D16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EF9D88-05C0-44EE-A537-C020C5B71D3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
        <p:cNvGrpSpPr/>
        <p:nvPr/>
      </p:nvGrpSpPr>
      <p:grpSpPr>
        <a:xfrm>
          <a:off x="0" y="0"/>
          <a:ext cx="0" cy="0"/>
          <a:chOff x="0" y="0"/>
          <a:chExt cx="0" cy="0"/>
        </a:xfrm>
      </p:grpSpPr>
      <p:sp>
        <p:nvSpPr>
          <p:cNvPr id="152" name="Google Shape;1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4" name="Google Shape;15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5" name="Google Shape;155;p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August 3, 2023</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
        <p:cNvGrpSpPr/>
        <p:nvPr/>
      </p:nvGrpSpPr>
      <p:grpSpPr>
        <a:xfrm>
          <a:off x="0" y="0"/>
          <a:ext cx="0" cy="0"/>
          <a:chOff x="0" y="0"/>
          <a:chExt cx="0" cy="0"/>
        </a:xfrm>
      </p:grpSpPr>
      <p:sp>
        <p:nvSpPr>
          <p:cNvPr id="152" name="Google Shape;1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4" name="Google Shape;15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55" name="Google Shape;155;p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August 3, 2023</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9"/>
        <p:cNvGrpSpPr/>
        <p:nvPr/>
      </p:nvGrpSpPr>
      <p:grpSpPr>
        <a:xfrm>
          <a:off x="0" y="0"/>
          <a:ext cx="0" cy="0"/>
          <a:chOff x="0" y="0"/>
          <a:chExt cx="0" cy="0"/>
        </a:xfrm>
      </p:grpSpPr>
      <p:sp>
        <p:nvSpPr>
          <p:cNvPr id="850" name="Google Shape;8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52" name="Google Shape;85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algn="r">
              <a:buSzPts val="1200"/>
              <a:buFont typeface="Calibri" panose="020F0502020204030204"/>
              <a:buNone/>
            </a:pPr>
            <a:fld id="{00000000-1234-1234-1234-123412341234}" type="slidenum">
              <a:rPr lang="en-US" sz="1200">
                <a:latin typeface="Calibri" panose="020F0502020204030204"/>
                <a:ea typeface="Calibri" panose="020F0502020204030204"/>
                <a:cs typeface="Calibri" panose="020F0502020204030204"/>
                <a:sym typeface="Calibri" panose="020F0502020204030204"/>
              </a:rPr>
            </a:fld>
            <a:endParaRPr sz="1200">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321C93-C6C5-43C9-BDBB-3B3926036F61}" type="slidenum">
              <a:rPr lang="en-US" smtClean="0"/>
            </a:fld>
            <a:endParaRPr lang="en-US"/>
          </a:p>
        </p:txBody>
      </p:sp>
      <p:sp>
        <p:nvSpPr>
          <p:cNvPr id="5" name="Date Placeholder 4"/>
          <p:cNvSpPr>
            <a:spLocks noGrp="1"/>
          </p:cNvSpPr>
          <p:nvPr>
            <p:ph type="dt" idx="11"/>
          </p:nvPr>
        </p:nvSpPr>
        <p:spPr/>
        <p:txBody>
          <a:bodyPr/>
          <a:lstStyle/>
          <a:p>
            <a:r>
              <a:rPr lang="en-US"/>
              <a:t>August 3, 2023</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321C93-C6C5-43C9-BDBB-3B3926036F61}" type="slidenum">
              <a:rPr lang="en-US" smtClean="0"/>
            </a:fld>
            <a:endParaRPr lang="en-US"/>
          </a:p>
        </p:txBody>
      </p:sp>
      <p:sp>
        <p:nvSpPr>
          <p:cNvPr id="5" name="Date Placeholder 4"/>
          <p:cNvSpPr>
            <a:spLocks noGrp="1"/>
          </p:cNvSpPr>
          <p:nvPr>
            <p:ph type="dt" idx="11"/>
          </p:nvPr>
        </p:nvSpPr>
        <p:spPr/>
        <p:txBody>
          <a:bodyPr/>
          <a:lstStyle/>
          <a:p>
            <a:r>
              <a:rPr lang="en-US"/>
              <a:t>August 3, 2023</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g77ae687167_0_1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7ae687167_0_1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E83EF52-0132-4238-911B-99A95BC3EF1F}" type="slidenum">
              <a:rPr 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BF43FF42-0ED0-4C1F-8C51-8B1F35483F8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F43FF42-0ED0-4C1F-8C51-8B1F35483F8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F43FF42-0ED0-4C1F-8C51-8B1F35483F8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BF43FF42-0ED0-4C1F-8C51-8B1F35483F8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BF43FF42-0ED0-4C1F-8C51-8B1F35483F8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F43FF42-0ED0-4C1F-8C51-8B1F35483F8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43FF42-0ED0-4C1F-8C51-8B1F35483F8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F43FF42-0ED0-4C1F-8C51-8B1F35483F8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F43FF42-0ED0-4C1F-8C51-8B1F35483F8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F43FF42-0ED0-4C1F-8C51-8B1F35483F8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F43FF42-0ED0-4C1F-8C51-8B1F35483F8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0AA11A-1B5F-44F7-A800-74ABBDD7AAA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87255"/>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anose="020B0604020202020204" pitchFamily="34" charset="0"/>
              </a:defRPr>
            </a:lvl1pPr>
          </a:lstStyle>
          <a:p>
            <a:pPr lvl="0"/>
            <a:r>
              <a:rPr lang="en-US" altLang="ko-KR" dirty="0"/>
              <a:t>BASIC LAYOUT</a:t>
            </a:r>
            <a:endParaRPr lang="en-US" altLang="ko-K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s slide layout">
  <p:cSld name="Contents slide layout">
    <p:spTree>
      <p:nvGrpSpPr>
        <p:cNvPr id="1" name="Shape 414"/>
        <p:cNvGrpSpPr/>
        <p:nvPr/>
      </p:nvGrpSpPr>
      <p:grpSpPr>
        <a:xfrm>
          <a:off x="0" y="0"/>
          <a:ext cx="0" cy="0"/>
          <a:chOff x="0" y="0"/>
          <a:chExt cx="0" cy="0"/>
        </a:xfrm>
      </p:grpSpPr>
      <p:sp>
        <p:nvSpPr>
          <p:cNvPr id="415" name="Google Shape;415;p27"/>
          <p:cNvSpPr txBox="1">
            <a:spLocks noGrp="1"/>
          </p:cNvSpPr>
          <p:nvPr>
            <p:ph type="body" idx="1"/>
          </p:nvPr>
        </p:nvSpPr>
        <p:spPr>
          <a:xfrm>
            <a:off x="323529" y="287255"/>
            <a:ext cx="11573197" cy="724247"/>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00"/>
              </a:spcBef>
              <a:spcAft>
                <a:spcPts val="0"/>
              </a:spcAft>
              <a:buClr>
                <a:srgbClr val="262626"/>
              </a:buClr>
              <a:buSzPts val="5400"/>
              <a:buNone/>
              <a:defRPr sz="5400" b="0">
                <a:solidFill>
                  <a:srgbClr val="262626"/>
                </a:solidFill>
                <a:latin typeface="Arial" panose="020B0604020202020204"/>
                <a:ea typeface="Arial" panose="020B0604020202020204"/>
                <a:cs typeface="Arial" panose="020B0604020202020204"/>
                <a:sym typeface="Arial" panose="020B0604020202020204"/>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8" name="Text Placeholder 7"/>
          <p:cNvSpPr>
            <a:spLocks noGrp="1"/>
          </p:cNvSpPr>
          <p:nvPr>
            <p:ph type="body" sz="quarter" idx="14"/>
          </p:nvPr>
        </p:nvSpPr>
        <p:spPr bwMode="gray">
          <a:xfrm>
            <a:off x="4159251" y="256032"/>
            <a:ext cx="3522760" cy="55057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Title 1"/>
          <p:cNvSpPr>
            <a:spLocks noGrp="1"/>
          </p:cNvSpPr>
          <p:nvPr>
            <p:ph type="title"/>
          </p:nvPr>
        </p:nvSpPr>
        <p:spPr bwMode="gray"/>
        <p:txBody>
          <a:bodyPr/>
          <a:lstStyle/>
          <a:p>
            <a:r>
              <a:rPr lang="en-US"/>
              <a:t>Click to edit Master title style</a:t>
            </a:r>
            <a:endParaRPr lang="en-US"/>
          </a:p>
        </p:txBody>
      </p:sp>
      <p:sp>
        <p:nvSpPr>
          <p:cNvPr id="3" name="Text Placeholder 2"/>
          <p:cNvSpPr>
            <a:spLocks noGrp="1"/>
          </p:cNvSpPr>
          <p:nvPr>
            <p:ph type="body" sz="quarter" idx="18"/>
          </p:nvPr>
        </p:nvSpPr>
        <p:spPr bwMode="gray">
          <a:xfrm>
            <a:off x="7913836" y="256032"/>
            <a:ext cx="3522760" cy="550576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Slide Number Placeholder 5"/>
          <p:cNvSpPr>
            <a:spLocks noGrp="1"/>
          </p:cNvSpPr>
          <p:nvPr>
            <p:ph type="sldNum" sz="quarter" idx="19"/>
          </p:nvPr>
        </p:nvSpPr>
        <p:spPr bwMode="gray">
          <a:xfrm>
            <a:off x="5996782" y="6538119"/>
            <a:ext cx="192088" cy="189706"/>
          </a:xfrm>
        </p:spPr>
        <p:txBody>
          <a:bodyPr/>
          <a:lstStyle>
            <a:lvl1pPr>
              <a:defRPr/>
            </a:lvl1pPr>
          </a:lstStyle>
          <a:p>
            <a:pPr>
              <a:defRPr/>
            </a:pPr>
            <a:fld id="{4967314E-B29E-4DD3-BEA7-93A291FD7921}" type="slidenum">
              <a:rPr lang="en-US"/>
            </a:fld>
            <a:endParaRPr lang="en-US"/>
          </a:p>
        </p:txBody>
      </p:sp>
      <p:sp>
        <p:nvSpPr>
          <p:cNvPr id="4" name="Footer Placeholder 4"/>
          <p:cNvSpPr>
            <a:spLocks noGrp="1"/>
          </p:cNvSpPr>
          <p:nvPr>
            <p:ph type="ftr" sz="quarter" idx="20"/>
          </p:nvPr>
        </p:nvSpPr>
        <p:spPr bwMode="gray">
          <a:xfrm>
            <a:off x="0" y="0"/>
            <a:ext cx="0" cy="0"/>
          </a:xfrm>
        </p:spPr>
        <p:txBody>
          <a:bodyPr/>
          <a:lstStyle>
            <a:lvl1pPr>
              <a:defRPr/>
            </a:lvl1pPr>
          </a:lstStyle>
          <a:p>
            <a:pPr>
              <a:defRPr/>
            </a:pPr>
            <a:endParaRPr lang="en-US"/>
          </a:p>
        </p:txBody>
      </p:sp>
      <p:sp>
        <p:nvSpPr>
          <p:cNvPr id="5" name="Date Placeholder 3"/>
          <p:cNvSpPr>
            <a:spLocks noGrp="1"/>
          </p:cNvSpPr>
          <p:nvPr>
            <p:ph type="dt" sz="half" idx="21"/>
          </p:nvPr>
        </p:nvSpPr>
        <p:spPr bwMode="gray">
          <a:xfrm>
            <a:off x="0" y="0"/>
            <a:ext cx="0" cy="0"/>
          </a:xfrm>
        </p:spPr>
        <p:txBody>
          <a:bodyPr/>
          <a:lstStyle>
            <a:lvl1pPr>
              <a:defRPr/>
            </a:lvl1pPr>
          </a:lstStyle>
          <a:p>
            <a:pPr>
              <a:defRPr/>
            </a:pPr>
            <a:r>
              <a:rPr lang="en-US"/>
              <a:t>August 3, 2023</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13" name="Slide Number Placeholder 5"/>
          <p:cNvSpPr>
            <a:spLocks noGrp="1"/>
          </p:cNvSpPr>
          <p:nvPr>
            <p:ph type="sldNum" sz="quarter" idx="17"/>
          </p:nvPr>
        </p:nvSpPr>
        <p:spPr bwMode="gray"/>
        <p:txBody>
          <a:bodyPr/>
          <a:lstStyle/>
          <a:p>
            <a:fld id="{3AB2DB24-5BB4-4F1B-973E-A10FA63DFB9A}" type="slidenum">
              <a:rPr lang="en-US" smtClean="0"/>
            </a:fld>
            <a:endParaRPr lang="en-US"/>
          </a:p>
        </p:txBody>
      </p:sp>
      <p:sp>
        <p:nvSpPr>
          <p:cNvPr id="12" name="Footer Placeholder 4"/>
          <p:cNvSpPr>
            <a:spLocks noGrp="1"/>
          </p:cNvSpPr>
          <p:nvPr>
            <p:ph type="ftr" sz="quarter" idx="16"/>
          </p:nvPr>
        </p:nvSpPr>
        <p:spPr bwMode="gray"/>
        <p:txBody>
          <a:bodyPr/>
          <a:lstStyle/>
          <a:p>
            <a:endParaRPr lang="en-US"/>
          </a:p>
        </p:txBody>
      </p:sp>
      <p:sp>
        <p:nvSpPr>
          <p:cNvPr id="11" name="Date Placeholder 3"/>
          <p:cNvSpPr>
            <a:spLocks noGrp="1"/>
          </p:cNvSpPr>
          <p:nvPr>
            <p:ph type="dt" sz="half" idx="15"/>
          </p:nvPr>
        </p:nvSpPr>
        <p:spPr bwMode="gray"/>
        <p:txBody>
          <a:bodyPr/>
          <a:lstStyle/>
          <a:p>
            <a:r>
              <a:rPr lang="en-US"/>
              <a:t>August 3, 2023</a:t>
            </a:r>
            <a:endParaRPr lang="en-US"/>
          </a:p>
        </p:txBody>
      </p:sp>
      <p:sp>
        <p:nvSpPr>
          <p:cNvPr id="8" name="Text Placeholder 7"/>
          <p:cNvSpPr>
            <a:spLocks noGrp="1"/>
          </p:cNvSpPr>
          <p:nvPr>
            <p:ph type="body" sz="quarter" idx="14"/>
          </p:nvPr>
        </p:nvSpPr>
        <p:spPr bwMode="gray">
          <a:xfrm>
            <a:off x="4159251" y="256032"/>
            <a:ext cx="3522760" cy="55057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Title 1"/>
          <p:cNvSpPr>
            <a:spLocks noGrp="1"/>
          </p:cNvSpPr>
          <p:nvPr>
            <p:ph type="title"/>
          </p:nvPr>
        </p:nvSpPr>
        <p:spPr bwMode="gray"/>
        <p:txBody>
          <a:bodyPr/>
          <a:lstStyle/>
          <a:p>
            <a:r>
              <a:rPr lang="en-US"/>
              <a:t>Click to edit Master title style</a:t>
            </a:r>
            <a:endParaRPr lang="en-US"/>
          </a:p>
        </p:txBody>
      </p:sp>
      <p:sp>
        <p:nvSpPr>
          <p:cNvPr id="3" name="Text Placeholder 2"/>
          <p:cNvSpPr>
            <a:spLocks noGrp="1"/>
          </p:cNvSpPr>
          <p:nvPr>
            <p:ph type="body" sz="quarter" idx="18"/>
          </p:nvPr>
        </p:nvSpPr>
        <p:spPr bwMode="gray">
          <a:xfrm>
            <a:off x="7913836" y="256032"/>
            <a:ext cx="3522760" cy="55057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5_Comparison">
    <p:spTree>
      <p:nvGrpSpPr>
        <p:cNvPr id="1" name=""/>
        <p:cNvGrpSpPr/>
        <p:nvPr/>
      </p:nvGrpSpPr>
      <p:grpSpPr>
        <a:xfrm>
          <a:off x="0" y="0"/>
          <a:ext cx="0" cy="0"/>
          <a:chOff x="0" y="0"/>
          <a:chExt cx="0" cy="0"/>
        </a:xfrm>
      </p:grpSpPr>
      <p:sp>
        <p:nvSpPr>
          <p:cNvPr id="13" name="Slide Number Placeholder 5"/>
          <p:cNvSpPr>
            <a:spLocks noGrp="1"/>
          </p:cNvSpPr>
          <p:nvPr>
            <p:ph type="sldNum" sz="quarter" idx="17"/>
          </p:nvPr>
        </p:nvSpPr>
        <p:spPr bwMode="gray"/>
        <p:txBody>
          <a:bodyPr/>
          <a:lstStyle/>
          <a:p>
            <a:fld id="{3AB2DB24-5BB4-4F1B-973E-A10FA63DFB9A}" type="slidenum">
              <a:rPr lang="en-US" smtClean="0"/>
            </a:fld>
            <a:endParaRPr lang="en-US"/>
          </a:p>
        </p:txBody>
      </p:sp>
      <p:sp>
        <p:nvSpPr>
          <p:cNvPr id="12" name="Footer Placeholder 4"/>
          <p:cNvSpPr>
            <a:spLocks noGrp="1"/>
          </p:cNvSpPr>
          <p:nvPr>
            <p:ph type="ftr" sz="quarter" idx="16"/>
          </p:nvPr>
        </p:nvSpPr>
        <p:spPr bwMode="gray"/>
        <p:txBody>
          <a:bodyPr/>
          <a:lstStyle/>
          <a:p>
            <a:endParaRPr lang="en-US"/>
          </a:p>
        </p:txBody>
      </p:sp>
      <p:sp>
        <p:nvSpPr>
          <p:cNvPr id="11" name="Date Placeholder 3"/>
          <p:cNvSpPr>
            <a:spLocks noGrp="1"/>
          </p:cNvSpPr>
          <p:nvPr>
            <p:ph type="dt" sz="half" idx="15"/>
          </p:nvPr>
        </p:nvSpPr>
        <p:spPr bwMode="gray"/>
        <p:txBody>
          <a:bodyPr/>
          <a:lstStyle/>
          <a:p>
            <a:r>
              <a:rPr lang="en-US"/>
              <a:t>August 3, 2023</a:t>
            </a:r>
            <a:endParaRPr lang="en-US"/>
          </a:p>
        </p:txBody>
      </p:sp>
      <p:sp>
        <p:nvSpPr>
          <p:cNvPr id="8" name="Text Placeholder 7"/>
          <p:cNvSpPr>
            <a:spLocks noGrp="1"/>
          </p:cNvSpPr>
          <p:nvPr>
            <p:ph type="body" sz="quarter" idx="14"/>
          </p:nvPr>
        </p:nvSpPr>
        <p:spPr bwMode="gray">
          <a:xfrm>
            <a:off x="4159251" y="256032"/>
            <a:ext cx="3522760" cy="55057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Title 1"/>
          <p:cNvSpPr>
            <a:spLocks noGrp="1"/>
          </p:cNvSpPr>
          <p:nvPr>
            <p:ph type="title"/>
          </p:nvPr>
        </p:nvSpPr>
        <p:spPr bwMode="gray"/>
        <p:txBody>
          <a:bodyPr/>
          <a:lstStyle/>
          <a:p>
            <a:r>
              <a:rPr lang="en-US"/>
              <a:t>Click to edit Master title style</a:t>
            </a:r>
            <a:endParaRPr lang="en-US"/>
          </a:p>
        </p:txBody>
      </p:sp>
      <p:sp>
        <p:nvSpPr>
          <p:cNvPr id="3" name="Text Placeholder 2"/>
          <p:cNvSpPr>
            <a:spLocks noGrp="1"/>
          </p:cNvSpPr>
          <p:nvPr>
            <p:ph type="body" sz="quarter" idx="18"/>
          </p:nvPr>
        </p:nvSpPr>
        <p:spPr bwMode="gray">
          <a:xfrm>
            <a:off x="7913836" y="256032"/>
            <a:ext cx="3522760" cy="55057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Comparison">
    <p:spTree>
      <p:nvGrpSpPr>
        <p:cNvPr id="1" name=""/>
        <p:cNvGrpSpPr/>
        <p:nvPr/>
      </p:nvGrpSpPr>
      <p:grpSpPr>
        <a:xfrm>
          <a:off x="0" y="0"/>
          <a:ext cx="0" cy="0"/>
          <a:chOff x="0" y="0"/>
          <a:chExt cx="0" cy="0"/>
        </a:xfrm>
      </p:grpSpPr>
      <p:sp>
        <p:nvSpPr>
          <p:cNvPr id="13" name="Slide Number Placeholder 5"/>
          <p:cNvSpPr>
            <a:spLocks noGrp="1"/>
          </p:cNvSpPr>
          <p:nvPr>
            <p:ph type="sldNum" sz="quarter" idx="17"/>
          </p:nvPr>
        </p:nvSpPr>
        <p:spPr bwMode="gray"/>
        <p:txBody>
          <a:bodyPr/>
          <a:lstStyle/>
          <a:p>
            <a:fld id="{3AB2DB24-5BB4-4F1B-973E-A10FA63DFB9A}" type="slidenum">
              <a:rPr lang="en-US" smtClean="0"/>
            </a:fld>
            <a:endParaRPr lang="en-US"/>
          </a:p>
        </p:txBody>
      </p:sp>
      <p:sp>
        <p:nvSpPr>
          <p:cNvPr id="12" name="Footer Placeholder 4"/>
          <p:cNvSpPr>
            <a:spLocks noGrp="1"/>
          </p:cNvSpPr>
          <p:nvPr>
            <p:ph type="ftr" sz="quarter" idx="16"/>
          </p:nvPr>
        </p:nvSpPr>
        <p:spPr bwMode="gray"/>
        <p:txBody>
          <a:bodyPr/>
          <a:lstStyle/>
          <a:p>
            <a:endParaRPr lang="en-US"/>
          </a:p>
        </p:txBody>
      </p:sp>
      <p:sp>
        <p:nvSpPr>
          <p:cNvPr id="11" name="Date Placeholder 3"/>
          <p:cNvSpPr>
            <a:spLocks noGrp="1"/>
          </p:cNvSpPr>
          <p:nvPr>
            <p:ph type="dt" sz="half" idx="15"/>
          </p:nvPr>
        </p:nvSpPr>
        <p:spPr bwMode="gray"/>
        <p:txBody>
          <a:bodyPr/>
          <a:lstStyle/>
          <a:p>
            <a:r>
              <a:rPr lang="en-US"/>
              <a:t>August 3, 2023</a:t>
            </a:r>
            <a:endParaRPr lang="en-US"/>
          </a:p>
        </p:txBody>
      </p:sp>
      <p:sp>
        <p:nvSpPr>
          <p:cNvPr id="8" name="Text Placeholder 7"/>
          <p:cNvSpPr>
            <a:spLocks noGrp="1"/>
          </p:cNvSpPr>
          <p:nvPr>
            <p:ph type="body" sz="quarter" idx="14"/>
          </p:nvPr>
        </p:nvSpPr>
        <p:spPr bwMode="gray">
          <a:xfrm>
            <a:off x="4159251" y="256032"/>
            <a:ext cx="3522760" cy="55057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Title 1"/>
          <p:cNvSpPr>
            <a:spLocks noGrp="1"/>
          </p:cNvSpPr>
          <p:nvPr>
            <p:ph type="title"/>
          </p:nvPr>
        </p:nvSpPr>
        <p:spPr bwMode="gray"/>
        <p:txBody>
          <a:bodyPr/>
          <a:lstStyle/>
          <a:p>
            <a:r>
              <a:rPr lang="en-US"/>
              <a:t>Click to edit Master title style</a:t>
            </a:r>
            <a:endParaRPr lang="en-US"/>
          </a:p>
        </p:txBody>
      </p:sp>
      <p:sp>
        <p:nvSpPr>
          <p:cNvPr id="3" name="Text Placeholder 2"/>
          <p:cNvSpPr>
            <a:spLocks noGrp="1"/>
          </p:cNvSpPr>
          <p:nvPr>
            <p:ph type="body" sz="quarter" idx="18"/>
          </p:nvPr>
        </p:nvSpPr>
        <p:spPr bwMode="gray">
          <a:xfrm>
            <a:off x="7913836" y="256032"/>
            <a:ext cx="3522760" cy="550576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2_Comparison">
  <p:cSld name="12_Comparison">
    <p:spTree>
      <p:nvGrpSpPr>
        <p:cNvPr id="1" name="Shape 28"/>
        <p:cNvGrpSpPr/>
        <p:nvPr/>
      </p:nvGrpSpPr>
      <p:grpSpPr>
        <a:xfrm>
          <a:off x="0" y="0"/>
          <a:ext cx="0" cy="0"/>
          <a:chOff x="0" y="0"/>
          <a:chExt cx="0" cy="0"/>
        </a:xfrm>
      </p:grpSpPr>
      <p:sp>
        <p:nvSpPr>
          <p:cNvPr id="29" name="Google Shape;29;p37"/>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fld>
            <a:endParaRPr lang="en-US"/>
          </a:p>
        </p:txBody>
      </p:sp>
      <p:sp>
        <p:nvSpPr>
          <p:cNvPr id="30" name="Google Shape;30;p37"/>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a:spLocks noGrp="1"/>
          </p:cNvSpPr>
          <p:nvPr>
            <p:ph type="body" idx="1"/>
          </p:nvPr>
        </p:nvSpPr>
        <p:spPr>
          <a:xfrm>
            <a:off x="4159251" y="256033"/>
            <a:ext cx="3522760" cy="550576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7"/>
          <p:cNvSpPr txBox="1">
            <a:spLocks noGrp="1"/>
          </p:cNvSpPr>
          <p:nvPr>
            <p:ph type="body" idx="2"/>
          </p:nvPr>
        </p:nvSpPr>
        <p:spPr>
          <a:xfrm>
            <a:off x="7913836" y="256033"/>
            <a:ext cx="3522760" cy="550576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0" y="200177"/>
            <a:ext cx="12192000" cy="775778"/>
          </a:xfrm>
          <a:prstGeom prst="rect">
            <a:avLst/>
          </a:prstGeom>
        </p:spPr>
        <p:txBody>
          <a:bodyPr vert="horz" lIns="91440" tIns="45720" rIns="91440" bIns="45720" rtlCol="0" anchor="ctr">
            <a:normAutofit/>
          </a:bodyPr>
          <a:lstStyle>
            <a:lvl1pPr algn="ctr">
              <a:defRPr sz="4800" b="1">
                <a:solidFill>
                  <a:schemeClr val="tx1">
                    <a:lumMod val="65000"/>
                    <a:lumOff val="35000"/>
                  </a:schemeClr>
                </a:solidFill>
              </a:defRPr>
            </a:lvl1pPr>
          </a:lstStyle>
          <a:p>
            <a:r>
              <a:rPr lang="en-US" dirty="0"/>
              <a:t>Click to edit Master title style</a:t>
            </a:r>
            <a:endParaRPr lang="en-US" dirty="0"/>
          </a:p>
        </p:txBody>
      </p:sp>
      <p:sp>
        <p:nvSpPr>
          <p:cNvPr id="8" name="Rectangle 6"/>
          <p:cNvSpPr/>
          <p:nvPr userDrawn="1"/>
        </p:nvSpPr>
        <p:spPr>
          <a:xfrm>
            <a:off x="0" y="6597352"/>
            <a:ext cx="12192000" cy="26064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0" name="텍스트 개체 틀 2"/>
          <p:cNvSpPr>
            <a:spLocks noGrp="1"/>
          </p:cNvSpPr>
          <p:nvPr>
            <p:ph type="body" sz="quarter" idx="41" hasCustomPrompt="1"/>
          </p:nvPr>
        </p:nvSpPr>
        <p:spPr>
          <a:xfrm>
            <a:off x="0" y="1005381"/>
            <a:ext cx="12192000" cy="419379"/>
          </a:xfrm>
          <a:prstGeom prst="rect">
            <a:avLst/>
          </a:prstGeom>
        </p:spPr>
        <p:txBody>
          <a:bodyPr anchor="ctr"/>
          <a:lstStyle>
            <a:lvl1pPr marL="0" marR="0" indent="0" algn="ctr" defTabSz="914400" rtl="0" eaLnBrk="1" fontAlgn="auto" latinLnBrk="1" hangingPunct="1">
              <a:lnSpc>
                <a:spcPct val="90000"/>
              </a:lnSpc>
              <a:spcBef>
                <a:spcPts val="1000"/>
              </a:spcBef>
              <a:spcAft>
                <a:spcPts val="0"/>
              </a:spcAft>
              <a:buClrTx/>
              <a:buSzTx/>
              <a:buFontTx/>
              <a:buNone/>
              <a:defRPr sz="2400" b="0">
                <a:solidFill>
                  <a:schemeClr val="tx1">
                    <a:lumMod val="65000"/>
                    <a:lumOff val="35000"/>
                  </a:schemeClr>
                </a:solidFill>
              </a:defRPr>
            </a:lvl1pPr>
          </a:lstStyle>
          <a:p>
            <a:pPr marL="0" marR="0" lvl="0" indent="0" algn="ctr" defTabSz="914400" rtl="0" eaLnBrk="1" fontAlgn="auto" latinLnBrk="1" hangingPunct="1">
              <a:lnSpc>
                <a:spcPct val="90000"/>
              </a:lnSpc>
              <a:spcBef>
                <a:spcPts val="1000"/>
              </a:spcBef>
              <a:spcAft>
                <a:spcPts val="0"/>
              </a:spcAft>
              <a:buClrTx/>
              <a:buSzTx/>
              <a:buFontTx/>
              <a:buNone/>
              <a:defRPr/>
            </a:pPr>
            <a:r>
              <a:rPr lang="en-US" altLang="ko-KR" dirty="0"/>
              <a:t>Subtitle in this line</a:t>
            </a:r>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43FF42-0ED0-4C1F-8C51-8B1F35483F83}"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0AA11A-1B5F-44F7-A800-74ABBDD7AAA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8.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4.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5.xml"/><Relationship Id="rId4" Type="http://schemas.openxmlformats.org/officeDocument/2006/relationships/image" Target="../media/image15.png"/><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6.xml"/><Relationship Id="rId4" Type="http://schemas.openxmlformats.org/officeDocument/2006/relationships/image" Target="../media/image16.png"/><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10.png"/><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image" Target="../media/image17.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10.png"/><Relationship Id="rId3" Type="http://schemas.openxmlformats.org/officeDocument/2006/relationships/image" Target="../media/image18.jpeg"/><Relationship Id="rId2" Type="http://schemas.openxmlformats.org/officeDocument/2006/relationships/image" Target="../media/image1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10.png"/><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image" Target="../media/image19.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10.png"/><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25.jpeg"/><Relationship Id="rId4" Type="http://schemas.openxmlformats.org/officeDocument/2006/relationships/image" Target="../media/image24.GIF"/><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27.png"/><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4" name="object 13" descr="object 13"/>
          <p:cNvPicPr>
            <a:picLocks noChangeAspect="1" noChangeArrowheads="1"/>
          </p:cNvPicPr>
          <p:nvPr/>
        </p:nvPicPr>
        <p:blipFill>
          <a:blip r:embed="rId1">
            <a:extLst>
              <a:ext uri="{28A0092B-C50C-407E-A947-70E740481C1C}">
                <a14:useLocalDpi xmlns:a14="http://schemas.microsoft.com/office/drawing/2010/main" val="0"/>
              </a:ext>
            </a:extLst>
          </a:blip>
          <a:srcRect b="6226"/>
          <a:stretch>
            <a:fillRect/>
          </a:stretch>
        </p:blipFill>
        <p:spPr bwMode="auto">
          <a:xfrm>
            <a:off x="105086" y="452672"/>
            <a:ext cx="11285642" cy="5952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16239"/>
          <a:stretch>
            <a:fillRect/>
          </a:stretch>
        </p:blipFill>
        <p:spPr>
          <a:xfrm>
            <a:off x="0" y="1113754"/>
            <a:ext cx="12192000" cy="5744245"/>
          </a:xfrm>
          <a:prstGeom prst="rect">
            <a:avLst/>
          </a:prstGeom>
        </p:spPr>
      </p:pic>
      <p:sp>
        <p:nvSpPr>
          <p:cNvPr id="3" name="TextBox 2"/>
          <p:cNvSpPr txBox="1"/>
          <p:nvPr/>
        </p:nvSpPr>
        <p:spPr>
          <a:xfrm>
            <a:off x="3805494" y="3017562"/>
            <a:ext cx="6097218" cy="646331"/>
          </a:xfrm>
          <a:prstGeom prst="rect">
            <a:avLst/>
          </a:prstGeom>
          <a:noFill/>
        </p:spPr>
        <p:txBody>
          <a:bodyPr wrap="square">
            <a:spAutoFit/>
          </a:bodyPr>
          <a:lstStyle/>
          <a:p>
            <a:r>
              <a:rPr lang="en-US" sz="3600" kern="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Coopbank Farm Pass</a:t>
            </a:r>
            <a:endParaRPr lang="en-US" sz="3600" dirty="0">
              <a:solidFill>
                <a:srgbClr val="00B0F0"/>
              </a:solidFill>
            </a:endParaRPr>
          </a:p>
        </p:txBody>
      </p:sp>
      <p:sp>
        <p:nvSpPr>
          <p:cNvPr id="2" name="TextBox 1"/>
          <p:cNvSpPr txBox="1"/>
          <p:nvPr/>
        </p:nvSpPr>
        <p:spPr>
          <a:xfrm>
            <a:off x="4565056" y="3703341"/>
            <a:ext cx="6097218" cy="369332"/>
          </a:xfrm>
          <a:prstGeom prst="rect">
            <a:avLst/>
          </a:prstGeom>
          <a:noFill/>
        </p:spPr>
        <p:txBody>
          <a:bodyPr wrap="square">
            <a:spAutoFit/>
          </a:bodyPr>
          <a:lstStyle/>
          <a:p>
            <a:r>
              <a:rPr lang="en-US" kern="0" dirty="0">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 Transforming Agriculture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grpSp>
        <p:nvGrpSpPr>
          <p:cNvPr id="157" name="Google Shape;157;p3"/>
          <p:cNvGrpSpPr/>
          <p:nvPr/>
        </p:nvGrpSpPr>
        <p:grpSpPr>
          <a:xfrm>
            <a:off x="986121" y="1625471"/>
            <a:ext cx="7435283" cy="4531975"/>
            <a:chOff x="1146450" y="1432002"/>
            <a:chExt cx="7307402" cy="4505393"/>
          </a:xfrm>
        </p:grpSpPr>
        <p:sp>
          <p:nvSpPr>
            <p:cNvPr id="158" name="Google Shape;158;p3"/>
            <p:cNvSpPr/>
            <p:nvPr/>
          </p:nvSpPr>
          <p:spPr>
            <a:xfrm>
              <a:off x="3738166" y="1432002"/>
              <a:ext cx="4715686" cy="4505393"/>
            </a:xfrm>
            <a:prstGeom prst="ellipse">
              <a:avLst/>
            </a:prstGeom>
            <a:blipFill rotWithShape="1">
              <a:blip r:embed="rId1"/>
              <a:stretch>
                <a:fillRect l="-39999" r="-39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endParaRPr sz="1350"/>
            </a:p>
          </p:txBody>
        </p:sp>
        <p:sp>
          <p:nvSpPr>
            <p:cNvPr id="159" name="Google Shape;159;p3"/>
            <p:cNvSpPr/>
            <p:nvPr/>
          </p:nvSpPr>
          <p:spPr>
            <a:xfrm>
              <a:off x="1146450" y="1432002"/>
              <a:ext cx="2583252" cy="1331989"/>
            </a:xfrm>
            <a:custGeom>
              <a:avLst/>
              <a:gdLst/>
              <a:ahLst/>
              <a:cxnLst/>
              <a:rect l="l" t="t" r="r" b="b"/>
              <a:pathLst>
                <a:path w="2583252" h="1331989" extrusionOk="0">
                  <a:moveTo>
                    <a:pt x="0" y="0"/>
                  </a:moveTo>
                  <a:lnTo>
                    <a:pt x="2583252" y="0"/>
                  </a:lnTo>
                  <a:lnTo>
                    <a:pt x="2583252" y="1331989"/>
                  </a:lnTo>
                  <a:lnTo>
                    <a:pt x="0" y="1331989"/>
                  </a:lnTo>
                  <a:lnTo>
                    <a:pt x="0" y="0"/>
                  </a:lnTo>
                  <a:close/>
                </a:path>
              </a:pathLst>
            </a:custGeom>
            <a:noFill/>
            <a:ln>
              <a:noFill/>
            </a:ln>
          </p:spPr>
          <p:txBody>
            <a:bodyPr spcFirstLastPara="1" wrap="square" lIns="0" tIns="0" rIns="0" bIns="0" anchor="b" anchorCtr="0">
              <a:noAutofit/>
            </a:bodyPr>
            <a:lstStyle/>
            <a:p>
              <a:pPr algn="ctr">
                <a:lnSpc>
                  <a:spcPct val="90000"/>
                </a:lnSpc>
                <a:buClr>
                  <a:schemeClr val="dk1"/>
                </a:buClr>
                <a:buSzPts val="6500"/>
              </a:pPr>
              <a:endParaRPr sz="6500">
                <a:solidFill>
                  <a:schemeClr val="lt1"/>
                </a:solidFill>
                <a:latin typeface="Calibri" panose="020F0502020204030204"/>
                <a:ea typeface="Calibri" panose="020F0502020204030204"/>
                <a:cs typeface="Calibri" panose="020F0502020204030204"/>
                <a:sym typeface="Calibri" panose="020F0502020204030204"/>
              </a:endParaRPr>
            </a:p>
          </p:txBody>
        </p:sp>
      </p:grpSp>
      <p:sp>
        <p:nvSpPr>
          <p:cNvPr id="161" name="Google Shape;161;p3"/>
          <p:cNvSpPr/>
          <p:nvPr/>
        </p:nvSpPr>
        <p:spPr>
          <a:xfrm>
            <a:off x="10998200" y="6100556"/>
            <a:ext cx="1193800" cy="757445"/>
          </a:xfrm>
          <a:prstGeom prst="rect">
            <a:avLst/>
          </a:prstGeom>
          <a:solidFill>
            <a:srgbClr val="FFFFFF"/>
          </a:solidFill>
          <a:ln>
            <a:noFill/>
          </a:ln>
        </p:spPr>
        <p:txBody>
          <a:bodyPr spcFirstLastPara="1" wrap="square" lIns="91425" tIns="45700" rIns="91425" bIns="45700" anchor="ctr" anchorCtr="0">
            <a:noAutofit/>
          </a:bodyPr>
          <a:lstStyle/>
          <a:p>
            <a:pPr algn="ctr"/>
            <a:endParaRPr sz="1865">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162" name="Google Shape;162;p3"/>
          <p:cNvPicPr preferRelativeResize="0"/>
          <p:nvPr/>
        </p:nvPicPr>
        <p:blipFill rotWithShape="1">
          <a:blip r:embed="rId2"/>
          <a:srcRect/>
          <a:stretch>
            <a:fillRect/>
          </a:stretch>
        </p:blipFill>
        <p:spPr>
          <a:xfrm>
            <a:off x="9152527" y="3317152"/>
            <a:ext cx="2875627" cy="1148625"/>
          </a:xfrm>
          <a:prstGeom prst="rect">
            <a:avLst/>
          </a:prstGeom>
          <a:noFill/>
          <a:ln>
            <a:noFill/>
          </a:ln>
        </p:spPr>
      </p:pic>
      <p:pic>
        <p:nvPicPr>
          <p:cNvPr id="164" name="Google Shape;164;p3"/>
          <p:cNvPicPr preferRelativeResize="0"/>
          <p:nvPr/>
        </p:nvPicPr>
        <p:blipFill rotWithShape="1">
          <a:blip r:embed="rId3"/>
          <a:srcRect/>
          <a:stretch>
            <a:fillRect/>
          </a:stretch>
        </p:blipFill>
        <p:spPr>
          <a:xfrm>
            <a:off x="496814" y="3149018"/>
            <a:ext cx="3262295" cy="1148625"/>
          </a:xfrm>
          <a:prstGeom prst="rect">
            <a:avLst/>
          </a:prstGeom>
          <a:noFill/>
          <a:ln>
            <a:noFill/>
          </a:ln>
        </p:spPr>
      </p:pic>
      <p:pic>
        <p:nvPicPr>
          <p:cNvPr id="165" name="Google Shape;165;p3"/>
          <p:cNvPicPr preferRelativeResize="0"/>
          <p:nvPr/>
        </p:nvPicPr>
        <p:blipFill>
          <a:blip r:embed="rId4"/>
          <a:stretch>
            <a:fillRect/>
          </a:stretch>
        </p:blipFill>
        <p:spPr>
          <a:xfrm>
            <a:off x="690135" y="4297652"/>
            <a:ext cx="2875624" cy="647125"/>
          </a:xfrm>
          <a:prstGeom prst="rect">
            <a:avLst/>
          </a:prstGeom>
          <a:noFill/>
          <a:ln>
            <a:noFill/>
          </a:ln>
        </p:spPr>
      </p:pic>
      <p:sp>
        <p:nvSpPr>
          <p:cNvPr id="3" name="TextBox 2"/>
          <p:cNvSpPr txBox="1"/>
          <p:nvPr/>
        </p:nvSpPr>
        <p:spPr>
          <a:xfrm>
            <a:off x="4493122" y="985767"/>
            <a:ext cx="6097218" cy="369332"/>
          </a:xfrm>
          <a:prstGeom prst="rect">
            <a:avLst/>
          </a:prstGeom>
          <a:noFill/>
        </p:spPr>
        <p:txBody>
          <a:bodyPr wrap="square">
            <a:spAutoFit/>
          </a:bodyPr>
          <a:lstStyle/>
          <a:p>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Farm Pass Agreement Signing (Feb, 2023)</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object 13" descr="object 13"/>
          <p:cNvPicPr>
            <a:picLocks noChangeAspect="1" noChangeArrowheads="1"/>
          </p:cNvPicPr>
          <p:nvPr/>
        </p:nvPicPr>
        <p:blipFill>
          <a:blip r:embed="rId1">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4" name="TextBox 13"/>
          <p:cNvSpPr txBox="1"/>
          <p:nvPr/>
        </p:nvSpPr>
        <p:spPr>
          <a:xfrm>
            <a:off x="3657600" y="2219236"/>
            <a:ext cx="8186909" cy="2831544"/>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We are Farmer’s Bank, established to serve their needs.</a:t>
            </a:r>
            <a:endPar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Farmers lack Access to Loans.</a:t>
            </a:r>
            <a:endPar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Digital is the Future.</a:t>
            </a:r>
            <a:endPar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Farmers and Cooperatives are not incentivized to use Digital Payments / Channels.</a:t>
            </a:r>
            <a:endPar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Focus on Agriculture sector will enable the bank to reach the mass.</a:t>
            </a:r>
            <a:endParaRPr lang="en-US" sz="16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endParaRPr lang="en-US" kern="0" dirty="0">
              <a:solidFill>
                <a:srgbClr val="3F3F3F"/>
              </a:solidFill>
              <a:cs typeface="Arial" panose="020B0604020202020204"/>
              <a:sym typeface="Arial" panose="020B0604020202020204"/>
            </a:endParaRPr>
          </a:p>
        </p:txBody>
      </p:sp>
      <p:sp>
        <p:nvSpPr>
          <p:cNvPr id="3" name="TextBox 2"/>
          <p:cNvSpPr txBox="1"/>
          <p:nvPr/>
        </p:nvSpPr>
        <p:spPr>
          <a:xfrm>
            <a:off x="318640" y="443428"/>
            <a:ext cx="6677919" cy="523220"/>
          </a:xfrm>
          <a:prstGeom prst="rect">
            <a:avLst/>
          </a:prstGeom>
          <a:noFill/>
        </p:spPr>
        <p:txBody>
          <a:bodyPr wrap="square">
            <a:spAutoFit/>
          </a:bodyPr>
          <a:lstStyle/>
          <a:p>
            <a:r>
              <a:rPr lang="en-ZA" sz="2800" dirty="0">
                <a:solidFill>
                  <a:srgbClr val="00B0F0"/>
                </a:solidFill>
                <a:latin typeface="Bahnschrift" panose="020B0502040204020203" pitchFamily="34" charset="0"/>
              </a:rPr>
              <a:t>Why we need </a:t>
            </a:r>
            <a:r>
              <a:rPr lang="en-ZA" sz="2800" b="1" dirty="0" err="1">
                <a:solidFill>
                  <a:srgbClr val="00B0F0"/>
                </a:solidFill>
                <a:latin typeface="Bahnschrift" panose="020B0502040204020203" pitchFamily="34" charset="0"/>
              </a:rPr>
              <a:t>Farm</a:t>
            </a:r>
            <a:r>
              <a:rPr lang="en-ZA" sz="2800" dirty="0" err="1">
                <a:solidFill>
                  <a:srgbClr val="00B0F0"/>
                </a:solidFill>
                <a:latin typeface="Calibri" panose="020F0502020204030204" pitchFamily="34" charset="0"/>
                <a:ea typeface="Calibri" panose="020F0502020204030204" pitchFamily="34" charset="0"/>
                <a:cs typeface="Calibri" panose="020F0502020204030204" pitchFamily="34" charset="0"/>
              </a:rPr>
              <a:t>Pass</a:t>
            </a:r>
            <a:r>
              <a:rPr lang="en-ZA" sz="2800" dirty="0">
                <a:solidFill>
                  <a:schemeClr val="accent2"/>
                </a:solidFill>
                <a:latin typeface="Calibri" panose="020F0502020204030204" pitchFamily="34" charset="0"/>
                <a:ea typeface="Calibri" panose="020F0502020204030204" pitchFamily="34" charset="0"/>
                <a:cs typeface="Calibri" panose="020F0502020204030204" pitchFamily="34" charset="0"/>
              </a:rPr>
              <a:t> </a:t>
            </a:r>
            <a:endParaRPr lang="en-US" dirty="0">
              <a:solidFill>
                <a:schemeClr val="accent2"/>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p:cNvSpPr txBox="1"/>
          <p:nvPr/>
        </p:nvSpPr>
        <p:spPr>
          <a:xfrm>
            <a:off x="485748" y="4916543"/>
            <a:ext cx="4175196" cy="707886"/>
          </a:xfrm>
          <a:prstGeom prst="rect">
            <a:avLst/>
          </a:prstGeom>
          <a:noFill/>
        </p:spPr>
        <p:txBody>
          <a:bodyPr wrap="square">
            <a:spAutoFit/>
          </a:bodyPr>
          <a:lstStyle/>
          <a:p>
            <a:r>
              <a:rPr lang="en-ZA" sz="4000" b="1" dirty="0" err="1">
                <a:solidFill>
                  <a:srgbClr val="00B0F0"/>
                </a:solidFill>
                <a:latin typeface="Bahnschrift" panose="020B0502040204020203" pitchFamily="34" charset="0"/>
              </a:rPr>
              <a:t>Farm</a:t>
            </a:r>
            <a:r>
              <a:rPr lang="en-ZA" sz="4000" dirty="0" err="1">
                <a:solidFill>
                  <a:srgbClr val="00B0F0"/>
                </a:solidFill>
                <a:latin typeface="Calibri" panose="020F0502020204030204" pitchFamily="34" charset="0"/>
                <a:ea typeface="Calibri" panose="020F0502020204030204" pitchFamily="34" charset="0"/>
                <a:cs typeface="Calibri" panose="020F0502020204030204" pitchFamily="34" charset="0"/>
              </a:rPr>
              <a:t>Pass</a:t>
            </a:r>
            <a:r>
              <a:rPr lang="en-ZA" sz="4000" dirty="0">
                <a:solidFill>
                  <a:schemeClr val="accent2"/>
                </a:solidFill>
                <a:latin typeface="Calibri" panose="020F0502020204030204" pitchFamily="34" charset="0"/>
                <a:ea typeface="Calibri" panose="020F0502020204030204" pitchFamily="34" charset="0"/>
                <a:cs typeface="Calibri" panose="020F0502020204030204" pitchFamily="34" charset="0"/>
              </a:rPr>
              <a:t> </a:t>
            </a:r>
            <a:endParaRPr lang="en-US" sz="2800" dirty="0">
              <a:solidFill>
                <a:schemeClr val="accent2"/>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517" y="3608822"/>
            <a:ext cx="1419056" cy="14190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cxnSp>
        <p:nvCxnSpPr>
          <p:cNvPr id="854" name="Google Shape;854;p9"/>
          <p:cNvCxnSpPr/>
          <p:nvPr/>
        </p:nvCxnSpPr>
        <p:spPr>
          <a:xfrm>
            <a:off x="6352905" y="5337765"/>
            <a:ext cx="481130" cy="348525"/>
          </a:xfrm>
          <a:prstGeom prst="straightConnector1">
            <a:avLst/>
          </a:prstGeom>
          <a:noFill/>
          <a:ln w="38100" cap="flat" cmpd="sng">
            <a:solidFill>
              <a:srgbClr val="7F7F7F"/>
            </a:solidFill>
            <a:prstDash val="solid"/>
            <a:miter lim="800000"/>
            <a:headEnd type="none" w="sm" len="sm"/>
            <a:tailEnd type="oval" w="med" len="med"/>
          </a:ln>
        </p:spPr>
      </p:cxnSp>
      <p:cxnSp>
        <p:nvCxnSpPr>
          <p:cNvPr id="855" name="Google Shape;855;p9"/>
          <p:cNvCxnSpPr/>
          <p:nvPr/>
        </p:nvCxnSpPr>
        <p:spPr>
          <a:xfrm rot="10800000" flipH="1">
            <a:off x="6970068" y="4464826"/>
            <a:ext cx="944216" cy="58012"/>
          </a:xfrm>
          <a:prstGeom prst="straightConnector1">
            <a:avLst/>
          </a:prstGeom>
          <a:noFill/>
          <a:ln w="38100" cap="flat" cmpd="sng">
            <a:solidFill>
              <a:srgbClr val="E58625"/>
            </a:solidFill>
            <a:prstDash val="solid"/>
            <a:miter lim="800000"/>
            <a:headEnd type="none" w="sm" len="sm"/>
            <a:tailEnd type="oval" w="med" len="med"/>
          </a:ln>
        </p:spPr>
      </p:cxnSp>
      <p:cxnSp>
        <p:nvCxnSpPr>
          <p:cNvPr id="856" name="Google Shape;856;p9"/>
          <p:cNvCxnSpPr/>
          <p:nvPr/>
        </p:nvCxnSpPr>
        <p:spPr>
          <a:xfrm rot="10800000" flipH="1">
            <a:off x="6753267" y="2789411"/>
            <a:ext cx="991641" cy="815751"/>
          </a:xfrm>
          <a:prstGeom prst="straightConnector1">
            <a:avLst/>
          </a:prstGeom>
          <a:noFill/>
          <a:ln w="38100" cap="flat" cmpd="sng">
            <a:solidFill>
              <a:srgbClr val="46B5FC"/>
            </a:solidFill>
            <a:prstDash val="solid"/>
            <a:miter lim="800000"/>
            <a:headEnd type="none" w="sm" len="sm"/>
            <a:tailEnd type="oval" w="med" len="med"/>
          </a:ln>
        </p:spPr>
      </p:cxnSp>
      <p:cxnSp>
        <p:nvCxnSpPr>
          <p:cNvPr id="857" name="Google Shape;857;p9"/>
          <p:cNvCxnSpPr/>
          <p:nvPr/>
        </p:nvCxnSpPr>
        <p:spPr>
          <a:xfrm rot="10800000" flipH="1">
            <a:off x="5850013" y="1526207"/>
            <a:ext cx="49231" cy="580426"/>
          </a:xfrm>
          <a:prstGeom prst="straightConnector1">
            <a:avLst/>
          </a:prstGeom>
          <a:noFill/>
          <a:ln w="38100" cap="flat" cmpd="sng">
            <a:solidFill>
              <a:schemeClr val="dk1"/>
            </a:solidFill>
            <a:prstDash val="solid"/>
            <a:miter lim="800000"/>
            <a:headEnd type="none" w="sm" len="sm"/>
            <a:tailEnd type="oval" w="med" len="med"/>
          </a:ln>
        </p:spPr>
      </p:cxnSp>
      <p:grpSp>
        <p:nvGrpSpPr>
          <p:cNvPr id="858" name="Google Shape;858;p9"/>
          <p:cNvGrpSpPr/>
          <p:nvPr/>
        </p:nvGrpSpPr>
        <p:grpSpPr>
          <a:xfrm>
            <a:off x="3063335" y="1472248"/>
            <a:ext cx="5098327" cy="5098327"/>
            <a:chOff x="2817899" y="2640907"/>
            <a:chExt cx="3960000" cy="3960000"/>
          </a:xfrm>
        </p:grpSpPr>
        <p:grpSp>
          <p:nvGrpSpPr>
            <p:cNvPr id="859" name="Google Shape;859;p9"/>
            <p:cNvGrpSpPr/>
            <p:nvPr/>
          </p:nvGrpSpPr>
          <p:grpSpPr>
            <a:xfrm>
              <a:off x="2817899" y="2640907"/>
              <a:ext cx="3960000" cy="3960000"/>
              <a:chOff x="2817899" y="2640907"/>
              <a:chExt cx="3960000" cy="3960000"/>
            </a:xfrm>
          </p:grpSpPr>
          <p:sp>
            <p:nvSpPr>
              <p:cNvPr id="860" name="Google Shape;860;p9"/>
              <p:cNvSpPr/>
              <p:nvPr/>
            </p:nvSpPr>
            <p:spPr>
              <a:xfrm rot="9731289">
                <a:off x="3627898" y="3450907"/>
                <a:ext cx="2340000" cy="2340000"/>
              </a:xfrm>
              <a:prstGeom prst="pie">
                <a:avLst>
                  <a:gd name="adj1" fmla="val 13751092"/>
                  <a:gd name="adj2" fmla="val 16200000"/>
                </a:avLst>
              </a:prstGeom>
              <a:solidFill>
                <a:srgbClr val="7F7F7F"/>
              </a:solidFill>
              <a:ln>
                <a:noFill/>
              </a:ln>
            </p:spPr>
            <p:txBody>
              <a:bodyPr spcFirstLastPara="1" wrap="square" lIns="91425" tIns="45700" rIns="91425" bIns="45700" anchor="ctr" anchorCtr="0">
                <a:noAutofit/>
              </a:bodyPr>
              <a:lstStyle/>
              <a:p>
                <a:pPr algn="ctr">
                  <a:buClr>
                    <a:srgbClr val="FFFFFF"/>
                  </a:buClr>
                  <a:buSzPts val="2700"/>
                  <a:buFont typeface="Arial" panose="020B0604020202020204"/>
                  <a:buNone/>
                </a:pPr>
                <a:endParaRPr sz="2700" kern="0">
                  <a:solidFill>
                    <a:srgbClr val="000000"/>
                  </a:solidFill>
                  <a:ea typeface="Arial" panose="020B0604020202020204"/>
                  <a:cs typeface="Arial" panose="020B0604020202020204"/>
                  <a:sym typeface="Arial" panose="020B0604020202020204"/>
                </a:endParaRPr>
              </a:p>
            </p:txBody>
          </p:sp>
          <p:sp>
            <p:nvSpPr>
              <p:cNvPr id="861" name="Google Shape;861;p9"/>
              <p:cNvSpPr/>
              <p:nvPr/>
            </p:nvSpPr>
            <p:spPr>
              <a:xfrm rot="7294677">
                <a:off x="3345371" y="3185469"/>
                <a:ext cx="2880000" cy="2880000"/>
              </a:xfrm>
              <a:prstGeom prst="pie">
                <a:avLst>
                  <a:gd name="adj1" fmla="val 13751092"/>
                  <a:gd name="adj2" fmla="val 16200000"/>
                </a:avLst>
              </a:prstGeom>
              <a:solidFill>
                <a:srgbClr val="E58625"/>
              </a:solidFill>
              <a:ln>
                <a:noFill/>
              </a:ln>
            </p:spPr>
            <p:txBody>
              <a:bodyPr spcFirstLastPara="1" wrap="square" lIns="91425" tIns="45700" rIns="91425" bIns="45700" anchor="ctr" anchorCtr="0">
                <a:noAutofit/>
              </a:bodyPr>
              <a:lstStyle/>
              <a:p>
                <a:pPr algn="ctr">
                  <a:buClr>
                    <a:srgbClr val="FFFFFF"/>
                  </a:buClr>
                  <a:buSzPts val="2700"/>
                  <a:buFont typeface="Arial" panose="020B0604020202020204"/>
                  <a:buNone/>
                </a:pPr>
                <a:endParaRPr sz="2700" kern="0">
                  <a:solidFill>
                    <a:srgbClr val="000000"/>
                  </a:solidFill>
                  <a:ea typeface="Arial" panose="020B0604020202020204"/>
                  <a:cs typeface="Arial" panose="020B0604020202020204"/>
                  <a:sym typeface="Arial" panose="020B0604020202020204"/>
                </a:endParaRPr>
              </a:p>
            </p:txBody>
          </p:sp>
          <p:sp>
            <p:nvSpPr>
              <p:cNvPr id="862" name="Google Shape;862;p9"/>
              <p:cNvSpPr/>
              <p:nvPr/>
            </p:nvSpPr>
            <p:spPr>
              <a:xfrm rot="4918033">
                <a:off x="3075371" y="2915469"/>
                <a:ext cx="3420000" cy="3420000"/>
              </a:xfrm>
              <a:prstGeom prst="pie">
                <a:avLst>
                  <a:gd name="adj1" fmla="val 13751092"/>
                  <a:gd name="adj2" fmla="val 16200000"/>
                </a:avLst>
              </a:prstGeom>
              <a:solidFill>
                <a:srgbClr val="00B0F0"/>
              </a:solidFill>
              <a:ln>
                <a:noFill/>
              </a:ln>
            </p:spPr>
            <p:txBody>
              <a:bodyPr spcFirstLastPara="1" wrap="square" lIns="91425" tIns="45700" rIns="91425" bIns="45700" anchor="ctr" anchorCtr="0">
                <a:noAutofit/>
              </a:bodyPr>
              <a:lstStyle/>
              <a:p>
                <a:pPr algn="ctr">
                  <a:buClr>
                    <a:srgbClr val="FFFFFF"/>
                  </a:buClr>
                  <a:buSzPts val="2700"/>
                  <a:buFont typeface="Arial" panose="020B0604020202020204"/>
                  <a:buNone/>
                </a:pPr>
                <a:endParaRPr sz="2700" kern="0">
                  <a:solidFill>
                    <a:srgbClr val="000000"/>
                  </a:solidFill>
                  <a:ea typeface="Arial" panose="020B0604020202020204"/>
                  <a:cs typeface="Arial" panose="020B0604020202020204"/>
                  <a:sym typeface="Arial" panose="020B0604020202020204"/>
                </a:endParaRPr>
              </a:p>
            </p:txBody>
          </p:sp>
          <p:sp>
            <p:nvSpPr>
              <p:cNvPr id="863" name="Google Shape;863;p9"/>
              <p:cNvSpPr/>
              <p:nvPr/>
            </p:nvSpPr>
            <p:spPr>
              <a:xfrm rot="2490880">
                <a:off x="2817899" y="2640907"/>
                <a:ext cx="3960000" cy="3960000"/>
              </a:xfrm>
              <a:prstGeom prst="pie">
                <a:avLst>
                  <a:gd name="adj1" fmla="val 13751092"/>
                  <a:gd name="adj2" fmla="val 16200000"/>
                </a:avLst>
              </a:prstGeom>
              <a:solidFill>
                <a:srgbClr val="0C0C0C"/>
              </a:solidFill>
              <a:ln>
                <a:noFill/>
              </a:ln>
            </p:spPr>
            <p:txBody>
              <a:bodyPr spcFirstLastPara="1" wrap="square" lIns="91425" tIns="45700" rIns="91425" bIns="45700" anchor="ctr" anchorCtr="0">
                <a:noAutofit/>
              </a:bodyPr>
              <a:lstStyle/>
              <a:p>
                <a:pPr algn="ctr">
                  <a:buClr>
                    <a:srgbClr val="FFFFFF"/>
                  </a:buClr>
                  <a:buSzPts val="2700"/>
                  <a:buFont typeface="Arial" panose="020B0604020202020204"/>
                  <a:buNone/>
                </a:pPr>
                <a:endParaRPr sz="2700" kern="0" dirty="0">
                  <a:solidFill>
                    <a:srgbClr val="000000"/>
                  </a:solidFill>
                  <a:ea typeface="Arial" panose="020B0604020202020204"/>
                  <a:cs typeface="Arial" panose="020B0604020202020204"/>
                  <a:sym typeface="Arial" panose="020B0604020202020204"/>
                </a:endParaRPr>
              </a:p>
            </p:txBody>
          </p:sp>
        </p:grpSp>
        <p:sp>
          <p:nvSpPr>
            <p:cNvPr id="864" name="Google Shape;864;p9"/>
            <p:cNvSpPr/>
            <p:nvPr/>
          </p:nvSpPr>
          <p:spPr>
            <a:xfrm>
              <a:off x="4378868" y="4163707"/>
              <a:ext cx="914400" cy="914400"/>
            </a:xfrm>
            <a:prstGeom prst="ellipse">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FFFFFF"/>
                </a:buClr>
                <a:buSzPts val="2700"/>
                <a:buFont typeface="Arial" panose="020B0604020202020204"/>
                <a:buNone/>
              </a:pPr>
              <a:endParaRPr sz="2700" kern="0" dirty="0">
                <a:solidFill>
                  <a:srgbClr val="FFFFFF"/>
                </a:solidFill>
                <a:ea typeface="Arial" panose="020B0604020202020204"/>
                <a:cs typeface="Arial" panose="020B0604020202020204"/>
                <a:sym typeface="Arial" panose="020B0604020202020204"/>
              </a:endParaRPr>
            </a:p>
          </p:txBody>
        </p:sp>
      </p:grpSp>
      <p:sp>
        <p:nvSpPr>
          <p:cNvPr id="865" name="Google Shape;865;p9"/>
          <p:cNvSpPr txBox="1"/>
          <p:nvPr/>
        </p:nvSpPr>
        <p:spPr>
          <a:xfrm>
            <a:off x="588669" y="3408181"/>
            <a:ext cx="5860184" cy="978689"/>
          </a:xfrm>
          <a:prstGeom prst="rect">
            <a:avLst/>
          </a:prstGeom>
          <a:noFill/>
          <a:ln>
            <a:noFill/>
          </a:ln>
        </p:spPr>
        <p:txBody>
          <a:bodyPr spcFirstLastPara="1" wrap="square" lIns="91425" tIns="45700" rIns="91425" bIns="45700" anchor="t" anchorCtr="0">
            <a:spAutoFit/>
          </a:bodyPr>
          <a:lstStyle/>
          <a:p>
            <a:pPr>
              <a:lnSpc>
                <a:spcPct val="120000"/>
              </a:lnSpc>
              <a:buClr>
                <a:srgbClr val="3F3F3F"/>
              </a:buClr>
              <a:buSzPts val="1600"/>
              <a:buFont typeface="Arial" panose="020B0604020202020204"/>
              <a:buNone/>
            </a:pPr>
            <a:r>
              <a:rPr lang="en-US" sz="2400" b="1" kern="0" dirty="0">
                <a:solidFill>
                  <a:srgbClr val="3F3F3F"/>
                </a:solidFill>
                <a:ea typeface="Arial" panose="020B0604020202020204"/>
                <a:cs typeface="Arial" panose="020B0604020202020204"/>
                <a:sym typeface="Arial" panose="020B0604020202020204"/>
              </a:rPr>
              <a:t> </a:t>
            </a:r>
            <a:endParaRPr lang="en-US" sz="2400" b="1" kern="0" dirty="0">
              <a:solidFill>
                <a:srgbClr val="3F3F3F"/>
              </a:solidFill>
              <a:ea typeface="Arial" panose="020B0604020202020204"/>
              <a:cs typeface="Arial" panose="020B0604020202020204"/>
              <a:sym typeface="Arial" panose="020B0604020202020204"/>
            </a:endParaRPr>
          </a:p>
          <a:p>
            <a:pPr>
              <a:lnSpc>
                <a:spcPct val="120000"/>
              </a:lnSpc>
              <a:buClr>
                <a:srgbClr val="3F3F3F"/>
              </a:buClr>
              <a:buSzPts val="1600"/>
              <a:buFont typeface="Arial" panose="020B0604020202020204"/>
              <a:buNone/>
            </a:pPr>
            <a:r>
              <a:rPr lang="en-US" sz="2400" b="1" kern="0" dirty="0">
                <a:solidFill>
                  <a:srgbClr val="00B0F0"/>
                </a:solidFill>
                <a:ea typeface="Arial" panose="020B0604020202020204"/>
                <a:cs typeface="Arial" panose="020B0604020202020204"/>
                <a:sym typeface="Arial" panose="020B0604020202020204"/>
              </a:rPr>
              <a:t>Coop Bank's </a:t>
            </a:r>
            <a:r>
              <a:rPr lang="en-US" sz="2400" b="1" kern="0" dirty="0">
                <a:solidFill>
                  <a:srgbClr val="FFC000"/>
                </a:solidFill>
                <a:ea typeface="Arial" panose="020B0604020202020204"/>
                <a:cs typeface="Arial" panose="020B0604020202020204"/>
                <a:sym typeface="Arial" panose="020B0604020202020204"/>
              </a:rPr>
              <a:t>Strategic</a:t>
            </a:r>
            <a:r>
              <a:rPr lang="en-US" sz="2400" b="1" kern="0" dirty="0">
                <a:solidFill>
                  <a:srgbClr val="3F3F3F"/>
                </a:solidFill>
                <a:ea typeface="Arial" panose="020B0604020202020204"/>
                <a:cs typeface="Arial" panose="020B0604020202020204"/>
                <a:sym typeface="Arial" panose="020B0604020202020204"/>
              </a:rPr>
              <a:t> Direction</a:t>
            </a:r>
            <a:endParaRPr sz="1000" kern="0" dirty="0">
              <a:solidFill>
                <a:srgbClr val="000000"/>
              </a:solidFill>
              <a:cs typeface="Arial" panose="020B0604020202020204"/>
              <a:sym typeface="Arial" panose="020B0604020202020204"/>
            </a:endParaRPr>
          </a:p>
        </p:txBody>
      </p:sp>
      <p:sp>
        <p:nvSpPr>
          <p:cNvPr id="866" name="Google Shape;866;p9"/>
          <p:cNvSpPr txBox="1"/>
          <p:nvPr/>
        </p:nvSpPr>
        <p:spPr>
          <a:xfrm>
            <a:off x="8126985" y="3584557"/>
            <a:ext cx="3883250" cy="1830999"/>
          </a:xfrm>
          <a:prstGeom prst="rect">
            <a:avLst/>
          </a:prstGeom>
          <a:noFill/>
          <a:ln>
            <a:noFill/>
          </a:ln>
        </p:spPr>
        <p:txBody>
          <a:bodyPr spcFirstLastPara="1" wrap="square" lIns="91425" tIns="45700" rIns="91425" bIns="45700" anchor="t" anchorCtr="0">
            <a:noAutofit/>
          </a:bodyPr>
          <a:lstStyle/>
          <a:p>
            <a:pPr>
              <a:buClr>
                <a:srgbClr val="3F3F3F"/>
              </a:buClr>
              <a:buSzPts val="1600"/>
              <a:buFont typeface="Arial" panose="020B0604020202020204"/>
              <a:buNone/>
            </a:pPr>
            <a:r>
              <a:rPr lang="en-US" sz="1600" kern="0" dirty="0">
                <a:solidFill>
                  <a:srgbClr val="3F3F3F"/>
                </a:solidFill>
                <a:ea typeface="Arial" panose="020B0604020202020204"/>
                <a:cs typeface="Arial" panose="020B0604020202020204"/>
                <a:sym typeface="Arial" panose="020B0604020202020204"/>
              </a:rPr>
              <a:t>The strategy has taken into account a wide range of </a:t>
            </a:r>
            <a:r>
              <a:rPr lang="en-US" sz="1600" b="1" kern="0" dirty="0">
                <a:solidFill>
                  <a:srgbClr val="3F3F3F"/>
                </a:solidFill>
                <a:ea typeface="Arial" panose="020B0604020202020204"/>
                <a:cs typeface="Arial" panose="020B0604020202020204"/>
                <a:sym typeface="Arial" panose="020B0604020202020204"/>
              </a:rPr>
              <a:t>technological advancements and innovative </a:t>
            </a:r>
            <a:r>
              <a:rPr lang="en-US" sz="1600" kern="0" dirty="0">
                <a:solidFill>
                  <a:srgbClr val="3F3F3F"/>
                </a:solidFill>
                <a:ea typeface="Arial" panose="020B0604020202020204"/>
                <a:cs typeface="Arial" panose="020B0604020202020204"/>
                <a:sym typeface="Arial" panose="020B0604020202020204"/>
              </a:rPr>
              <a:t>solutions which thereby enables efficient operations and extraordinary value propositions.</a:t>
            </a:r>
            <a:endParaRPr sz="1400" kern="0" dirty="0">
              <a:solidFill>
                <a:srgbClr val="000000"/>
              </a:solidFill>
              <a:cs typeface="Arial" panose="020B0604020202020204"/>
              <a:sym typeface="Arial" panose="020B0604020202020204"/>
            </a:endParaRPr>
          </a:p>
        </p:txBody>
      </p:sp>
      <p:sp>
        <p:nvSpPr>
          <p:cNvPr id="867" name="Google Shape;867;p9"/>
          <p:cNvSpPr txBox="1"/>
          <p:nvPr/>
        </p:nvSpPr>
        <p:spPr>
          <a:xfrm>
            <a:off x="6877056" y="5415556"/>
            <a:ext cx="4413377" cy="1033106"/>
          </a:xfrm>
          <a:prstGeom prst="rect">
            <a:avLst/>
          </a:prstGeom>
          <a:noFill/>
          <a:ln>
            <a:noFill/>
          </a:ln>
        </p:spPr>
        <p:txBody>
          <a:bodyPr spcFirstLastPara="1" wrap="square" lIns="91425" tIns="45700" rIns="91425" bIns="45700" anchor="t" anchorCtr="0">
            <a:noAutofit/>
          </a:bodyPr>
          <a:lstStyle/>
          <a:p>
            <a:pPr>
              <a:buClr>
                <a:srgbClr val="3F3F3F"/>
              </a:buClr>
              <a:buSzPts val="1400"/>
              <a:buFont typeface="Arial" panose="020B0604020202020204"/>
              <a:buNone/>
            </a:pPr>
            <a:r>
              <a:rPr lang="en-US" sz="1400" b="1" kern="0" dirty="0">
                <a:solidFill>
                  <a:srgbClr val="3F3F3F"/>
                </a:solidFill>
                <a:ea typeface="Arial" panose="020B0604020202020204"/>
                <a:cs typeface="Arial" panose="020B0604020202020204"/>
                <a:sym typeface="Arial" panose="020B0604020202020204"/>
              </a:rPr>
              <a:t>Focus to MSMEs; </a:t>
            </a:r>
            <a:r>
              <a:rPr lang="en-US" sz="1400" kern="0" dirty="0">
                <a:solidFill>
                  <a:srgbClr val="3F3F3F"/>
                </a:solidFill>
                <a:cs typeface="Arial" panose="020B0604020202020204"/>
                <a:sym typeface="Arial" panose="020B0604020202020204"/>
              </a:rPr>
              <a:t>By benchmarking global best practices the bank shall work on this sector especially by creating access to finance (micro and small loans), job creation, and BDS.</a:t>
            </a:r>
            <a:endParaRPr sz="1400" kern="0" dirty="0">
              <a:solidFill>
                <a:srgbClr val="000000"/>
              </a:solidFill>
              <a:cs typeface="Arial" panose="020B0604020202020204"/>
              <a:sym typeface="Arial" panose="020B0604020202020204"/>
            </a:endParaRPr>
          </a:p>
          <a:p>
            <a:pPr>
              <a:spcBef>
                <a:spcPts val="280"/>
              </a:spcBef>
              <a:buClr>
                <a:srgbClr val="000000"/>
              </a:buClr>
              <a:buSzPts val="1400"/>
              <a:buFont typeface="Arial" panose="020B0604020202020204"/>
              <a:buNone/>
            </a:pPr>
            <a:endParaRPr sz="1400" kern="0" dirty="0">
              <a:solidFill>
                <a:srgbClr val="3F3F3F"/>
              </a:solidFill>
              <a:ea typeface="Arial" panose="020B0604020202020204"/>
              <a:cs typeface="Arial" panose="020B0604020202020204"/>
              <a:sym typeface="Arial" panose="020B0604020202020204"/>
            </a:endParaRPr>
          </a:p>
          <a:p>
            <a:pPr>
              <a:spcBef>
                <a:spcPts val="280"/>
              </a:spcBef>
              <a:buClr>
                <a:srgbClr val="000000"/>
              </a:buClr>
              <a:buSzPts val="1400"/>
              <a:buFont typeface="Arial" panose="020B0604020202020204"/>
              <a:buNone/>
            </a:pPr>
            <a:endParaRPr sz="1400" kern="0" dirty="0">
              <a:solidFill>
                <a:srgbClr val="3F3F3F"/>
              </a:solidFill>
              <a:ea typeface="Arial" panose="020B0604020202020204"/>
              <a:cs typeface="Arial" panose="020B0604020202020204"/>
              <a:sym typeface="Arial" panose="020B0604020202020204"/>
            </a:endParaRPr>
          </a:p>
        </p:txBody>
      </p:sp>
      <p:sp>
        <p:nvSpPr>
          <p:cNvPr id="868" name="Google Shape;868;p9"/>
          <p:cNvSpPr txBox="1"/>
          <p:nvPr/>
        </p:nvSpPr>
        <p:spPr>
          <a:xfrm>
            <a:off x="8176304" y="1773895"/>
            <a:ext cx="3812496" cy="1323786"/>
          </a:xfrm>
          <a:prstGeom prst="rect">
            <a:avLst/>
          </a:prstGeom>
          <a:noFill/>
          <a:ln>
            <a:noFill/>
          </a:ln>
        </p:spPr>
        <p:txBody>
          <a:bodyPr spcFirstLastPara="1" wrap="square" lIns="91425" tIns="45700" rIns="91425" bIns="45700" anchor="t" anchorCtr="0">
            <a:noAutofit/>
          </a:bodyPr>
          <a:lstStyle/>
          <a:p>
            <a:pPr>
              <a:buClr>
                <a:srgbClr val="3F3F3F"/>
              </a:buClr>
              <a:buSzPts val="1600"/>
              <a:buFont typeface="Arial" panose="020B0604020202020204"/>
              <a:buNone/>
            </a:pPr>
            <a:r>
              <a:rPr lang="en-US" sz="1600" kern="0" dirty="0">
                <a:solidFill>
                  <a:srgbClr val="3F3F3F"/>
                </a:solidFill>
                <a:cs typeface="Arial" panose="020B0604020202020204"/>
                <a:sym typeface="Arial" panose="020B0604020202020204"/>
              </a:rPr>
              <a:t>Emphasis shall be given to </a:t>
            </a:r>
            <a:r>
              <a:rPr lang="en-US" sz="1600" b="1" kern="0" dirty="0">
                <a:solidFill>
                  <a:srgbClr val="3F3F3F"/>
                </a:solidFill>
                <a:cs typeface="Arial" panose="020B0604020202020204"/>
                <a:sym typeface="Arial" panose="020B0604020202020204"/>
              </a:rPr>
              <a:t>empowering rural areas and cooperatives </a:t>
            </a:r>
            <a:r>
              <a:rPr lang="en-US" sz="1600" kern="0" dirty="0">
                <a:solidFill>
                  <a:srgbClr val="3F3F3F"/>
                </a:solidFill>
                <a:cs typeface="Arial" panose="020B0604020202020204"/>
                <a:sym typeface="Arial" panose="020B0604020202020204"/>
              </a:rPr>
              <a:t>through adopting fitting operating models and </a:t>
            </a:r>
            <a:r>
              <a:rPr lang="en-US" sz="1600" b="1" kern="0" dirty="0">
                <a:solidFill>
                  <a:srgbClr val="3F3F3F"/>
                </a:solidFill>
                <a:cs typeface="Arial" panose="020B0604020202020204"/>
                <a:sym typeface="Arial" panose="020B0604020202020204"/>
              </a:rPr>
              <a:t>digital banking modalities</a:t>
            </a:r>
            <a:r>
              <a:rPr lang="en-US" sz="1600" kern="0" dirty="0">
                <a:solidFill>
                  <a:srgbClr val="3F3F3F"/>
                </a:solidFill>
                <a:cs typeface="Arial" panose="020B0604020202020204"/>
                <a:sym typeface="Arial" panose="020B0604020202020204"/>
              </a:rPr>
              <a:t>. </a:t>
            </a:r>
            <a:endParaRPr sz="1400" kern="0" dirty="0">
              <a:solidFill>
                <a:srgbClr val="000000"/>
              </a:solidFill>
              <a:cs typeface="Arial" panose="020B0604020202020204"/>
              <a:sym typeface="Arial" panose="020B0604020202020204"/>
            </a:endParaRPr>
          </a:p>
        </p:txBody>
      </p:sp>
      <p:sp>
        <p:nvSpPr>
          <p:cNvPr id="869" name="Google Shape;869;p9"/>
          <p:cNvSpPr/>
          <p:nvPr/>
        </p:nvSpPr>
        <p:spPr>
          <a:xfrm rot="10800000" flipH="1">
            <a:off x="10285265" y="3854"/>
            <a:ext cx="298735" cy="172865"/>
          </a:xfrm>
          <a:prstGeom prst="triangle">
            <a:avLst>
              <a:gd name="adj" fmla="val 50000"/>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buClr>
                <a:srgbClr val="FFFFFF"/>
              </a:buClr>
              <a:buSzPts val="1800"/>
              <a:buFont typeface="Arial" panose="020B0604020202020204"/>
              <a:buNone/>
            </a:pPr>
            <a:endParaRPr kern="0">
              <a:solidFill>
                <a:srgbClr val="FFFFFF"/>
              </a:solidFill>
              <a:ea typeface="Arial" panose="020B0604020202020204"/>
              <a:cs typeface="Arial" panose="020B0604020202020204"/>
              <a:sym typeface="Arial" panose="020B0604020202020204"/>
            </a:endParaRPr>
          </a:p>
        </p:txBody>
      </p:sp>
      <p:sp>
        <p:nvSpPr>
          <p:cNvPr id="871" name="Google Shape;871;p9"/>
          <p:cNvSpPr/>
          <p:nvPr/>
        </p:nvSpPr>
        <p:spPr>
          <a:xfrm>
            <a:off x="5986113" y="308960"/>
            <a:ext cx="4583780" cy="1133860"/>
          </a:xfrm>
          <a:prstGeom prst="rect">
            <a:avLst/>
          </a:prstGeom>
          <a:noFill/>
          <a:ln>
            <a:noFill/>
          </a:ln>
        </p:spPr>
        <p:txBody>
          <a:bodyPr spcFirstLastPara="1" wrap="square" lIns="91425" tIns="45700" rIns="91425" bIns="45700" anchor="t" anchorCtr="0">
            <a:spAutoFit/>
          </a:bodyPr>
          <a:lstStyle/>
          <a:p>
            <a:pPr>
              <a:lnSpc>
                <a:spcPct val="94000"/>
              </a:lnSpc>
              <a:buClr>
                <a:srgbClr val="3A3838"/>
              </a:buClr>
              <a:buSzPts val="1800"/>
              <a:buFont typeface="Arial" panose="020B0604020202020204"/>
              <a:buNone/>
            </a:pPr>
            <a:r>
              <a:rPr lang="en-US" kern="0" dirty="0">
                <a:solidFill>
                  <a:srgbClr val="3A3838"/>
                </a:solidFill>
                <a:ea typeface="Arial" panose="020B0604020202020204"/>
                <a:cs typeface="Arial" panose="020B0604020202020204"/>
                <a:sym typeface="Arial" panose="020B0604020202020204"/>
              </a:rPr>
              <a:t>There exists a large number of </a:t>
            </a:r>
            <a:r>
              <a:rPr lang="en-US" b="1" kern="0" dirty="0">
                <a:solidFill>
                  <a:srgbClr val="3A3838"/>
                </a:solidFill>
                <a:ea typeface="Arial" panose="020B0604020202020204"/>
                <a:cs typeface="Arial" panose="020B0604020202020204"/>
                <a:sym typeface="Arial" panose="020B0604020202020204"/>
              </a:rPr>
              <a:t>unbanked</a:t>
            </a:r>
            <a:r>
              <a:rPr lang="en-US" kern="0" dirty="0">
                <a:solidFill>
                  <a:srgbClr val="3A3838"/>
                </a:solidFill>
                <a:ea typeface="Arial" panose="020B0604020202020204"/>
                <a:cs typeface="Arial" panose="020B0604020202020204"/>
                <a:sym typeface="Arial" panose="020B0604020202020204"/>
              </a:rPr>
              <a:t> and </a:t>
            </a:r>
            <a:r>
              <a:rPr lang="en-US" b="1" kern="0" dirty="0">
                <a:solidFill>
                  <a:srgbClr val="3A3838"/>
                </a:solidFill>
                <a:ea typeface="Arial" panose="020B0604020202020204"/>
                <a:cs typeface="Arial" panose="020B0604020202020204"/>
                <a:sym typeface="Arial" panose="020B0604020202020204"/>
              </a:rPr>
              <a:t>underbanked</a:t>
            </a:r>
            <a:r>
              <a:rPr lang="en-US" kern="0" dirty="0">
                <a:solidFill>
                  <a:srgbClr val="3A3838"/>
                </a:solidFill>
                <a:ea typeface="Arial" panose="020B0604020202020204"/>
                <a:cs typeface="Arial" panose="020B0604020202020204"/>
                <a:sym typeface="Arial" panose="020B0604020202020204"/>
              </a:rPr>
              <a:t> population in Ethiopia, and the </a:t>
            </a:r>
            <a:r>
              <a:rPr lang="en-US" kern="0" dirty="0" err="1">
                <a:solidFill>
                  <a:srgbClr val="3A3838"/>
                </a:solidFill>
                <a:ea typeface="Arial" panose="020B0604020202020204"/>
                <a:cs typeface="Arial" panose="020B0604020202020204"/>
                <a:sym typeface="Arial" panose="020B0604020202020204"/>
              </a:rPr>
              <a:t>Coopbank</a:t>
            </a:r>
            <a:r>
              <a:rPr lang="en-US" kern="0" dirty="0">
                <a:solidFill>
                  <a:srgbClr val="3A3838"/>
                </a:solidFill>
                <a:ea typeface="Arial" panose="020B0604020202020204"/>
                <a:cs typeface="Arial" panose="020B0604020202020204"/>
                <a:sym typeface="Arial" panose="020B0604020202020204"/>
              </a:rPr>
              <a:t> shall work on it and </a:t>
            </a:r>
            <a:r>
              <a:rPr lang="en-US" b="1" kern="0" dirty="0">
                <a:solidFill>
                  <a:srgbClr val="3A3838"/>
                </a:solidFill>
                <a:ea typeface="Arial" panose="020B0604020202020204"/>
                <a:cs typeface="Arial" panose="020B0604020202020204"/>
                <a:sym typeface="Arial" panose="020B0604020202020204"/>
              </a:rPr>
              <a:t>improving financial inclusion</a:t>
            </a:r>
            <a:r>
              <a:rPr lang="en-US" kern="0" dirty="0">
                <a:solidFill>
                  <a:srgbClr val="3A3838"/>
                </a:solidFill>
                <a:ea typeface="Arial" panose="020B0604020202020204"/>
                <a:cs typeface="Arial" panose="020B0604020202020204"/>
                <a:sym typeface="Arial" panose="020B0604020202020204"/>
              </a:rPr>
              <a:t>.</a:t>
            </a:r>
            <a:endParaRPr sz="1400" kern="0" dirty="0">
              <a:solidFill>
                <a:srgbClr val="000000"/>
              </a:solidFill>
              <a:cs typeface="Arial" panose="020B0604020202020204"/>
              <a:sym typeface="Arial" panose="020B0604020202020204"/>
            </a:endParaRPr>
          </a:p>
        </p:txBody>
      </p:sp>
      <p:grpSp>
        <p:nvGrpSpPr>
          <p:cNvPr id="872" name="Google Shape;872;p9"/>
          <p:cNvGrpSpPr/>
          <p:nvPr/>
        </p:nvGrpSpPr>
        <p:grpSpPr>
          <a:xfrm>
            <a:off x="5358205" y="3766112"/>
            <a:ext cx="627908" cy="608008"/>
            <a:chOff x="2025650" y="4786313"/>
            <a:chExt cx="285750" cy="287338"/>
          </a:xfrm>
        </p:grpSpPr>
        <p:sp>
          <p:nvSpPr>
            <p:cNvPr id="873" name="Google Shape;873;p9"/>
            <p:cNvSpPr/>
            <p:nvPr/>
          </p:nvSpPr>
          <p:spPr>
            <a:xfrm>
              <a:off x="2025650" y="4786313"/>
              <a:ext cx="285750" cy="287338"/>
            </a:xfrm>
            <a:custGeom>
              <a:avLst/>
              <a:gdLst/>
              <a:ahLst/>
              <a:cxnLst/>
              <a:rect l="l" t="t" r="r" b="b"/>
              <a:pathLst>
                <a:path w="903" h="903" extrusionOk="0">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adFill>
              <a:gsLst>
                <a:gs pos="0">
                  <a:srgbClr val="0683B8"/>
                </a:gs>
                <a:gs pos="100000">
                  <a:srgbClr val="7030A0"/>
                </a:gs>
              </a:gsLst>
              <a:lin ang="18900000" scaled="0"/>
            </a:gradFill>
            <a:ln>
              <a:noFill/>
            </a:ln>
          </p:spPr>
          <p:txBody>
            <a:bodyPr spcFirstLastPara="1" wrap="square" lIns="45700" tIns="22850" rIns="45700" bIns="22850" anchor="t" anchorCtr="0">
              <a:noAutofit/>
            </a:bodyPr>
            <a:lstStyle/>
            <a:p>
              <a:pPr>
                <a:buClr>
                  <a:srgbClr val="000000"/>
                </a:buClr>
                <a:buSzPts val="900"/>
                <a:buFont typeface="Arial" panose="020B0604020202020204"/>
                <a:buNone/>
              </a:pPr>
              <a:endParaRPr sz="900" kern="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74" name="Google Shape;874;p9"/>
            <p:cNvSpPr/>
            <p:nvPr/>
          </p:nvSpPr>
          <p:spPr>
            <a:xfrm>
              <a:off x="2054225" y="4843463"/>
              <a:ext cx="200025" cy="73025"/>
            </a:xfrm>
            <a:custGeom>
              <a:avLst/>
              <a:gdLst/>
              <a:ahLst/>
              <a:cxnLst/>
              <a:rect l="l" t="t" r="r" b="b"/>
              <a:pathLst>
                <a:path w="632" h="226" extrusionOk="0">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adFill>
              <a:gsLst>
                <a:gs pos="0">
                  <a:srgbClr val="0683B8"/>
                </a:gs>
                <a:gs pos="100000">
                  <a:srgbClr val="7030A0"/>
                </a:gs>
              </a:gsLst>
              <a:lin ang="18900000" scaled="0"/>
            </a:gradFill>
            <a:ln>
              <a:noFill/>
            </a:ln>
          </p:spPr>
          <p:txBody>
            <a:bodyPr spcFirstLastPara="1" wrap="square" lIns="45700" tIns="22850" rIns="45700" bIns="22850" anchor="t" anchorCtr="0">
              <a:noAutofit/>
            </a:bodyPr>
            <a:lstStyle/>
            <a:p>
              <a:pPr>
                <a:buClr>
                  <a:srgbClr val="000000"/>
                </a:buClr>
                <a:buSzPts val="900"/>
                <a:buFont typeface="Arial" panose="020B0604020202020204"/>
                <a:buNone/>
              </a:pPr>
              <a:endParaRPr sz="900" kern="0">
                <a:solidFill>
                  <a:srgbClr val="000000"/>
                </a:solidFill>
                <a:latin typeface="Calibri" panose="020F0502020204030204"/>
                <a:ea typeface="Calibri" panose="020F0502020204030204"/>
                <a:cs typeface="Calibri" panose="020F0502020204030204"/>
                <a:sym typeface="Calibri" panose="020F0502020204030204"/>
              </a:endParaRPr>
            </a:p>
          </p:txBody>
        </p:sp>
      </p:grpSp>
      <p:sp>
        <p:nvSpPr>
          <p:cNvPr id="2" name="TextBox 1"/>
          <p:cNvSpPr txBox="1"/>
          <p:nvPr/>
        </p:nvSpPr>
        <p:spPr>
          <a:xfrm>
            <a:off x="318640" y="443428"/>
            <a:ext cx="6677919" cy="523220"/>
          </a:xfrm>
          <a:prstGeom prst="rect">
            <a:avLst/>
          </a:prstGeom>
          <a:noFill/>
        </p:spPr>
        <p:txBody>
          <a:bodyPr wrap="square">
            <a:spAutoFit/>
          </a:bodyPr>
          <a:lstStyle/>
          <a:p>
            <a:r>
              <a:rPr lang="en-ZA" sz="2800" dirty="0">
                <a:solidFill>
                  <a:srgbClr val="00B0F0"/>
                </a:solidFill>
                <a:latin typeface="Bahnschrift" panose="020B0502040204020203" pitchFamily="34" charset="0"/>
              </a:rPr>
              <a:t>Why we need </a:t>
            </a:r>
            <a:r>
              <a:rPr lang="en-ZA" sz="2800" b="1" dirty="0" err="1">
                <a:solidFill>
                  <a:srgbClr val="00B0F0"/>
                </a:solidFill>
                <a:latin typeface="Bahnschrift" panose="020B0502040204020203" pitchFamily="34" charset="0"/>
              </a:rPr>
              <a:t>Farm</a:t>
            </a:r>
            <a:r>
              <a:rPr lang="en-ZA" sz="2800" dirty="0" err="1">
                <a:solidFill>
                  <a:srgbClr val="00B0F0"/>
                </a:solidFill>
                <a:latin typeface="Calibri" panose="020F0502020204030204" pitchFamily="34" charset="0"/>
                <a:ea typeface="Calibri" panose="020F0502020204030204" pitchFamily="34" charset="0"/>
                <a:cs typeface="Calibri" panose="020F0502020204030204" pitchFamily="34" charset="0"/>
              </a:rPr>
              <a:t>Pass</a:t>
            </a:r>
            <a:r>
              <a:rPr lang="en-ZA" sz="2800" dirty="0">
                <a:solidFill>
                  <a:schemeClr val="accent2"/>
                </a:solidFill>
                <a:latin typeface="Calibri" panose="020F0502020204030204" pitchFamily="34" charset="0"/>
                <a:ea typeface="Calibri" panose="020F0502020204030204" pitchFamily="34" charset="0"/>
                <a:cs typeface="Calibri" panose="020F0502020204030204" pitchFamily="34" charset="0"/>
              </a:rPr>
              <a:t> </a:t>
            </a:r>
            <a:endParaRPr lang="en-US" dirty="0">
              <a:solidFill>
                <a:schemeClr val="accent2"/>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6" name="object 13" descr="object 13"/>
          <p:cNvPicPr>
            <a:picLocks noChangeAspect="1" noChangeArrowheads="1"/>
          </p:cNvPicPr>
          <p:nvPr/>
        </p:nvPicPr>
        <p:blipFill>
          <a:blip r:embed="rId1">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0482" name="Text Box 1"/>
          <p:cNvSpPr txBox="1">
            <a:spLocks noChangeArrowheads="1"/>
          </p:cNvSpPr>
          <p:nvPr/>
        </p:nvSpPr>
        <p:spPr bwMode="auto">
          <a:xfrm>
            <a:off x="-169068" y="2500208"/>
            <a:ext cx="5927918" cy="1518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7500">
              <a:defRPr sz="2400">
                <a:solidFill>
                  <a:srgbClr val="5E5E5E"/>
                </a:solidFill>
                <a:latin typeface="Helvetica Neue"/>
                <a:ea typeface="Helvetica Neue"/>
                <a:cs typeface="Helvetica Neue"/>
                <a:sym typeface="Helvetica Neue"/>
              </a:defRPr>
            </a:lvl1pPr>
            <a:lvl2pPr marL="742950" indent="-285750">
              <a:defRPr sz="2400">
                <a:solidFill>
                  <a:srgbClr val="5E5E5E"/>
                </a:solidFill>
                <a:latin typeface="Helvetica Neue"/>
                <a:ea typeface="Helvetica Neue"/>
                <a:cs typeface="Helvetica Neue"/>
                <a:sym typeface="Helvetica Neue"/>
              </a:defRPr>
            </a:lvl2pPr>
            <a:lvl3pPr marL="1143000" indent="-228600">
              <a:defRPr sz="2400">
                <a:solidFill>
                  <a:srgbClr val="5E5E5E"/>
                </a:solidFill>
                <a:latin typeface="Helvetica Neue"/>
                <a:ea typeface="Helvetica Neue"/>
                <a:cs typeface="Helvetica Neue"/>
                <a:sym typeface="Helvetica Neue"/>
              </a:defRPr>
            </a:lvl3pPr>
            <a:lvl4pPr marL="1600200" indent="-228600">
              <a:defRPr sz="2400">
                <a:solidFill>
                  <a:srgbClr val="5E5E5E"/>
                </a:solidFill>
                <a:latin typeface="Helvetica Neue"/>
                <a:ea typeface="Helvetica Neue"/>
                <a:cs typeface="Helvetica Neue"/>
                <a:sym typeface="Helvetica Neue"/>
              </a:defRPr>
            </a:lvl4pPr>
            <a:lvl5pPr marL="2057400" indent="-228600">
              <a:defRPr sz="2400">
                <a:solidFill>
                  <a:srgbClr val="5E5E5E"/>
                </a:solidFill>
                <a:latin typeface="Helvetica Neue"/>
                <a:ea typeface="Helvetica Neue"/>
                <a:cs typeface="Helvetica Neue"/>
                <a:sym typeface="Helvetica Neue"/>
              </a:defRPr>
            </a:lvl5pPr>
            <a:lvl6pPr marL="25146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6pPr>
            <a:lvl7pPr marL="29718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7pPr>
            <a:lvl8pPr marL="34290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8pPr>
            <a:lvl9pPr marL="38862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9pPr>
          </a:lstStyle>
          <a:p>
            <a:pPr algn="just">
              <a:lnSpc>
                <a:spcPct val="150000"/>
              </a:lnSpc>
            </a:pPr>
            <a:r>
              <a:rPr lang="en-US" altLang="en-US" sz="1800" dirty="0">
                <a:solidFill>
                  <a:srgbClr val="00B0F0"/>
                </a:solidFill>
                <a:latin typeface="Arial Narrow" panose="020B0606020202030204" pitchFamily="34" charset="0"/>
                <a:sym typeface="+mn-ea"/>
              </a:rPr>
              <a:t>Coopbank Farm pass - </a:t>
            </a:r>
            <a:r>
              <a:rPr lang="en-US" altLang="en-US" sz="1800" dirty="0">
                <a:latin typeface="Arial Narrow" panose="020B0606020202030204" pitchFamily="34" charset="0"/>
                <a:sym typeface="+mn-ea"/>
              </a:rPr>
              <a:t>powered by Mastercard's renowned </a:t>
            </a:r>
            <a:r>
              <a:rPr lang="en-US" altLang="en-US" sz="1800" dirty="0">
                <a:solidFill>
                  <a:srgbClr val="FF9900"/>
                </a:solidFill>
                <a:latin typeface="Arial Narrow" panose="020B0606020202030204" pitchFamily="34" charset="0"/>
                <a:sym typeface="+mn-ea"/>
              </a:rPr>
              <a:t>Community Pass </a:t>
            </a:r>
            <a:r>
              <a:rPr lang="en-US" altLang="en-US" sz="1800" dirty="0">
                <a:latin typeface="Arial Narrow" panose="020B0606020202030204" pitchFamily="34" charset="0"/>
                <a:sym typeface="+mn-ea"/>
              </a:rPr>
              <a:t>platform, it is an Eco-system that seamlessly connects farmers, cooperatives, aggregators, buyers, agricultural input/service providers, financial institutions, and other service providers.</a:t>
            </a:r>
            <a:endParaRPr lang="en-US" altLang="en-US" sz="1800" dirty="0">
              <a:latin typeface="Arial Narrow" panose="020B0606020202030204" pitchFamily="34" charset="0"/>
            </a:endParaRPr>
          </a:p>
        </p:txBody>
      </p:sp>
      <p:grpSp>
        <p:nvGrpSpPr>
          <p:cNvPr id="20483" name="Group 58"/>
          <p:cNvGrpSpPr/>
          <p:nvPr/>
        </p:nvGrpSpPr>
        <p:grpSpPr bwMode="auto">
          <a:xfrm>
            <a:off x="6591300" y="1955800"/>
            <a:ext cx="5194300" cy="4072732"/>
            <a:chOff x="4347690" y="1818569"/>
            <a:chExt cx="4116585" cy="3477333"/>
          </a:xfrm>
        </p:grpSpPr>
        <p:sp>
          <p:nvSpPr>
            <p:cNvPr id="20488" name="Title 2"/>
            <p:cNvSpPr txBox="1">
              <a:spLocks noChangeArrowheads="1"/>
            </p:cNvSpPr>
            <p:nvPr/>
          </p:nvSpPr>
          <p:spPr bwMode="gray">
            <a:xfrm rot="10800000" flipV="1">
              <a:off x="5280572" y="1818569"/>
              <a:ext cx="2893929" cy="464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20" tIns="60960" rIns="121920" bIns="60960" anchor="ctr"/>
            <a:lstStyle>
              <a:lvl1pPr defTabSz="685800">
                <a:defRPr sz="2400">
                  <a:solidFill>
                    <a:srgbClr val="5E5E5E"/>
                  </a:solidFill>
                  <a:latin typeface="Helvetica Neue"/>
                  <a:ea typeface="Helvetica Neue"/>
                  <a:cs typeface="Helvetica Neue"/>
                  <a:sym typeface="Helvetica Neue"/>
                </a:defRPr>
              </a:lvl1pPr>
              <a:lvl2pPr marL="742950" indent="-285750" defTabSz="685800">
                <a:defRPr sz="2400">
                  <a:solidFill>
                    <a:srgbClr val="5E5E5E"/>
                  </a:solidFill>
                  <a:latin typeface="Helvetica Neue"/>
                  <a:ea typeface="Helvetica Neue"/>
                  <a:cs typeface="Helvetica Neue"/>
                  <a:sym typeface="Helvetica Neue"/>
                </a:defRPr>
              </a:lvl2pPr>
              <a:lvl3pPr marL="1143000" indent="-228600" defTabSz="685800">
                <a:defRPr sz="2400">
                  <a:solidFill>
                    <a:srgbClr val="5E5E5E"/>
                  </a:solidFill>
                  <a:latin typeface="Helvetica Neue"/>
                  <a:ea typeface="Helvetica Neue"/>
                  <a:cs typeface="Helvetica Neue"/>
                  <a:sym typeface="Helvetica Neue"/>
                </a:defRPr>
              </a:lvl3pPr>
              <a:lvl4pPr marL="1600200" indent="-228600" defTabSz="685800">
                <a:defRPr sz="2400">
                  <a:solidFill>
                    <a:srgbClr val="5E5E5E"/>
                  </a:solidFill>
                  <a:latin typeface="Helvetica Neue"/>
                  <a:ea typeface="Helvetica Neue"/>
                  <a:cs typeface="Helvetica Neue"/>
                  <a:sym typeface="Helvetica Neue"/>
                </a:defRPr>
              </a:lvl4pPr>
              <a:lvl5pPr marL="2057400" indent="-228600" defTabSz="685800">
                <a:defRPr sz="2400">
                  <a:solidFill>
                    <a:srgbClr val="5E5E5E"/>
                  </a:solidFill>
                  <a:latin typeface="Helvetica Neue"/>
                  <a:ea typeface="Helvetica Neue"/>
                  <a:cs typeface="Helvetica Neue"/>
                  <a:sym typeface="Helvetica Neue"/>
                </a:defRPr>
              </a:lvl5pPr>
              <a:lvl6pPr marL="2514600" indent="-228600" defTabSz="685800" eaLnBrk="0" fontAlgn="base" hangingPunct="0">
                <a:spcBef>
                  <a:spcPct val="0"/>
                </a:spcBef>
                <a:spcAft>
                  <a:spcPct val="0"/>
                </a:spcAft>
                <a:defRPr sz="2400">
                  <a:solidFill>
                    <a:srgbClr val="5E5E5E"/>
                  </a:solidFill>
                  <a:latin typeface="Helvetica Neue"/>
                  <a:ea typeface="Helvetica Neue"/>
                  <a:cs typeface="Helvetica Neue"/>
                  <a:sym typeface="Helvetica Neue"/>
                </a:defRPr>
              </a:lvl6pPr>
              <a:lvl7pPr marL="2971800" indent="-228600" defTabSz="685800" eaLnBrk="0" fontAlgn="base" hangingPunct="0">
                <a:spcBef>
                  <a:spcPct val="0"/>
                </a:spcBef>
                <a:spcAft>
                  <a:spcPct val="0"/>
                </a:spcAft>
                <a:defRPr sz="2400">
                  <a:solidFill>
                    <a:srgbClr val="5E5E5E"/>
                  </a:solidFill>
                  <a:latin typeface="Helvetica Neue"/>
                  <a:ea typeface="Helvetica Neue"/>
                  <a:cs typeface="Helvetica Neue"/>
                  <a:sym typeface="Helvetica Neue"/>
                </a:defRPr>
              </a:lvl7pPr>
              <a:lvl8pPr marL="3429000" indent="-228600" defTabSz="685800" eaLnBrk="0" fontAlgn="base" hangingPunct="0">
                <a:spcBef>
                  <a:spcPct val="0"/>
                </a:spcBef>
                <a:spcAft>
                  <a:spcPct val="0"/>
                </a:spcAft>
                <a:defRPr sz="2400">
                  <a:solidFill>
                    <a:srgbClr val="5E5E5E"/>
                  </a:solidFill>
                  <a:latin typeface="Helvetica Neue"/>
                  <a:ea typeface="Helvetica Neue"/>
                  <a:cs typeface="Helvetica Neue"/>
                  <a:sym typeface="Helvetica Neue"/>
                </a:defRPr>
              </a:lvl8pPr>
              <a:lvl9pPr marL="3886200" indent="-228600" defTabSz="685800" eaLnBrk="0" fontAlgn="base" hangingPunct="0">
                <a:spcBef>
                  <a:spcPct val="0"/>
                </a:spcBef>
                <a:spcAft>
                  <a:spcPct val="0"/>
                </a:spcAft>
                <a:defRPr sz="2400">
                  <a:solidFill>
                    <a:srgbClr val="5E5E5E"/>
                  </a:solidFill>
                  <a:latin typeface="Helvetica Neue"/>
                  <a:ea typeface="Helvetica Neue"/>
                  <a:cs typeface="Helvetica Neue"/>
                  <a:sym typeface="Helvetica Neue"/>
                </a:defRPr>
              </a:lvl9pPr>
            </a:lstStyle>
            <a:p>
              <a:pPr algn="just" eaLnBrk="1" hangingPunct="1">
                <a:lnSpc>
                  <a:spcPct val="90000"/>
                </a:lnSpc>
              </a:pPr>
              <a:r>
                <a:rPr lang="en-US" altLang="en-US" sz="1800" dirty="0">
                  <a:solidFill>
                    <a:srgbClr val="00B0F0"/>
                  </a:solidFill>
                  <a:latin typeface="Bahnschrift" panose="020B0502040204020203" pitchFamily="34" charset="0"/>
                  <a:sym typeface="+mn-ea"/>
                </a:rPr>
                <a:t>Simple and Easy to Use platform</a:t>
              </a:r>
              <a:endParaRPr lang="en-US" altLang="en-US" sz="1800" dirty="0">
                <a:solidFill>
                  <a:srgbClr val="00B0F0"/>
                </a:solidFill>
                <a:latin typeface="Bahnschrift" panose="020B0502040204020203" pitchFamily="34" charset="0"/>
                <a:sym typeface="+mn-ea"/>
              </a:endParaRPr>
            </a:p>
            <a:p>
              <a:pPr algn="ctr" eaLnBrk="1" hangingPunct="1">
                <a:lnSpc>
                  <a:spcPct val="90000"/>
                </a:lnSpc>
              </a:pPr>
              <a:r>
                <a:rPr lang="en-US" altLang="en-US" sz="1100" dirty="0">
                  <a:solidFill>
                    <a:schemeClr val="tx1"/>
                  </a:solidFill>
                  <a:latin typeface="Bahnschrift" panose="020B0502040204020203" pitchFamily="34" charset="0"/>
                  <a:sym typeface="+mn-ea"/>
                </a:rPr>
                <a:t>( Made Considering the Agri-sector)</a:t>
              </a:r>
              <a:endParaRPr lang="en-US" altLang="en-US" sz="1100" dirty="0">
                <a:solidFill>
                  <a:schemeClr val="tx1"/>
                </a:solidFill>
                <a:latin typeface="Bahnschrift" panose="020B0502040204020203" pitchFamily="34" charset="0"/>
                <a:sym typeface="+mn-ea"/>
              </a:endParaRPr>
            </a:p>
          </p:txBody>
        </p:sp>
        <p:pic>
          <p:nvPicPr>
            <p:cNvPr id="20489" name="Picture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5588" y="2758432"/>
              <a:ext cx="1460529" cy="102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90" name="Google Shape;262;p33"/>
            <p:cNvGrpSpPr/>
            <p:nvPr/>
          </p:nvGrpSpPr>
          <p:grpSpPr bwMode="auto">
            <a:xfrm>
              <a:off x="4347690" y="2667383"/>
              <a:ext cx="1879809" cy="1240011"/>
              <a:chOff x="1177450" y="241631"/>
              <a:chExt cx="6173153" cy="3616776"/>
            </a:xfrm>
          </p:grpSpPr>
          <p:sp>
            <p:nvSpPr>
              <p:cNvPr id="49" name="Google Shape;263;p33"/>
              <p:cNvSpPr/>
              <p:nvPr/>
            </p:nvSpPr>
            <p:spPr>
              <a:xfrm>
                <a:off x="1681504" y="240696"/>
                <a:ext cx="5162421" cy="3455268"/>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bg1">
                  <a:lumMod val="75000"/>
                </a:schemeClr>
              </a:solidFill>
              <a:ln>
                <a:noFill/>
              </a:ln>
              <a:effectLst>
                <a:outerShdw blurRad="57150" dist="19050" dir="5400000" algn="bl" rotWithShape="0">
                  <a:srgbClr val="1C4587">
                    <a:alpha val="50000"/>
                  </a:srgbClr>
                </a:outerShdw>
              </a:effectLst>
            </p:spPr>
            <p:txBody>
              <a:bodyPr spcFirstLastPara="1" lIns="121900" tIns="60934" rIns="121900" bIns="60934"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defRPr/>
                </a:pPr>
                <a:endParaRPr sz="1000">
                  <a:latin typeface="Calibri" panose="020F0502020204030204"/>
                  <a:ea typeface="Calibri" panose="020F0502020204030204"/>
                  <a:cs typeface="Calibri" panose="020F0502020204030204"/>
                  <a:sym typeface="Calibri" panose="020F0502020204030204"/>
                </a:endParaRPr>
              </a:p>
            </p:txBody>
          </p:sp>
          <p:sp>
            <p:nvSpPr>
              <p:cNvPr id="50" name="Google Shape;264;p33"/>
              <p:cNvSpPr/>
              <p:nvPr/>
            </p:nvSpPr>
            <p:spPr>
              <a:xfrm>
                <a:off x="1177450" y="3763172"/>
                <a:ext cx="6172593" cy="94882"/>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bg1">
                  <a:lumMod val="75000"/>
                </a:schemeClr>
              </a:solidFill>
              <a:ln>
                <a:noFill/>
              </a:ln>
              <a:effectLst>
                <a:outerShdw blurRad="57150" dist="19050" dir="5400000" algn="bl" rotWithShape="0">
                  <a:srgbClr val="1C4587">
                    <a:alpha val="50000"/>
                  </a:srgbClr>
                </a:outerShdw>
              </a:effectLst>
            </p:spPr>
            <p:txBody>
              <a:bodyPr spcFirstLastPara="1" lIns="121900" tIns="60934" rIns="121900" bIns="60934"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just">
                  <a:defRPr/>
                </a:pPr>
                <a:endParaRPr sz="1000">
                  <a:latin typeface="Calibri" panose="020F0502020204030204"/>
                  <a:ea typeface="Calibri" panose="020F0502020204030204"/>
                  <a:cs typeface="Calibri" panose="020F0502020204030204"/>
                  <a:sym typeface="Calibri" panose="020F0502020204030204"/>
                </a:endParaRPr>
              </a:p>
            </p:txBody>
          </p:sp>
          <p:sp>
            <p:nvSpPr>
              <p:cNvPr id="20499" name="Google Shape;265;p33"/>
              <p:cNvSpPr/>
              <p:nvPr/>
            </p:nvSpPr>
            <p:spPr bwMode="auto">
              <a:xfrm>
                <a:off x="1177450" y="3687086"/>
                <a:ext cx="6172200" cy="76142"/>
              </a:xfrm>
              <a:custGeom>
                <a:avLst/>
                <a:gdLst>
                  <a:gd name="T0" fmla="*/ 0 w 6172200"/>
                  <a:gd name="T1" fmla="*/ 76143 h 76142"/>
                  <a:gd name="T2" fmla="*/ 6172200 w 6172200"/>
                  <a:gd name="T3" fmla="*/ 76143 h 76142"/>
                  <a:gd name="T4" fmla="*/ 6172200 w 6172200"/>
                  <a:gd name="T5" fmla="*/ 0 h 76142"/>
                  <a:gd name="T6" fmla="*/ 0 w 6172200"/>
                  <a:gd name="T7" fmla="*/ 0 h 76142"/>
                  <a:gd name="T8" fmla="*/ 0 w 6172200"/>
                  <a:gd name="T9" fmla="*/ 76143 h 761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72200" h="76142" extrusionOk="0">
                    <a:moveTo>
                      <a:pt x="0" y="76143"/>
                    </a:moveTo>
                    <a:lnTo>
                      <a:pt x="6172200" y="76143"/>
                    </a:lnTo>
                    <a:lnTo>
                      <a:pt x="6172200" y="0"/>
                    </a:lnTo>
                    <a:lnTo>
                      <a:pt x="0" y="0"/>
                    </a:lnTo>
                    <a:lnTo>
                      <a:pt x="0" y="7614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900" tIns="60934" rIns="121900" bIns="60934" anchor="ctr"/>
              <a:lstStyle/>
              <a:p>
                <a:endParaRPr lang="en-US" sz="900"/>
              </a:p>
            </p:txBody>
          </p:sp>
          <p:sp>
            <p:nvSpPr>
              <p:cNvPr id="20500" name="Google Shape;266;p33"/>
              <p:cNvSpPr/>
              <p:nvPr/>
            </p:nvSpPr>
            <p:spPr bwMode="auto">
              <a:xfrm>
                <a:off x="3806350" y="3687086"/>
                <a:ext cx="903922" cy="47589"/>
              </a:xfrm>
              <a:custGeom>
                <a:avLst/>
                <a:gdLst>
                  <a:gd name="T0" fmla="*/ 0 w 903922"/>
                  <a:gd name="T1" fmla="*/ 0 h 47589"/>
                  <a:gd name="T2" fmla="*/ 53340 w 903922"/>
                  <a:gd name="T3" fmla="*/ 47589 h 47589"/>
                  <a:gd name="T4" fmla="*/ 850582 w 903922"/>
                  <a:gd name="T5" fmla="*/ 47589 h 47589"/>
                  <a:gd name="T6" fmla="*/ 903922 w 903922"/>
                  <a:gd name="T7" fmla="*/ 0 h 47589"/>
                  <a:gd name="T8" fmla="*/ 0 w 903922"/>
                  <a:gd name="T9" fmla="*/ 0 h 475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lIns="121900" tIns="60934" rIns="121900" bIns="60934" anchor="ctr"/>
              <a:lstStyle/>
              <a:p>
                <a:endParaRPr lang="en-US" sz="900"/>
              </a:p>
            </p:txBody>
          </p:sp>
        </p:grpSp>
        <p:sp>
          <p:nvSpPr>
            <p:cNvPr id="53" name="Rectangle 52"/>
            <p:cNvSpPr/>
            <p:nvPr/>
          </p:nvSpPr>
          <p:spPr>
            <a:xfrm>
              <a:off x="4677948" y="3985210"/>
              <a:ext cx="3786327" cy="1310692"/>
            </a:xfrm>
            <a:prstGeom prst="rect">
              <a:avLst/>
            </a:prstGeom>
          </p:spPr>
          <p:txBody>
            <a:bodyPr/>
            <a:lstStyle/>
            <a:p>
              <a:pPr marL="159385" algn="r">
                <a:lnSpc>
                  <a:spcPct val="150000"/>
                </a:lnSpc>
                <a:defRPr/>
              </a:pPr>
              <a:r>
                <a:rPr lang="en-US" sz="1600" dirty="0">
                  <a:latin typeface="Bahnschrift" panose="020B0502040204020203" pitchFamily="34" charset="0"/>
                </a:rPr>
                <a:t>Offline Mobile App</a:t>
              </a:r>
              <a:endParaRPr lang="en-US" sz="1600" dirty="0">
                <a:latin typeface="Bahnschrift" panose="020B0502040204020203" pitchFamily="34" charset="0"/>
              </a:endParaRPr>
            </a:p>
            <a:p>
              <a:pPr marL="159385" algn="just">
                <a:defRPr/>
              </a:pPr>
              <a:endParaRPr lang="en-US" sz="1000" dirty="0">
                <a:latin typeface="Bahnschrift" panose="020B0502040204020203" pitchFamily="34" charset="0"/>
              </a:endParaRPr>
            </a:p>
            <a:p>
              <a:pPr marL="306705" indent="-154305" algn="just">
                <a:defRPr/>
              </a:pPr>
              <a:r>
                <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rPr>
                <a:t>Language support in : </a:t>
              </a:r>
              <a:endPar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660525" indent="-117475" algn="just">
                <a:buFont typeface="Arial" panose="020B0604020202020204" pitchFamily="34" charset="0"/>
                <a:buChar char="•"/>
                <a:tabLst>
                  <a:tab pos="992505" algn="l"/>
                </a:tabLst>
                <a:defRPr/>
              </a:pPr>
              <a:r>
                <a:rPr lang="en-US" sz="1200" kern="0" dirty="0" err="1">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rPr>
                <a:t>Afaan</a:t>
              </a:r>
              <a:r>
                <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rPr>
                <a:t> Oromo</a:t>
              </a:r>
              <a:endPar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660525" indent="-117475" algn="just">
                <a:buFont typeface="Arial" panose="020B0604020202020204" pitchFamily="34" charset="0"/>
                <a:buChar char="•"/>
                <a:tabLst>
                  <a:tab pos="992505" algn="l"/>
                </a:tabLst>
                <a:defRPr/>
              </a:pPr>
              <a:r>
                <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rPr>
                <a:t>Amharic and </a:t>
              </a:r>
              <a:endPar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660525" indent="-117475" algn="just">
                <a:buFont typeface="Arial" panose="020B0604020202020204" pitchFamily="34" charset="0"/>
                <a:buChar char="•"/>
                <a:tabLst>
                  <a:tab pos="992505" algn="l"/>
                </a:tabLst>
                <a:defRPr/>
              </a:pPr>
              <a:r>
                <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rPr>
                <a:t>English</a:t>
              </a:r>
              <a:endParaRPr lang="en-US" sz="1200"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20492" name="Picture 53"/>
            <p:cNvPicPr>
              <a:picLocks noChangeAspect="1" noChangeArrowheads="1"/>
            </p:cNvPicPr>
            <p:nvPr/>
          </p:nvPicPr>
          <p:blipFill>
            <a:blip r:embed="rId3">
              <a:extLst>
                <a:ext uri="{28A0092B-C50C-407E-A947-70E740481C1C}">
                  <a14:useLocalDpi xmlns:a14="http://schemas.microsoft.com/office/drawing/2010/main" val="0"/>
                </a:ext>
              </a:extLst>
            </a:blip>
            <a:srcRect t="2853" b="5405"/>
            <a:stretch>
              <a:fillRect/>
            </a:stretch>
          </p:blipFill>
          <p:spPr bwMode="auto">
            <a:xfrm>
              <a:off x="7369233" y="2667383"/>
              <a:ext cx="641075" cy="128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3"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2037" y="2564517"/>
              <a:ext cx="933104" cy="1543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4" name="Picture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0754" y="3199777"/>
              <a:ext cx="398031" cy="422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5" name="TextBox 56"/>
            <p:cNvSpPr txBox="1">
              <a:spLocks noChangeArrowheads="1"/>
            </p:cNvSpPr>
            <p:nvPr/>
          </p:nvSpPr>
          <p:spPr bwMode="auto">
            <a:xfrm>
              <a:off x="5031576" y="4044987"/>
              <a:ext cx="508552" cy="289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5E5E5E"/>
                  </a:solidFill>
                  <a:latin typeface="Helvetica Neue"/>
                  <a:ea typeface="Helvetica Neue"/>
                  <a:cs typeface="Helvetica Neue"/>
                  <a:sym typeface="Helvetica Neue"/>
                </a:defRPr>
              </a:lvl1pPr>
              <a:lvl2pPr marL="742950" indent="-285750">
                <a:defRPr sz="2400">
                  <a:solidFill>
                    <a:srgbClr val="5E5E5E"/>
                  </a:solidFill>
                  <a:latin typeface="Helvetica Neue"/>
                  <a:ea typeface="Helvetica Neue"/>
                  <a:cs typeface="Helvetica Neue"/>
                  <a:sym typeface="Helvetica Neue"/>
                </a:defRPr>
              </a:lvl2pPr>
              <a:lvl3pPr marL="1143000" indent="-228600">
                <a:defRPr sz="2400">
                  <a:solidFill>
                    <a:srgbClr val="5E5E5E"/>
                  </a:solidFill>
                  <a:latin typeface="Helvetica Neue"/>
                  <a:ea typeface="Helvetica Neue"/>
                  <a:cs typeface="Helvetica Neue"/>
                  <a:sym typeface="Helvetica Neue"/>
                </a:defRPr>
              </a:lvl3pPr>
              <a:lvl4pPr marL="1600200" indent="-228600">
                <a:defRPr sz="2400">
                  <a:solidFill>
                    <a:srgbClr val="5E5E5E"/>
                  </a:solidFill>
                  <a:latin typeface="Helvetica Neue"/>
                  <a:ea typeface="Helvetica Neue"/>
                  <a:cs typeface="Helvetica Neue"/>
                  <a:sym typeface="Helvetica Neue"/>
                </a:defRPr>
              </a:lvl4pPr>
              <a:lvl5pPr marL="2057400" indent="-228600">
                <a:defRPr sz="2400">
                  <a:solidFill>
                    <a:srgbClr val="5E5E5E"/>
                  </a:solidFill>
                  <a:latin typeface="Helvetica Neue"/>
                  <a:ea typeface="Helvetica Neue"/>
                  <a:cs typeface="Helvetica Neue"/>
                  <a:sym typeface="Helvetica Neue"/>
                </a:defRPr>
              </a:lvl5pPr>
              <a:lvl6pPr marL="25146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6pPr>
              <a:lvl7pPr marL="29718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7pPr>
              <a:lvl8pPr marL="34290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8pPr>
              <a:lvl9pPr marL="38862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9pPr>
            </a:lstStyle>
            <a:p>
              <a:pPr algn="just"/>
              <a:r>
                <a:rPr lang="en-US" altLang="en-US" sz="1600">
                  <a:latin typeface="Bahnschrift" panose="020B0502040204020203" pitchFamily="34" charset="0"/>
                </a:rPr>
                <a:t>Web</a:t>
              </a:r>
              <a:endParaRPr lang="en-US" altLang="en-US" sz="1600">
                <a:latin typeface="Bahnschrift" panose="020B0502040204020203" pitchFamily="34" charset="0"/>
              </a:endParaRPr>
            </a:p>
          </p:txBody>
        </p:sp>
        <p:sp>
          <p:nvSpPr>
            <p:cNvPr id="20496" name="TextBox 57"/>
            <p:cNvSpPr txBox="1">
              <a:spLocks noChangeArrowheads="1"/>
            </p:cNvSpPr>
            <p:nvPr/>
          </p:nvSpPr>
          <p:spPr bwMode="auto">
            <a:xfrm>
              <a:off x="6062626" y="4076617"/>
              <a:ext cx="508552" cy="289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5E5E5E"/>
                  </a:solidFill>
                  <a:latin typeface="Helvetica Neue"/>
                  <a:ea typeface="Helvetica Neue"/>
                  <a:cs typeface="Helvetica Neue"/>
                  <a:sym typeface="Helvetica Neue"/>
                </a:defRPr>
              </a:lvl1pPr>
              <a:lvl2pPr marL="742950" indent="-285750">
                <a:defRPr sz="2400">
                  <a:solidFill>
                    <a:srgbClr val="5E5E5E"/>
                  </a:solidFill>
                  <a:latin typeface="Helvetica Neue"/>
                  <a:ea typeface="Helvetica Neue"/>
                  <a:cs typeface="Helvetica Neue"/>
                  <a:sym typeface="Helvetica Neue"/>
                </a:defRPr>
              </a:lvl2pPr>
              <a:lvl3pPr marL="1143000" indent="-228600">
                <a:defRPr sz="2400">
                  <a:solidFill>
                    <a:srgbClr val="5E5E5E"/>
                  </a:solidFill>
                  <a:latin typeface="Helvetica Neue"/>
                  <a:ea typeface="Helvetica Neue"/>
                  <a:cs typeface="Helvetica Neue"/>
                  <a:sym typeface="Helvetica Neue"/>
                </a:defRPr>
              </a:lvl3pPr>
              <a:lvl4pPr marL="1600200" indent="-228600">
                <a:defRPr sz="2400">
                  <a:solidFill>
                    <a:srgbClr val="5E5E5E"/>
                  </a:solidFill>
                  <a:latin typeface="Helvetica Neue"/>
                  <a:ea typeface="Helvetica Neue"/>
                  <a:cs typeface="Helvetica Neue"/>
                  <a:sym typeface="Helvetica Neue"/>
                </a:defRPr>
              </a:lvl4pPr>
              <a:lvl5pPr marL="2057400" indent="-228600">
                <a:defRPr sz="2400">
                  <a:solidFill>
                    <a:srgbClr val="5E5E5E"/>
                  </a:solidFill>
                  <a:latin typeface="Helvetica Neue"/>
                  <a:ea typeface="Helvetica Neue"/>
                  <a:cs typeface="Helvetica Neue"/>
                  <a:sym typeface="Helvetica Neue"/>
                </a:defRPr>
              </a:lvl5pPr>
              <a:lvl6pPr marL="25146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6pPr>
              <a:lvl7pPr marL="29718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7pPr>
              <a:lvl8pPr marL="34290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8pPr>
              <a:lvl9pPr marL="38862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9pPr>
            </a:lstStyle>
            <a:p>
              <a:pPr algn="just"/>
              <a:r>
                <a:rPr lang="en-US" altLang="en-US" sz="1600">
                  <a:latin typeface="Bahnschrift" panose="020B0502040204020203" pitchFamily="34" charset="0"/>
                </a:rPr>
                <a:t>&amp;</a:t>
              </a:r>
              <a:endParaRPr lang="en-US" altLang="en-US" sz="1600">
                <a:latin typeface="Bahnschrift" panose="020B0502040204020203" pitchFamily="34" charset="0"/>
              </a:endParaRPr>
            </a:p>
          </p:txBody>
        </p:sp>
      </p:grpSp>
      <p:pic>
        <p:nvPicPr>
          <p:cNvPr id="20484" name="Picture 62"/>
          <p:cNvPicPr>
            <a:picLocks noChangeAspect="1" noChangeArrowheads="1"/>
          </p:cNvPicPr>
          <p:nvPr/>
        </p:nvPicPr>
        <p:blipFill>
          <a:blip r:embed="rId6">
            <a:extLst>
              <a:ext uri="{28A0092B-C50C-407E-A947-70E740481C1C}">
                <a14:useLocalDpi xmlns:a14="http://schemas.microsoft.com/office/drawing/2010/main" val="0"/>
              </a:ext>
            </a:extLst>
          </a:blip>
          <a:srcRect l="41829" r="40756" b="2251"/>
          <a:stretch>
            <a:fillRect/>
          </a:stretch>
        </p:blipFill>
        <p:spPr bwMode="auto">
          <a:xfrm>
            <a:off x="5830888" y="76994"/>
            <a:ext cx="492125" cy="670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Google Shape;86;p13"/>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37032" y="409575"/>
            <a:ext cx="1042194" cy="41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6395051" y="6377280"/>
            <a:ext cx="5542949" cy="461665"/>
          </a:xfrm>
          <a:prstGeom prst="rect">
            <a:avLst/>
          </a:prstGeom>
          <a:noFill/>
        </p:spPr>
        <p:txBody>
          <a:bodyPr wrap="square">
            <a:spAutoFit/>
          </a:bodyPr>
          <a:lstStyle/>
          <a:p>
            <a:pPr algn="ctr"/>
            <a:r>
              <a:rPr lang="en-US" sz="1200" dirty="0"/>
              <a:t>* Farmers do not directly use the platform, they access it through their Cooperative, Cooperative Agents or any other organization they are under.</a:t>
            </a:r>
            <a:endParaRPr lang="en-US" sz="1200"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object 13" descr="object 13"/>
          <p:cNvPicPr>
            <a:picLocks noChangeAspect="1" noChangeArrowheads="1"/>
          </p:cNvPicPr>
          <p:nvPr/>
        </p:nvPicPr>
        <p:blipFill>
          <a:blip r:embed="rId1">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 name="Rectangle 4"/>
          <p:cNvSpPr/>
          <p:nvPr/>
        </p:nvSpPr>
        <p:spPr>
          <a:xfrm>
            <a:off x="-263951" y="909380"/>
            <a:ext cx="11574744" cy="3112390"/>
          </a:xfrm>
          <a:prstGeom prst="rect">
            <a:avLst/>
          </a:prstGeom>
        </p:spPr>
        <p:txBody>
          <a:bodyPr wrap="square">
            <a:spAutoFit/>
          </a:bodyPr>
          <a:lstStyle/>
          <a:p>
            <a:pPr marL="838200">
              <a:lnSpc>
                <a:spcPct val="150000"/>
              </a:lnSpc>
            </a:pPr>
            <a:r>
              <a:rPr lang="en-US" sz="2135" dirty="0">
                <a:solidFill>
                  <a:srgbClr val="00B0F0"/>
                </a:solidFill>
                <a:latin typeface="Bahnschrift" panose="020B0502040204020203" pitchFamily="34" charset="0"/>
                <a:cs typeface="Arial" panose="020B0604020202020204" pitchFamily="34" charset="0"/>
              </a:rPr>
              <a:t>Farmer Data Management </a:t>
            </a:r>
            <a:endParaRPr lang="en-US" sz="2135" dirty="0">
              <a:solidFill>
                <a:srgbClr val="00B0F0"/>
              </a:solidFill>
              <a:latin typeface="Bahnschrift" panose="020B0502040204020203" pitchFamily="34" charset="0"/>
              <a:cs typeface="Arial" panose="020B0604020202020204" pitchFamily="34" charset="0"/>
            </a:endParaRPr>
          </a:p>
          <a:p>
            <a:pPr marL="838200">
              <a:lnSpc>
                <a:spcPct val="150000"/>
              </a:lnSpc>
            </a:pPr>
            <a:r>
              <a:rPr lang="en-US" sz="1865" dirty="0">
                <a:latin typeface="Nirmala UI Semilight" panose="020B0402040204020203" pitchFamily="34" charset="0"/>
                <a:ea typeface="Nirmala UI Semilight" panose="020B0402040204020203" pitchFamily="34" charset="0"/>
                <a:cs typeface="Nirmala UI Semilight" panose="020B0402040204020203" pitchFamily="34" charset="0"/>
              </a:rPr>
              <a:t>Digitize Cooperatives member Farmers profile and Keep Track of their overall interactions with their cooperative.</a:t>
            </a:r>
            <a:endParaRPr lang="en-US" sz="1865"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061845" indent="-381000">
              <a:lnSpc>
                <a:spcPct val="150000"/>
              </a:lnSpc>
              <a:buFont typeface="Arial" panose="020B0604020202020204" pitchFamily="34" charset="0"/>
              <a:buChar char="•"/>
            </a:pPr>
            <a:endParaRPr lang="en-US" sz="1865" dirty="0">
              <a:latin typeface="Bahnschrift" panose="020B0502040204020203" pitchFamily="34" charset="0"/>
              <a:cs typeface="Arial" panose="020B0604020202020204" pitchFamily="34" charset="0"/>
            </a:endParaRPr>
          </a:p>
          <a:p>
            <a:pPr marL="1680845">
              <a:lnSpc>
                <a:spcPct val="150000"/>
              </a:lnSpc>
            </a:pPr>
            <a:endParaRPr lang="en-US" sz="1865" dirty="0">
              <a:latin typeface="Bahnschrift" panose="020B0502040204020203" pitchFamily="34" charset="0"/>
              <a:cs typeface="Arial" panose="020B0604020202020204" pitchFamily="34" charset="0"/>
            </a:endParaRPr>
          </a:p>
          <a:p>
            <a:pPr marL="1680845">
              <a:lnSpc>
                <a:spcPct val="150000"/>
              </a:lnSpc>
            </a:pPr>
            <a:endParaRPr lang="en-US" sz="1865" dirty="0">
              <a:latin typeface="Bahnschrift" panose="020B0502040204020203" pitchFamily="34" charset="0"/>
              <a:cs typeface="Arial" panose="020B0604020202020204" pitchFamily="34" charset="0"/>
            </a:endParaRPr>
          </a:p>
          <a:p>
            <a:pPr marL="1680845">
              <a:lnSpc>
                <a:spcPct val="150000"/>
              </a:lnSpc>
            </a:pPr>
            <a:endParaRPr lang="en-US" sz="1865" dirty="0">
              <a:latin typeface="Bahnschrift" panose="020B0502040204020203" pitchFamily="34" charset="0"/>
              <a:cs typeface="Arial" panose="020B0604020202020204" pitchFamily="34" charset="0"/>
            </a:endParaRP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955" y="2082396"/>
            <a:ext cx="4769598" cy="4039386"/>
          </a:xfrm>
          <a:prstGeom prst="rect">
            <a:avLst/>
          </a:prstGeom>
        </p:spPr>
      </p:pic>
      <p:sp>
        <p:nvSpPr>
          <p:cNvPr id="15" name="Rectangle 14"/>
          <p:cNvSpPr/>
          <p:nvPr/>
        </p:nvSpPr>
        <p:spPr>
          <a:xfrm>
            <a:off x="-1608340" y="5618302"/>
            <a:ext cx="7131761" cy="785151"/>
          </a:xfrm>
          <a:prstGeom prst="rect">
            <a:avLst/>
          </a:prstGeom>
        </p:spPr>
        <p:txBody>
          <a:bodyPr wrap="none">
            <a:spAutoFit/>
          </a:bodyPr>
          <a:lstStyle/>
          <a:p>
            <a:pPr marL="1680845" algn="ctr">
              <a:lnSpc>
                <a:spcPct val="150000"/>
              </a:lnSpc>
            </a:pPr>
            <a:r>
              <a:rPr lang="en-US" sz="1600" dirty="0">
                <a:solidFill>
                  <a:schemeClr val="accent2"/>
                </a:solidFill>
                <a:latin typeface="Nirmala UI Semilight" panose="020B0402040204020203" pitchFamily="34" charset="0"/>
                <a:ea typeface="Nirmala UI Semilight" panose="020B0402040204020203" pitchFamily="34" charset="0"/>
                <a:cs typeface="Nirmala UI Semilight" panose="020B0402040204020203" pitchFamily="34" charset="0"/>
              </a:rPr>
              <a:t>Dashboard and Reporting</a:t>
            </a:r>
            <a:endParaRPr lang="en-US" sz="1600" dirty="0">
              <a:solidFill>
                <a:schemeClr val="accent2"/>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680845">
              <a:lnSpc>
                <a:spcPct val="150000"/>
              </a:lnSpc>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Cooperatives can now see all their transactions at one place</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16" name="Rectangle 15"/>
          <p:cNvSpPr/>
          <p:nvPr/>
        </p:nvSpPr>
        <p:spPr>
          <a:xfrm>
            <a:off x="3683304" y="2848997"/>
            <a:ext cx="8305496" cy="3001143"/>
          </a:xfrm>
          <a:prstGeom prst="rect">
            <a:avLst/>
          </a:prstGeom>
        </p:spPr>
        <p:txBody>
          <a:bodyPr wrap="square">
            <a:spAutoFit/>
          </a:bodyPr>
          <a:lstStyle/>
          <a:p>
            <a:pPr marL="1680845">
              <a:lnSpc>
                <a:spcPct val="150000"/>
              </a:lnSpc>
            </a:pP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909445" indent="-228600">
              <a:lnSpc>
                <a:spcPct val="15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Enable Cooperatives to Manage their Farmers data</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909445" indent="-228600">
              <a:lnSpc>
                <a:spcPct val="15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Upload existing Farmer list, going directly from manual to Digital.</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909445" indent="-228600">
              <a:lnSpc>
                <a:spcPct val="15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Reduce paper cost and increase efficiency.</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909445" indent="-228600">
              <a:lnSpc>
                <a:spcPct val="15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Cooperatives can send SMS announcements for Farmers.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909445" indent="-228600">
              <a:lnSpc>
                <a:spcPct val="15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Create Visibility of overall Cooperative performance for Bank</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909445" indent="-228600">
              <a:lnSpc>
                <a:spcPct val="150000"/>
              </a:lnSpc>
              <a:buFont typeface="Arial" panose="020B0604020202020204" pitchFamily="34" charset="0"/>
              <a:buChar char="•"/>
            </a:pP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909445" indent="-228600">
              <a:lnSpc>
                <a:spcPct val="150000"/>
              </a:lnSpc>
              <a:buFont typeface="Arial" panose="020B0604020202020204" pitchFamily="34" charset="0"/>
              <a:buChar char="•"/>
            </a:pP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3" name="Google Shape;86;p13"/>
          <p:cNvPicPr preferRelativeResize="0"/>
          <p:nvPr/>
        </p:nvPicPr>
        <p:blipFill rotWithShape="1">
          <a:blip r:embed="rId3"/>
          <a:srcRect/>
          <a:stretch>
            <a:fillRect/>
          </a:stretch>
        </p:blipFill>
        <p:spPr>
          <a:xfrm>
            <a:off x="10537372" y="409460"/>
            <a:ext cx="1042205" cy="418576"/>
          </a:xfrm>
          <a:prstGeom prst="rect">
            <a:avLst/>
          </a:prstGeom>
          <a:noFill/>
          <a:ln>
            <a:noFill/>
          </a:ln>
        </p:spPr>
      </p:pic>
      <p:pic>
        <p:nvPicPr>
          <p:cNvPr id="3" name="Picture 2"/>
          <p:cNvPicPr>
            <a:picLocks noChangeAspect="1"/>
          </p:cNvPicPr>
          <p:nvPr/>
        </p:nvPicPr>
        <p:blipFill>
          <a:blip r:embed="rId4"/>
          <a:stretch>
            <a:fillRect/>
          </a:stretch>
        </p:blipFill>
        <p:spPr>
          <a:xfrm>
            <a:off x="565944" y="2681055"/>
            <a:ext cx="4323330" cy="2327382"/>
          </a:xfrm>
          <a:prstGeom prst="rect">
            <a:avLst/>
          </a:prstGeom>
        </p:spPr>
      </p:pic>
      <p:sp>
        <p:nvSpPr>
          <p:cNvPr id="4" name="TextBox 3"/>
          <p:cNvSpPr txBox="1"/>
          <p:nvPr/>
        </p:nvSpPr>
        <p:spPr>
          <a:xfrm>
            <a:off x="3796589" y="133407"/>
            <a:ext cx="6203288" cy="571247"/>
          </a:xfrm>
          <a:prstGeom prst="rect">
            <a:avLst/>
          </a:prstGeom>
          <a:noFill/>
        </p:spPr>
        <p:txBody>
          <a:bodyPr wrap="square">
            <a:spAutoFit/>
          </a:bodyPr>
          <a:lstStyle/>
          <a:p>
            <a:pPr marL="838200">
              <a:lnSpc>
                <a:spcPct val="150000"/>
              </a:lnSpc>
            </a:pPr>
            <a:r>
              <a:rPr lang="en-GB" altLang="en-US" sz="2400" b="1" dirty="0">
                <a:solidFill>
                  <a:schemeClr val="accent2"/>
                </a:solidFill>
                <a:latin typeface="Bahnschrift" panose="020B0502040204020203" pitchFamily="34" charset="0"/>
                <a:cs typeface="Arial" panose="020B0604020202020204" pitchFamily="34" charset="0"/>
              </a:rPr>
              <a:t>Farm Pass Services</a:t>
            </a:r>
            <a:endParaRPr lang="en-GB" altLang="en-US" sz="2400" b="1" dirty="0">
              <a:solidFill>
                <a:schemeClr val="accent2"/>
              </a:solidFill>
              <a:latin typeface="Bahnschrift" panose="020B0502040204020203"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882" y="3154667"/>
            <a:ext cx="3590985" cy="3590985"/>
          </a:xfrm>
          <a:prstGeom prst="rect">
            <a:avLst/>
          </a:prstGeom>
        </p:spPr>
      </p:pic>
      <p:pic>
        <p:nvPicPr>
          <p:cNvPr id="20" name="object 13" descr="object 13"/>
          <p:cNvPicPr>
            <a:picLocks noChangeAspect="1" noChangeArrowheads="1"/>
          </p:cNvPicPr>
          <p:nvPr/>
        </p:nvPicPr>
        <p:blipFill>
          <a:blip r:embed="rId2">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 name="Rectangle 2"/>
          <p:cNvSpPr/>
          <p:nvPr/>
        </p:nvSpPr>
        <p:spPr bwMode="gray">
          <a:xfrm>
            <a:off x="10998200" y="6100555"/>
            <a:ext cx="1193800" cy="7574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5" dirty="0"/>
          </a:p>
        </p:txBody>
      </p:sp>
      <p:sp>
        <p:nvSpPr>
          <p:cNvPr id="11" name="Rectangle 10"/>
          <p:cNvSpPr/>
          <p:nvPr/>
        </p:nvSpPr>
        <p:spPr>
          <a:xfrm>
            <a:off x="-909993" y="771674"/>
            <a:ext cx="12297659" cy="1502784"/>
          </a:xfrm>
          <a:prstGeom prst="rect">
            <a:avLst/>
          </a:prstGeom>
        </p:spPr>
        <p:txBody>
          <a:bodyPr wrap="square">
            <a:spAutoFit/>
          </a:bodyPr>
          <a:lstStyle/>
          <a:p>
            <a:pPr marL="990600">
              <a:lnSpc>
                <a:spcPct val="150000"/>
              </a:lnSpc>
            </a:pPr>
            <a:r>
              <a:rPr lang="en-US" sz="2135" dirty="0">
                <a:solidFill>
                  <a:srgbClr val="00B0F0"/>
                </a:solidFill>
                <a:latin typeface="Bahnschrift" panose="020B0502040204020203" pitchFamily="34" charset="0"/>
                <a:cs typeface="Arial" panose="020B0604020202020204" pitchFamily="34" charset="0"/>
              </a:rPr>
              <a:t>  Buyer Order Management</a:t>
            </a:r>
            <a:endParaRPr lang="en-US" sz="2135" dirty="0">
              <a:solidFill>
                <a:srgbClr val="00B0F0"/>
              </a:solidFill>
              <a:latin typeface="Bahnschrift" panose="020B0502040204020203" pitchFamily="34" charset="0"/>
              <a:cs typeface="Arial" panose="020B0604020202020204" pitchFamily="34" charset="0"/>
            </a:endParaRPr>
          </a:p>
          <a:p>
            <a:pPr marL="990600">
              <a:lnSpc>
                <a:spcPct val="150000"/>
              </a:lnSpc>
            </a:pPr>
            <a:r>
              <a:rPr lang="en-US" sz="2135" dirty="0">
                <a:solidFill>
                  <a:srgbClr val="00B0F0"/>
                </a:solidFill>
                <a:latin typeface="Bahnschrift" panose="020B0502040204020203" pitchFamily="34" charset="0"/>
                <a:ea typeface="Nirmala UI Semilight" panose="020B0402040204020203" pitchFamily="34" charset="0"/>
                <a:cs typeface="Arial" panose="020B0604020202020204" pitchFamily="34" charset="0"/>
              </a:rPr>
              <a:t>  </a:t>
            </a:r>
            <a:r>
              <a:rPr lang="en-US" sz="2000" dirty="0">
                <a:latin typeface="Nirmala UI Semilight" panose="020B0402040204020203" pitchFamily="34" charset="0"/>
                <a:ea typeface="Nirmala UI Semilight" panose="020B0402040204020203" pitchFamily="34" charset="0"/>
                <a:cs typeface="Nirmala UI Semilight" panose="020B0402040204020203" pitchFamily="34" charset="0"/>
              </a:rPr>
              <a:t>Buying and Selling made Digital, Efficient and Simpler.</a:t>
            </a:r>
            <a:endParaRPr lang="en-US" sz="20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990600">
              <a:lnSpc>
                <a:spcPct val="150000"/>
              </a:lnSpc>
            </a:pPr>
            <a:endParaRPr lang="en-US" sz="2135" dirty="0">
              <a:solidFill>
                <a:srgbClr val="00B0F0"/>
              </a:solidFill>
              <a:latin typeface="Bahnschrift" panose="020B0502040204020203" pitchFamily="34" charset="0"/>
              <a:cs typeface="Arial" panose="020B0604020202020204" pitchFamily="34" charset="0"/>
            </a:endParaRPr>
          </a:p>
        </p:txBody>
      </p:sp>
      <p:pic>
        <p:nvPicPr>
          <p:cNvPr id="15" name="Google Shape;86;p13"/>
          <p:cNvPicPr preferRelativeResize="0"/>
          <p:nvPr/>
        </p:nvPicPr>
        <p:blipFill rotWithShape="1">
          <a:blip r:embed="rId3"/>
          <a:srcRect/>
          <a:stretch>
            <a:fillRect/>
          </a:stretch>
        </p:blipFill>
        <p:spPr>
          <a:xfrm>
            <a:off x="10537372" y="409460"/>
            <a:ext cx="1042205" cy="418576"/>
          </a:xfrm>
          <a:prstGeom prst="rect">
            <a:avLst/>
          </a:prstGeom>
          <a:noFill/>
          <a:ln>
            <a:noFill/>
          </a:ln>
        </p:spPr>
      </p:pic>
      <p:sp>
        <p:nvSpPr>
          <p:cNvPr id="5" name="TextBox 4"/>
          <p:cNvSpPr txBox="1"/>
          <p:nvPr/>
        </p:nvSpPr>
        <p:spPr>
          <a:xfrm>
            <a:off x="-277366" y="1476888"/>
            <a:ext cx="8096466" cy="2258247"/>
          </a:xfrm>
          <a:prstGeom prst="rect">
            <a:avLst/>
          </a:prstGeom>
          <a:noFill/>
        </p:spPr>
        <p:txBody>
          <a:bodyPr wrap="square">
            <a:spAutoFit/>
          </a:bodyPr>
          <a:lstStyle/>
          <a:p>
            <a:pPr marL="990600">
              <a:lnSpc>
                <a:spcPct val="150000"/>
              </a:lnSpc>
            </a:pPr>
            <a:endParaRPr lang="en-US" sz="1600" dirty="0"/>
          </a:p>
          <a:p>
            <a:pPr marL="990600">
              <a:lnSpc>
                <a:spcPct val="150000"/>
              </a:lnSpc>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Digitize supply chain, including Payments : </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r>
              <a:rPr lang="en-US" sz="16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rPr>
              <a:t>Farmer</a:t>
            </a: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 to </a:t>
            </a:r>
            <a:r>
              <a:rPr lang="en-US" sz="1600" dirty="0">
                <a:solidFill>
                  <a:schemeClr val="accent2"/>
                </a:solidFill>
                <a:latin typeface="Nirmala UI Semilight" panose="020B0402040204020203" pitchFamily="34" charset="0"/>
                <a:ea typeface="Nirmala UI Semilight" panose="020B0402040204020203" pitchFamily="34" charset="0"/>
                <a:cs typeface="Nirmala UI Semilight" panose="020B0402040204020203" pitchFamily="34" charset="0"/>
              </a:rPr>
              <a:t>Collection Sites </a:t>
            </a: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to </a:t>
            </a:r>
            <a:r>
              <a:rPr lang="en-US" sz="1600" dirty="0">
                <a:solidFill>
                  <a:srgbClr val="00B050"/>
                </a:solidFill>
                <a:latin typeface="Nirmala UI Semilight" panose="020B0402040204020203" pitchFamily="34" charset="0"/>
                <a:ea typeface="Nirmala UI Semilight" panose="020B0402040204020203" pitchFamily="34" charset="0"/>
                <a:cs typeface="Nirmala UI Semilight" panose="020B0402040204020203" pitchFamily="34" charset="0"/>
              </a:rPr>
              <a:t>Primary Cooperative </a:t>
            </a:r>
            <a:endParaRPr lang="en-US" sz="1600" dirty="0">
              <a:solidFill>
                <a:srgbClr val="00B050"/>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Primary Cooperative to Cooperative unions </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r>
              <a:rPr lang="en-US" sz="16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rPr>
              <a:t>Producer</a:t>
            </a: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 to </a:t>
            </a:r>
            <a:r>
              <a:rPr lang="en-US" sz="1600" dirty="0">
                <a:solidFill>
                  <a:schemeClr val="accent2"/>
                </a:solidFill>
                <a:latin typeface="Nirmala UI Semilight" panose="020B0402040204020203" pitchFamily="34" charset="0"/>
                <a:ea typeface="Nirmala UI Semilight" panose="020B0402040204020203" pitchFamily="34" charset="0"/>
                <a:cs typeface="Nirmala UI Semilight" panose="020B0402040204020203" pitchFamily="34" charset="0"/>
              </a:rPr>
              <a:t>Aggregator</a:t>
            </a: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 to </a:t>
            </a:r>
            <a:r>
              <a:rPr lang="en-US" sz="1600" dirty="0">
                <a:solidFill>
                  <a:srgbClr val="00B050"/>
                </a:solidFill>
                <a:latin typeface="Nirmala UI Semilight" panose="020B0402040204020203" pitchFamily="34" charset="0"/>
                <a:ea typeface="Nirmala UI Semilight" panose="020B0402040204020203" pitchFamily="34" charset="0"/>
                <a:cs typeface="Nirmala UI Semilight" panose="020B0402040204020203" pitchFamily="34" charset="0"/>
              </a:rPr>
              <a:t>End Buyer</a:t>
            </a:r>
            <a:endParaRPr lang="en-US" sz="1600" dirty="0">
              <a:solidFill>
                <a:srgbClr val="00B0F0"/>
              </a:solidFill>
              <a:latin typeface="Bahnschrift" panose="020B0502040204020203" pitchFamily="34" charset="0"/>
              <a:cs typeface="Arial" panose="020B0604020202020204" pitchFamily="34" charset="0"/>
            </a:endParaRPr>
          </a:p>
          <a:p>
            <a:pPr marL="990600">
              <a:lnSpc>
                <a:spcPct val="150000"/>
              </a:lnSpc>
            </a:pPr>
            <a:endParaRPr lang="en-US" sz="1600" dirty="0">
              <a:solidFill>
                <a:srgbClr val="00B0F0"/>
              </a:solidFill>
              <a:latin typeface="Bahnschrift" panose="020B0502040204020203" pitchFamily="34" charset="0"/>
              <a:cs typeface="Arial" panose="020B0604020202020204" pitchFamily="34" charset="0"/>
            </a:endParaRPr>
          </a:p>
        </p:txBody>
      </p:sp>
      <p:sp>
        <p:nvSpPr>
          <p:cNvPr id="7" name="TextBox 6"/>
          <p:cNvSpPr txBox="1"/>
          <p:nvPr/>
        </p:nvSpPr>
        <p:spPr>
          <a:xfrm>
            <a:off x="4609092" y="5958502"/>
            <a:ext cx="7517974" cy="617733"/>
          </a:xfrm>
          <a:prstGeom prst="rect">
            <a:avLst/>
          </a:prstGeom>
          <a:noFill/>
        </p:spPr>
        <p:txBody>
          <a:bodyPr wrap="square">
            <a:spAutoFit/>
          </a:bodyPr>
          <a:lstStyle/>
          <a:p>
            <a:pPr marL="1256030" algn="ctr">
              <a:lnSpc>
                <a:spcPct val="150000"/>
              </a:lnSpc>
            </a:pPr>
            <a:r>
              <a:rPr lang="en-US" sz="1200" dirty="0"/>
              <a:t>* Farm Pass also enables to onboard other agricultural Buyers that collect produce from farmers.     Example :  Malt Factories, Food Processor and etc.… </a:t>
            </a:r>
            <a:endParaRPr lang="en-US" sz="1200" dirty="0"/>
          </a:p>
        </p:txBody>
      </p:sp>
      <p:sp>
        <p:nvSpPr>
          <p:cNvPr id="19" name="TextBox 18"/>
          <p:cNvSpPr txBox="1"/>
          <p:nvPr/>
        </p:nvSpPr>
        <p:spPr>
          <a:xfrm>
            <a:off x="5078779" y="4388770"/>
            <a:ext cx="6578600" cy="102169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dirty="0">
                <a:latin typeface="Nirmala UI Semilight" panose="020B0402040204020203" pitchFamily="34" charset="0"/>
                <a:ea typeface="Nirmala UI Semilight" panose="020B0402040204020203" pitchFamily="34" charset="0"/>
                <a:cs typeface="Nirmala UI Semilight" panose="020B0402040204020203" pitchFamily="34" charset="0"/>
              </a:rPr>
              <a:t>Cooperative Unions can see what's available at Primary Cooperative level</a:t>
            </a:r>
            <a:endParaRPr lang="en-US" sz="14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85750" indent="-285750">
              <a:lnSpc>
                <a:spcPct val="150000"/>
              </a:lnSpc>
              <a:buFont typeface="Arial" panose="020B0604020202020204" pitchFamily="34" charset="0"/>
              <a:buChar char="•"/>
            </a:pPr>
            <a:r>
              <a:rPr lang="en-US" sz="1400" dirty="0">
                <a:latin typeface="Nirmala UI Semilight" panose="020B0402040204020203" pitchFamily="34" charset="0"/>
                <a:ea typeface="Nirmala UI Semilight" panose="020B0402040204020203" pitchFamily="34" charset="0"/>
                <a:cs typeface="Nirmala UI Semilight" panose="020B0402040204020203" pitchFamily="34" charset="0"/>
              </a:rPr>
              <a:t>Primary Cooperatives can see what's available at Agent or Collection Sites Level</a:t>
            </a:r>
            <a:endParaRPr lang="en-US" sz="14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85750" indent="-285750">
              <a:lnSpc>
                <a:spcPct val="150000"/>
              </a:lnSpc>
              <a:buFont typeface="Arial" panose="020B0604020202020204" pitchFamily="34" charset="0"/>
              <a:buChar char="•"/>
            </a:pPr>
            <a:r>
              <a:rPr lang="en-US" sz="1400" dirty="0">
                <a:latin typeface="Nirmala UI Semilight" panose="020B0402040204020203" pitchFamily="34" charset="0"/>
                <a:ea typeface="Nirmala UI Semilight" panose="020B0402040204020203" pitchFamily="34" charset="0"/>
                <a:cs typeface="Nirmala UI Semilight" panose="020B0402040204020203" pitchFamily="34" charset="0"/>
              </a:rPr>
              <a:t>Suppliers / Aggregators can Manage their Agents or Collection Sites Digitally.</a:t>
            </a:r>
            <a:endParaRPr lang="en-US" sz="14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6" name="Picture 5"/>
          <p:cNvPicPr>
            <a:picLocks noChangeAspect="1"/>
          </p:cNvPicPr>
          <p:nvPr/>
        </p:nvPicPr>
        <p:blipFill>
          <a:blip r:embed="rId4"/>
          <a:stretch>
            <a:fillRect/>
          </a:stretch>
        </p:blipFill>
        <p:spPr>
          <a:xfrm>
            <a:off x="362172" y="3665095"/>
            <a:ext cx="3197992" cy="2045951"/>
          </a:xfrm>
          <a:prstGeom prst="rect">
            <a:avLst/>
          </a:prstGeom>
        </p:spPr>
      </p:pic>
      <p:sp>
        <p:nvSpPr>
          <p:cNvPr id="12" name="TextBox 11"/>
          <p:cNvSpPr txBox="1"/>
          <p:nvPr/>
        </p:nvSpPr>
        <p:spPr>
          <a:xfrm>
            <a:off x="3796589" y="133407"/>
            <a:ext cx="6203288" cy="571247"/>
          </a:xfrm>
          <a:prstGeom prst="rect">
            <a:avLst/>
          </a:prstGeom>
          <a:noFill/>
        </p:spPr>
        <p:txBody>
          <a:bodyPr wrap="square">
            <a:spAutoFit/>
          </a:bodyPr>
          <a:lstStyle/>
          <a:p>
            <a:pPr marL="838200">
              <a:lnSpc>
                <a:spcPct val="150000"/>
              </a:lnSpc>
            </a:pPr>
            <a:r>
              <a:rPr lang="en-GB" altLang="en-US" sz="2400" b="1" dirty="0">
                <a:solidFill>
                  <a:schemeClr val="accent2"/>
                </a:solidFill>
                <a:latin typeface="Bahnschrift" panose="020B0502040204020203" pitchFamily="34" charset="0"/>
                <a:cs typeface="Arial" panose="020B0604020202020204" pitchFamily="34" charset="0"/>
              </a:rPr>
              <a:t>Farm Pass Services</a:t>
            </a:r>
            <a:endParaRPr lang="en-GB" altLang="en-US" sz="2400" b="1" dirty="0">
              <a:solidFill>
                <a:schemeClr val="accent2"/>
              </a:solidFill>
              <a:latin typeface="Bahnschrift" panose="020B0502040204020203"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9206" y="3261935"/>
            <a:ext cx="1438031" cy="3206759"/>
          </a:xfrm>
          <a:prstGeom prst="rect">
            <a:avLst/>
          </a:prstGeom>
        </p:spPr>
      </p:pic>
      <p:pic>
        <p:nvPicPr>
          <p:cNvPr id="4" name="object 13" descr="object 13"/>
          <p:cNvPicPr>
            <a:picLocks noChangeAspect="1" noChangeArrowheads="1"/>
          </p:cNvPicPr>
          <p:nvPr/>
        </p:nvPicPr>
        <p:blipFill>
          <a:blip r:embed="rId2">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1" name="Rectangle 10"/>
          <p:cNvSpPr/>
          <p:nvPr/>
        </p:nvSpPr>
        <p:spPr>
          <a:xfrm>
            <a:off x="-212141" y="850520"/>
            <a:ext cx="11682375" cy="1804111"/>
          </a:xfrm>
          <a:prstGeom prst="rect">
            <a:avLst/>
          </a:prstGeom>
        </p:spPr>
        <p:txBody>
          <a:bodyPr wrap="square">
            <a:noAutofit/>
          </a:bodyPr>
          <a:lstStyle/>
          <a:p>
            <a:pPr marL="838200">
              <a:lnSpc>
                <a:spcPct val="150000"/>
              </a:lnSpc>
            </a:pPr>
            <a:r>
              <a:rPr lang="en-GB" altLang="en-US" sz="2000" dirty="0">
                <a:solidFill>
                  <a:srgbClr val="00B0F0"/>
                </a:solidFill>
                <a:latin typeface="Bahnschrift" panose="020B0502040204020203" pitchFamily="34" charset="0"/>
                <a:cs typeface="Arial" panose="020B0604020202020204" pitchFamily="34" charset="0"/>
              </a:rPr>
              <a:t>Harvest Projection and Produce Collection</a:t>
            </a:r>
            <a:endParaRPr lang="en-GB" altLang="en-US" sz="2000" dirty="0">
              <a:solidFill>
                <a:srgbClr val="00B0F0"/>
              </a:solidFill>
              <a:latin typeface="Bahnschrift" panose="020B0502040204020203" pitchFamily="34" charset="0"/>
              <a:cs typeface="Arial" panose="020B0604020202020204" pitchFamily="34" charset="0"/>
            </a:endParaRPr>
          </a:p>
          <a:p>
            <a:pPr marL="838200">
              <a:lnSpc>
                <a:spcPct val="150000"/>
              </a:lnSpc>
            </a:pPr>
            <a:r>
              <a:rPr lang="en-US" dirty="0">
                <a:latin typeface="Nirmala UI Semilight" panose="020B0402040204020203" pitchFamily="34" charset="0"/>
                <a:ea typeface="Nirmala UI Semilight" panose="020B0402040204020203" pitchFamily="34" charset="0"/>
                <a:cs typeface="Nirmala UI Semilight" panose="020B0402040204020203" pitchFamily="34" charset="0"/>
              </a:rPr>
              <a:t>Farm Pass Enables Cooperatives to know their estimated yield at cooperative level and at individual farmers level, enabling them to prepare for the next season. It also Enables Cooperative to digitize the produce collection process even in places there is no network connection</a:t>
            </a:r>
            <a:endParaRPr lang="en-US"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680845">
              <a:lnSpc>
                <a:spcPct val="150000"/>
              </a:lnSpc>
            </a:pPr>
            <a:endParaRPr lang="en-US" sz="1600" dirty="0">
              <a:latin typeface="Bahnschrift" panose="020B0502040204020203" pitchFamily="34" charset="0"/>
              <a:cs typeface="Arial" panose="020B0604020202020204" pitchFamily="34" charset="0"/>
            </a:endParaRPr>
          </a:p>
        </p:txBody>
      </p:sp>
      <p:pic>
        <p:nvPicPr>
          <p:cNvPr id="9" name="Google Shape;86;p13"/>
          <p:cNvPicPr preferRelativeResize="0"/>
          <p:nvPr/>
        </p:nvPicPr>
        <p:blipFill rotWithShape="1">
          <a:blip r:embed="rId3"/>
          <a:srcRect/>
          <a:stretch>
            <a:fillRect/>
          </a:stretch>
        </p:blipFill>
        <p:spPr>
          <a:xfrm>
            <a:off x="10537372" y="409460"/>
            <a:ext cx="1042205" cy="418576"/>
          </a:xfrm>
          <a:prstGeom prst="rect">
            <a:avLst/>
          </a:prstGeom>
          <a:noFill/>
          <a:ln>
            <a:noFill/>
          </a:ln>
        </p:spPr>
      </p:pic>
      <p:sp>
        <p:nvSpPr>
          <p:cNvPr id="7" name="TextBox 6"/>
          <p:cNvSpPr txBox="1"/>
          <p:nvPr/>
        </p:nvSpPr>
        <p:spPr>
          <a:xfrm>
            <a:off x="839693" y="3037115"/>
            <a:ext cx="10782605" cy="2970365"/>
          </a:xfrm>
          <a:prstGeom prst="rect">
            <a:avLst/>
          </a:prstGeom>
          <a:noFill/>
        </p:spPr>
        <p:txBody>
          <a:bodyPr wrap="square">
            <a:spAutoFit/>
          </a:bodyPr>
          <a:lstStyle/>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Farm Pass digitizes collection process of cooperatives.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Payments will be made by simply inputting the kilograms and selecting the crop.</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During Collection if a farmers has an outstanding loan Farm Pass enables to automatically deduct the loans and pay the rest to the farmers.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Farmers will receive SMS every time the sell with all information(how many Kg they sold, payments made and other details)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5"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137052"/>
            <a:ext cx="2136212" cy="3720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3796589" y="133407"/>
            <a:ext cx="6203288" cy="571247"/>
          </a:xfrm>
          <a:prstGeom prst="rect">
            <a:avLst/>
          </a:prstGeom>
          <a:noFill/>
        </p:spPr>
        <p:txBody>
          <a:bodyPr wrap="square">
            <a:spAutoFit/>
          </a:bodyPr>
          <a:lstStyle/>
          <a:p>
            <a:pPr marL="838200">
              <a:lnSpc>
                <a:spcPct val="150000"/>
              </a:lnSpc>
            </a:pPr>
            <a:r>
              <a:rPr lang="en-GB" altLang="en-US" sz="2400" b="1" dirty="0">
                <a:solidFill>
                  <a:schemeClr val="accent2"/>
                </a:solidFill>
                <a:latin typeface="Bahnschrift" panose="020B0502040204020203" pitchFamily="34" charset="0"/>
                <a:cs typeface="Arial" panose="020B0604020202020204" pitchFamily="34" charset="0"/>
              </a:rPr>
              <a:t>Farm Pass Services</a:t>
            </a:r>
            <a:endParaRPr lang="en-GB" altLang="en-US" sz="2400" b="1" dirty="0">
              <a:solidFill>
                <a:schemeClr val="accent2"/>
              </a:solidFill>
              <a:latin typeface="Bahnschrift" panose="020B0502040204020203"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13" descr="object 13"/>
          <p:cNvPicPr>
            <a:picLocks noChangeAspect="1" noChangeArrowheads="1"/>
          </p:cNvPicPr>
          <p:nvPr/>
        </p:nvPicPr>
        <p:blipFill>
          <a:blip r:embed="rId1">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1" name="Rectangle 10"/>
          <p:cNvSpPr/>
          <p:nvPr/>
        </p:nvSpPr>
        <p:spPr>
          <a:xfrm>
            <a:off x="-212141" y="850520"/>
            <a:ext cx="11682375" cy="773853"/>
          </a:xfrm>
          <a:prstGeom prst="rect">
            <a:avLst/>
          </a:prstGeom>
        </p:spPr>
        <p:txBody>
          <a:bodyPr wrap="square">
            <a:noAutofit/>
          </a:bodyPr>
          <a:lstStyle/>
          <a:p>
            <a:pPr marL="838200">
              <a:lnSpc>
                <a:spcPct val="150000"/>
              </a:lnSpc>
            </a:pPr>
            <a:r>
              <a:rPr lang="en-GB" altLang="en-US" sz="2000" dirty="0">
                <a:solidFill>
                  <a:srgbClr val="00B0F0"/>
                </a:solidFill>
                <a:latin typeface="Bahnschrift" panose="020B0502040204020203" pitchFamily="34" charset="0"/>
                <a:cs typeface="Arial" panose="020B0604020202020204" pitchFamily="34" charset="0"/>
              </a:rPr>
              <a:t>Input Demand Aggregation</a:t>
            </a:r>
            <a:endParaRPr lang="en-GB" altLang="en-US" sz="2000" dirty="0">
              <a:solidFill>
                <a:srgbClr val="00B0F0"/>
              </a:solidFill>
              <a:latin typeface="Bahnschrift" panose="020B0502040204020203" pitchFamily="34" charset="0"/>
              <a:cs typeface="Arial" panose="020B0604020202020204" pitchFamily="34" charset="0"/>
            </a:endParaRPr>
          </a:p>
          <a:p>
            <a:pPr marL="838200">
              <a:lnSpc>
                <a:spcPct val="150000"/>
              </a:lnSpc>
            </a:pPr>
            <a:r>
              <a:rPr lang="en-US" sz="1865" dirty="0">
                <a:latin typeface="Nirmala UI Semilight" panose="020B0402040204020203" pitchFamily="34" charset="0"/>
                <a:ea typeface="Nirmala UI Semilight" panose="020B0402040204020203" pitchFamily="34" charset="0"/>
                <a:cs typeface="Nirmala UI Semilight" panose="020B0402040204020203" pitchFamily="34" charset="0"/>
              </a:rPr>
              <a:t>Using this platform farmers can submit their input needs through the cooperative users and cooperatives can digitally share the requests to input providers registered in Farm Pass platform.</a:t>
            </a:r>
            <a:endParaRPr lang="en-US" sz="1865"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990600">
              <a:lnSpc>
                <a:spcPct val="150000"/>
              </a:lnSpc>
            </a:pPr>
            <a:endParaRPr lang="en-US" dirty="0">
              <a:solidFill>
                <a:srgbClr val="00B0F0"/>
              </a:solidFill>
              <a:latin typeface="Bahnschrift" panose="020B0502040204020203" pitchFamily="34" charset="0"/>
              <a:cs typeface="Arial" panose="020B0604020202020204" pitchFamily="34" charset="0"/>
            </a:endParaRPr>
          </a:p>
          <a:p>
            <a:pPr marL="1680845">
              <a:lnSpc>
                <a:spcPct val="150000"/>
              </a:lnSpc>
            </a:pPr>
            <a:endParaRPr lang="en-US" sz="1600" dirty="0">
              <a:latin typeface="Bahnschrift" panose="020B0502040204020203" pitchFamily="34" charset="0"/>
              <a:cs typeface="Arial" panose="020B0604020202020204" pitchFamily="34" charset="0"/>
            </a:endParaRPr>
          </a:p>
        </p:txBody>
      </p:sp>
      <p:pic>
        <p:nvPicPr>
          <p:cNvPr id="9" name="Google Shape;86;p13"/>
          <p:cNvPicPr preferRelativeResize="0"/>
          <p:nvPr/>
        </p:nvPicPr>
        <p:blipFill rotWithShape="1">
          <a:blip r:embed="rId2"/>
          <a:srcRect/>
          <a:stretch>
            <a:fillRect/>
          </a:stretch>
        </p:blipFill>
        <p:spPr>
          <a:xfrm>
            <a:off x="10537372" y="409460"/>
            <a:ext cx="1042205" cy="418576"/>
          </a:xfrm>
          <a:prstGeom prst="rect">
            <a:avLst/>
          </a:prstGeom>
          <a:noFill/>
          <a:ln>
            <a:noFill/>
          </a:ln>
        </p:spPr>
      </p:pic>
      <p:sp>
        <p:nvSpPr>
          <p:cNvPr id="7" name="TextBox 6"/>
          <p:cNvSpPr txBox="1"/>
          <p:nvPr/>
        </p:nvSpPr>
        <p:spPr>
          <a:xfrm>
            <a:off x="2239154" y="2560061"/>
            <a:ext cx="9452793" cy="3447419"/>
          </a:xfrm>
          <a:prstGeom prst="rect">
            <a:avLst/>
          </a:prstGeom>
          <a:noFill/>
        </p:spPr>
        <p:txBody>
          <a:bodyPr wrap="square">
            <a:spAutoFit/>
          </a:bodyPr>
          <a:lstStyle/>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Farmers can share their Agricultural inputs need through their Cooperative</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The Cooperatives can Aggregate their members requests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The cooperatives can review and share the requests to Input providers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Farmers can Apply for Input for which they have option to</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3430905" indent="-285750">
              <a:lnSpc>
                <a:spcPct val="200000"/>
              </a:lnSpc>
              <a:buFont typeface="Arial" panose="020B0604020202020204" pitchFamily="34" charset="0"/>
              <a:buChar char="•"/>
            </a:pPr>
            <a:r>
              <a:rPr lang="en-US" sz="1050" dirty="0">
                <a:latin typeface="Nirmala UI Semilight" panose="020B0402040204020203" pitchFamily="34" charset="0"/>
                <a:ea typeface="Nirmala UI Semilight" panose="020B0402040204020203" pitchFamily="34" charset="0"/>
                <a:cs typeface="Nirmala UI Semilight" panose="020B0402040204020203" pitchFamily="34" charset="0"/>
              </a:rPr>
              <a:t>Pay in cash</a:t>
            </a:r>
            <a:endParaRPr lang="en-US" sz="105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3430905" indent="-285750">
              <a:lnSpc>
                <a:spcPct val="200000"/>
              </a:lnSpc>
              <a:buFont typeface="Arial" panose="020B0604020202020204" pitchFamily="34" charset="0"/>
              <a:buChar char="•"/>
            </a:pPr>
            <a:r>
              <a:rPr lang="en-US" sz="1050" dirty="0">
                <a:latin typeface="Nirmala UI Semilight" panose="020B0402040204020203" pitchFamily="34" charset="0"/>
                <a:ea typeface="Nirmala UI Semilight" panose="020B0402040204020203" pitchFamily="34" charset="0"/>
                <a:cs typeface="Nirmala UI Semilight" panose="020B0402040204020203" pitchFamily="34" charset="0"/>
              </a:rPr>
              <a:t>In advance , or </a:t>
            </a:r>
            <a:endParaRPr lang="en-US" sz="105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3430905" indent="-285750">
              <a:lnSpc>
                <a:spcPct val="200000"/>
              </a:lnSpc>
              <a:buFont typeface="Arial" panose="020B0604020202020204" pitchFamily="34" charset="0"/>
              <a:buChar char="•"/>
            </a:pPr>
            <a:r>
              <a:rPr lang="en-US" sz="1050" dirty="0">
                <a:latin typeface="Nirmala UI Semilight" panose="020B0402040204020203" pitchFamily="34" charset="0"/>
                <a:ea typeface="Nirmala UI Semilight" panose="020B0402040204020203" pitchFamily="34" charset="0"/>
                <a:cs typeface="Nirmala UI Semilight" panose="020B0402040204020203" pitchFamily="34" charset="0"/>
              </a:rPr>
              <a:t>Request a loan for the inputs they want</a:t>
            </a:r>
            <a:endParaRPr lang="en-US" sz="105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Incase of loan the cooperative can forward that request to the Bank</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169" y="2792325"/>
            <a:ext cx="1464314" cy="3254034"/>
          </a:xfrm>
          <a:prstGeom prst="rect">
            <a:avLst/>
          </a:prstGeom>
        </p:spPr>
      </p:pic>
      <p:pic>
        <p:nvPicPr>
          <p:cNvPr id="5"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575" y="2691194"/>
            <a:ext cx="2182548" cy="3801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3796589" y="133407"/>
            <a:ext cx="6203288" cy="571247"/>
          </a:xfrm>
          <a:prstGeom prst="rect">
            <a:avLst/>
          </a:prstGeom>
          <a:noFill/>
        </p:spPr>
        <p:txBody>
          <a:bodyPr wrap="square">
            <a:spAutoFit/>
          </a:bodyPr>
          <a:lstStyle/>
          <a:p>
            <a:pPr marL="838200">
              <a:lnSpc>
                <a:spcPct val="150000"/>
              </a:lnSpc>
            </a:pPr>
            <a:r>
              <a:rPr lang="en-GB" altLang="en-US" sz="2400" b="1" dirty="0">
                <a:solidFill>
                  <a:schemeClr val="accent2"/>
                </a:solidFill>
                <a:latin typeface="Bahnschrift" panose="020B0502040204020203" pitchFamily="34" charset="0"/>
                <a:cs typeface="Arial" panose="020B0604020202020204" pitchFamily="34" charset="0"/>
              </a:rPr>
              <a:t>Farm Pass Services</a:t>
            </a:r>
            <a:endParaRPr lang="en-GB" altLang="en-US" sz="2400" b="1" dirty="0">
              <a:solidFill>
                <a:schemeClr val="accent2"/>
              </a:solidFill>
              <a:latin typeface="Bahnschrift" panose="020B0502040204020203"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4400" y="2952287"/>
            <a:ext cx="1587027" cy="3526727"/>
          </a:xfrm>
          <a:prstGeom prst="rect">
            <a:avLst/>
          </a:prstGeom>
        </p:spPr>
      </p:pic>
      <p:pic>
        <p:nvPicPr>
          <p:cNvPr id="4" name="object 13" descr="object 13"/>
          <p:cNvPicPr>
            <a:picLocks noChangeAspect="1" noChangeArrowheads="1"/>
          </p:cNvPicPr>
          <p:nvPr/>
        </p:nvPicPr>
        <p:blipFill>
          <a:blip r:embed="rId2">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1" name="Rectangle 10"/>
          <p:cNvSpPr/>
          <p:nvPr/>
        </p:nvSpPr>
        <p:spPr>
          <a:xfrm>
            <a:off x="-212141" y="850520"/>
            <a:ext cx="11682375" cy="773853"/>
          </a:xfrm>
          <a:prstGeom prst="rect">
            <a:avLst/>
          </a:prstGeom>
        </p:spPr>
        <p:txBody>
          <a:bodyPr wrap="square">
            <a:noAutofit/>
          </a:bodyPr>
          <a:lstStyle/>
          <a:p>
            <a:pPr marL="838200">
              <a:lnSpc>
                <a:spcPct val="150000"/>
              </a:lnSpc>
            </a:pPr>
            <a:r>
              <a:rPr lang="en-GB" altLang="en-US" sz="2000" dirty="0">
                <a:solidFill>
                  <a:srgbClr val="00B0F0"/>
                </a:solidFill>
                <a:latin typeface="Bahnschrift" panose="020B0502040204020203" pitchFamily="34" charset="0"/>
                <a:cs typeface="Arial" panose="020B0604020202020204" pitchFamily="34" charset="0"/>
              </a:rPr>
              <a:t>Digital Payment</a:t>
            </a:r>
            <a:endParaRPr lang="en-GB" altLang="en-US" sz="2000" dirty="0">
              <a:solidFill>
                <a:srgbClr val="00B0F0"/>
              </a:solidFill>
              <a:latin typeface="Bahnschrift" panose="020B0502040204020203" pitchFamily="34" charset="0"/>
              <a:cs typeface="Arial" panose="020B0604020202020204" pitchFamily="34" charset="0"/>
            </a:endParaRPr>
          </a:p>
          <a:p>
            <a:pPr marL="838200">
              <a:lnSpc>
                <a:spcPct val="150000"/>
              </a:lnSpc>
            </a:pPr>
            <a:r>
              <a:rPr lang="en-US" dirty="0">
                <a:latin typeface="Nirmala UI Semilight" panose="020B0402040204020203" pitchFamily="34" charset="0"/>
                <a:ea typeface="Nirmala UI Semilight" panose="020B0402040204020203" pitchFamily="34" charset="0"/>
                <a:cs typeface="Nirmala UI Semilight" panose="020B0402040204020203" pitchFamily="34" charset="0"/>
              </a:rPr>
              <a:t>This Platform Supports a fast and secure payment for cooperatives for the payment they make to farmers and their Unions</a:t>
            </a:r>
            <a:endParaRPr lang="en-US"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1680845">
              <a:lnSpc>
                <a:spcPct val="150000"/>
              </a:lnSpc>
            </a:pPr>
            <a:endParaRPr lang="en-US" sz="1600" dirty="0">
              <a:latin typeface="Bahnschrift" panose="020B0502040204020203" pitchFamily="34" charset="0"/>
              <a:cs typeface="Arial" panose="020B0604020202020204" pitchFamily="34" charset="0"/>
            </a:endParaRPr>
          </a:p>
        </p:txBody>
      </p:sp>
      <p:pic>
        <p:nvPicPr>
          <p:cNvPr id="9" name="Google Shape;86;p13"/>
          <p:cNvPicPr preferRelativeResize="0"/>
          <p:nvPr/>
        </p:nvPicPr>
        <p:blipFill rotWithShape="1">
          <a:blip r:embed="rId3"/>
          <a:srcRect/>
          <a:stretch>
            <a:fillRect/>
          </a:stretch>
        </p:blipFill>
        <p:spPr>
          <a:xfrm>
            <a:off x="10537372" y="409460"/>
            <a:ext cx="1042205" cy="418576"/>
          </a:xfrm>
          <a:prstGeom prst="rect">
            <a:avLst/>
          </a:prstGeom>
          <a:noFill/>
          <a:ln>
            <a:noFill/>
          </a:ln>
        </p:spPr>
      </p:pic>
      <p:sp>
        <p:nvSpPr>
          <p:cNvPr id="7" name="TextBox 6"/>
          <p:cNvSpPr txBox="1"/>
          <p:nvPr/>
        </p:nvSpPr>
        <p:spPr>
          <a:xfrm>
            <a:off x="1199693" y="2817109"/>
            <a:ext cx="10782605" cy="3462807"/>
          </a:xfrm>
          <a:prstGeom prst="rect">
            <a:avLst/>
          </a:prstGeom>
          <a:noFill/>
        </p:spPr>
        <p:txBody>
          <a:bodyPr wrap="square">
            <a:spAutoFit/>
          </a:bodyPr>
          <a:lstStyle/>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Cooperative representatives can directly pay for farmers through Farm Pass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The cooperative can set &amp; Manage buying prices for Agents and Collection Sites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Enables to track cash / digital payment from cooperatives to individual farmers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Provide detailed reports for cooperatives on all the purchases they made</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Enables Cooperative to remotely see how much cash and digital float is available at their sites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r>
              <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rPr>
              <a:t>Supports Bulk Payments for Farmers</a:t>
            </a: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200000"/>
              </a:lnSpc>
              <a:buFont typeface="Arial" panose="020B0604020202020204" pitchFamily="34" charset="0"/>
              <a:buChar char="•"/>
            </a:pPr>
            <a:endParaRPr lang="en-US" sz="16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5"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780" y="2823367"/>
            <a:ext cx="2272354" cy="4089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3796589" y="133407"/>
            <a:ext cx="6203288" cy="571247"/>
          </a:xfrm>
          <a:prstGeom prst="rect">
            <a:avLst/>
          </a:prstGeom>
          <a:noFill/>
        </p:spPr>
        <p:txBody>
          <a:bodyPr wrap="square">
            <a:spAutoFit/>
          </a:bodyPr>
          <a:lstStyle/>
          <a:p>
            <a:pPr marL="838200">
              <a:lnSpc>
                <a:spcPct val="150000"/>
              </a:lnSpc>
            </a:pPr>
            <a:r>
              <a:rPr lang="en-GB" altLang="en-US" sz="2400" b="1" dirty="0">
                <a:solidFill>
                  <a:schemeClr val="accent2"/>
                </a:solidFill>
                <a:latin typeface="Bahnschrift" panose="020B0502040204020203" pitchFamily="34" charset="0"/>
                <a:cs typeface="Arial" panose="020B0604020202020204" pitchFamily="34" charset="0"/>
              </a:rPr>
              <a:t>Farm Pass Services</a:t>
            </a:r>
            <a:endParaRPr lang="en-GB" altLang="en-US" sz="2400" b="1" dirty="0">
              <a:solidFill>
                <a:schemeClr val="accent2"/>
              </a:solidFill>
              <a:latin typeface="Bahnschrift" panose="020B0502040204020203"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0924" y="2874873"/>
            <a:ext cx="1604297" cy="3565103"/>
          </a:xfrm>
          <a:prstGeom prst="rect">
            <a:avLst/>
          </a:prstGeom>
        </p:spPr>
      </p:pic>
      <p:pic>
        <p:nvPicPr>
          <p:cNvPr id="4" name="object 13" descr="object 13"/>
          <p:cNvPicPr>
            <a:picLocks noChangeAspect="1" noChangeArrowheads="1"/>
          </p:cNvPicPr>
          <p:nvPr/>
        </p:nvPicPr>
        <p:blipFill>
          <a:blip r:embed="rId2">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1" name="Rectangle 10"/>
          <p:cNvSpPr/>
          <p:nvPr/>
        </p:nvSpPr>
        <p:spPr>
          <a:xfrm>
            <a:off x="-212141" y="850520"/>
            <a:ext cx="11682375" cy="773853"/>
          </a:xfrm>
          <a:prstGeom prst="rect">
            <a:avLst/>
          </a:prstGeom>
        </p:spPr>
        <p:txBody>
          <a:bodyPr wrap="square">
            <a:noAutofit/>
          </a:bodyPr>
          <a:lstStyle/>
          <a:p>
            <a:pPr marL="838200">
              <a:lnSpc>
                <a:spcPct val="150000"/>
              </a:lnSpc>
            </a:pPr>
            <a:r>
              <a:rPr lang="en-GB" altLang="en-US" sz="2000" dirty="0">
                <a:solidFill>
                  <a:srgbClr val="00B0F0"/>
                </a:solidFill>
                <a:latin typeface="Bahnschrift" panose="020B0502040204020203" pitchFamily="34" charset="0"/>
                <a:cs typeface="Arial" panose="020B0604020202020204" pitchFamily="34" charset="0"/>
              </a:rPr>
              <a:t>Credit Enablement </a:t>
            </a:r>
            <a:endParaRPr lang="en-GB" altLang="en-US" sz="2000" dirty="0">
              <a:solidFill>
                <a:srgbClr val="00B0F0"/>
              </a:solidFill>
              <a:latin typeface="Bahnschrift" panose="020B0502040204020203" pitchFamily="34" charset="0"/>
              <a:cs typeface="Arial" panose="020B0604020202020204" pitchFamily="34" charset="0"/>
            </a:endParaRPr>
          </a:p>
          <a:p>
            <a:pPr marL="838200">
              <a:lnSpc>
                <a:spcPct val="150000"/>
              </a:lnSpc>
            </a:pPr>
            <a:r>
              <a:rPr lang="en-US" sz="1865" dirty="0">
                <a:latin typeface="Nirmala UI Semilight" panose="020B0402040204020203" pitchFamily="34" charset="0"/>
                <a:ea typeface="Nirmala UI Semilight" panose="020B0402040204020203" pitchFamily="34" charset="0"/>
                <a:cs typeface="Nirmala UI Semilight" panose="020B0402040204020203" pitchFamily="34" charset="0"/>
              </a:rPr>
              <a:t>Coopbank of Oromia will provide credit to Farmers under cooperatives using this platform based on their transaction on </a:t>
            </a:r>
            <a:r>
              <a:rPr lang="en-US" sz="1865"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rPr>
              <a:t>Farm Pass.</a:t>
            </a:r>
            <a:endParaRPr lang="en-US" sz="1865"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990600">
              <a:lnSpc>
                <a:spcPct val="150000"/>
              </a:lnSpc>
            </a:pPr>
            <a:endParaRPr lang="en-US" dirty="0">
              <a:solidFill>
                <a:srgbClr val="00B0F0"/>
              </a:solidFill>
              <a:latin typeface="Bahnschrift" panose="020B0502040204020203" pitchFamily="34" charset="0"/>
              <a:cs typeface="Arial" panose="020B0604020202020204" pitchFamily="34" charset="0"/>
            </a:endParaRPr>
          </a:p>
          <a:p>
            <a:pPr marL="990600">
              <a:lnSpc>
                <a:spcPct val="150000"/>
              </a:lnSpc>
            </a:pPr>
            <a:endParaRPr lang="en-US" dirty="0">
              <a:solidFill>
                <a:srgbClr val="00B0F0"/>
              </a:solidFill>
              <a:latin typeface="Bahnschrift" panose="020B0502040204020203" pitchFamily="34" charset="0"/>
              <a:cs typeface="Arial" panose="020B0604020202020204" pitchFamily="34" charset="0"/>
            </a:endParaRPr>
          </a:p>
          <a:p>
            <a:pPr marL="1680845">
              <a:lnSpc>
                <a:spcPct val="150000"/>
              </a:lnSpc>
            </a:pPr>
            <a:endParaRPr lang="en-US" sz="1600" dirty="0">
              <a:latin typeface="Bahnschrift" panose="020B0502040204020203" pitchFamily="34" charset="0"/>
              <a:cs typeface="Arial" panose="020B0604020202020204" pitchFamily="34" charset="0"/>
            </a:endParaRPr>
          </a:p>
        </p:txBody>
      </p:sp>
      <p:pic>
        <p:nvPicPr>
          <p:cNvPr id="9" name="Google Shape;86;p13"/>
          <p:cNvPicPr preferRelativeResize="0"/>
          <p:nvPr/>
        </p:nvPicPr>
        <p:blipFill rotWithShape="1">
          <a:blip r:embed="rId3"/>
          <a:srcRect/>
          <a:stretch>
            <a:fillRect/>
          </a:stretch>
        </p:blipFill>
        <p:spPr>
          <a:xfrm>
            <a:off x="10537372" y="409460"/>
            <a:ext cx="1042205" cy="418576"/>
          </a:xfrm>
          <a:prstGeom prst="rect">
            <a:avLst/>
          </a:prstGeom>
          <a:noFill/>
          <a:ln>
            <a:noFill/>
          </a:ln>
        </p:spPr>
      </p:pic>
      <p:sp>
        <p:nvSpPr>
          <p:cNvPr id="7" name="TextBox 6"/>
          <p:cNvSpPr txBox="1"/>
          <p:nvPr/>
        </p:nvSpPr>
        <p:spPr>
          <a:xfrm>
            <a:off x="951876" y="2931904"/>
            <a:ext cx="11084615" cy="3364704"/>
          </a:xfrm>
          <a:prstGeom prst="rect">
            <a:avLst/>
          </a:prstGeom>
          <a:noFill/>
        </p:spPr>
        <p:txBody>
          <a:bodyPr wrap="square">
            <a:spAutoFit/>
          </a:bodyPr>
          <a:lstStyle/>
          <a:p>
            <a:pPr marL="2345055" indent="-285750">
              <a:lnSpc>
                <a:spcPct val="150000"/>
              </a:lnSpc>
              <a:buFont typeface="Arial" panose="020B0604020202020204" pitchFamily="34" charset="0"/>
              <a:buChar char="•"/>
            </a:pPr>
            <a:r>
              <a:rPr lang="en-US" sz="1800" dirty="0">
                <a:latin typeface="Nirmala UI Semilight" panose="020B0402040204020203" pitchFamily="34" charset="0"/>
                <a:ea typeface="Nirmala UI Semilight" panose="020B0402040204020203" pitchFamily="34" charset="0"/>
                <a:cs typeface="Nirmala UI Semilight" panose="020B0402040204020203" pitchFamily="34" charset="0"/>
              </a:rPr>
              <a:t>Access to Loans for Farmers</a:t>
            </a:r>
            <a:endParaRPr lang="en-US" sz="18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r>
              <a:rPr lang="en-US" dirty="0">
                <a:latin typeface="Nirmala UI Semilight" panose="020B0402040204020203" pitchFamily="34" charset="0"/>
                <a:ea typeface="Nirmala UI Semilight" panose="020B0402040204020203" pitchFamily="34" charset="0"/>
                <a:cs typeface="Nirmala UI Semilight" panose="020B0402040204020203" pitchFamily="34" charset="0"/>
              </a:rPr>
              <a:t>Farm Pass enables to view Individual farmers and cooperatives overall performance.</a:t>
            </a:r>
            <a:endParaRPr lang="en-US" sz="18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r>
              <a:rPr lang="en-US" dirty="0">
                <a:latin typeface="Nirmala UI Semilight" panose="020B0402040204020203" pitchFamily="34" charset="0"/>
                <a:ea typeface="Nirmala UI Semilight" panose="020B0402040204020203" pitchFamily="34" charset="0"/>
                <a:cs typeface="Nirmala UI Semilight" panose="020B0402040204020203" pitchFamily="34" charset="0"/>
              </a:rPr>
              <a:t>The above enables Loans based on credit score, not collateral.</a:t>
            </a:r>
            <a:endParaRPr lang="en-US"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r>
              <a:rPr lang="en-US" sz="1800" dirty="0">
                <a:latin typeface="Nirmala UI Semilight" panose="020B0402040204020203" pitchFamily="34" charset="0"/>
                <a:ea typeface="Nirmala UI Semilight" panose="020B0402040204020203" pitchFamily="34" charset="0"/>
                <a:cs typeface="Nirmala UI Semilight" panose="020B0402040204020203" pitchFamily="34" charset="0"/>
              </a:rPr>
              <a:t>Farmers can apply for Loans through their primary cooperative user.</a:t>
            </a:r>
            <a:endParaRPr lang="en-US" sz="18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r>
              <a:rPr lang="en-US" dirty="0">
                <a:latin typeface="Nirmala UI Semilight" panose="020B0402040204020203" pitchFamily="34" charset="0"/>
                <a:ea typeface="Nirmala UI Semilight" panose="020B0402040204020203" pitchFamily="34" charset="0"/>
                <a:cs typeface="Nirmala UI Semilight" panose="020B0402040204020203" pitchFamily="34" charset="0"/>
              </a:rPr>
              <a:t>Farm Pass can support 3 Types of Loan application</a:t>
            </a:r>
            <a:endParaRPr lang="en-US" sz="1800" dirty="0">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3430905" indent="-285750">
              <a:lnSpc>
                <a:spcPct val="150000"/>
              </a:lnSpc>
              <a:buFont typeface="Arial" panose="020B0604020202020204" pitchFamily="34" charset="0"/>
              <a:buChar char="•"/>
            </a:pPr>
            <a:r>
              <a:rPr lang="en-US" sz="12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rPr>
              <a:t>Farmer Direct Application </a:t>
            </a:r>
            <a:endParaRPr lang="en-US" sz="12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3430905" indent="-285750">
              <a:lnSpc>
                <a:spcPct val="150000"/>
              </a:lnSpc>
              <a:buFont typeface="Arial" panose="020B0604020202020204" pitchFamily="34" charset="0"/>
              <a:buChar char="•"/>
            </a:pPr>
            <a:r>
              <a:rPr lang="en-US" sz="12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rPr>
              <a:t>Primary Cooperative Loan Application</a:t>
            </a:r>
            <a:endParaRPr lang="en-US" sz="12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3430905" indent="-285750">
              <a:lnSpc>
                <a:spcPct val="150000"/>
              </a:lnSpc>
              <a:buFont typeface="Arial" panose="020B0604020202020204" pitchFamily="34" charset="0"/>
              <a:buChar char="•"/>
            </a:pPr>
            <a:r>
              <a:rPr lang="en-US" sz="12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rPr>
              <a:t>Aggregated Primary Cooperative Application</a:t>
            </a:r>
            <a:endParaRPr lang="en-US" sz="120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endParaRPr>
          </a:p>
          <a:p>
            <a:pPr marL="2345055" indent="-285750">
              <a:lnSpc>
                <a:spcPct val="150000"/>
              </a:lnSpc>
              <a:buFont typeface="Arial" panose="020B0604020202020204" pitchFamily="34" charset="0"/>
              <a:buChar char="•"/>
            </a:pPr>
            <a:endParaRPr lang="en-US" sz="1800" dirty="0">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2" name="Picture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684" y="2745663"/>
            <a:ext cx="2360910" cy="411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3796589" y="133407"/>
            <a:ext cx="6203288" cy="571247"/>
          </a:xfrm>
          <a:prstGeom prst="rect">
            <a:avLst/>
          </a:prstGeom>
          <a:noFill/>
        </p:spPr>
        <p:txBody>
          <a:bodyPr wrap="square">
            <a:spAutoFit/>
          </a:bodyPr>
          <a:lstStyle/>
          <a:p>
            <a:pPr marL="838200">
              <a:lnSpc>
                <a:spcPct val="150000"/>
              </a:lnSpc>
            </a:pPr>
            <a:r>
              <a:rPr lang="en-GB" altLang="en-US" sz="2400" b="1" dirty="0">
                <a:solidFill>
                  <a:schemeClr val="accent2"/>
                </a:solidFill>
                <a:latin typeface="Bahnschrift" panose="020B0502040204020203" pitchFamily="34" charset="0"/>
                <a:cs typeface="Arial" panose="020B0604020202020204" pitchFamily="34" charset="0"/>
              </a:rPr>
              <a:t>Farm Pass Services</a:t>
            </a:r>
            <a:endParaRPr lang="en-GB" altLang="en-US" sz="2400" b="1" dirty="0">
              <a:solidFill>
                <a:schemeClr val="accent2"/>
              </a:solidFill>
              <a:latin typeface="Bahnschrift" panose="020B0502040204020203"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13" descr="object 13"/>
          <p:cNvPicPr>
            <a:picLocks noChangeAspect="1" noChangeArrowheads="1"/>
          </p:cNvPicPr>
          <p:nvPr/>
        </p:nvPicPr>
        <p:blipFill>
          <a:blip r:embed="rId1">
            <a:extLst>
              <a:ext uri="{28A0092B-C50C-407E-A947-70E740481C1C}">
                <a14:useLocalDpi xmlns:a14="http://schemas.microsoft.com/office/drawing/2010/main" val="0"/>
              </a:ext>
            </a:extLst>
          </a:blip>
          <a:srcRect b="6226"/>
          <a:stretch>
            <a:fillRect/>
          </a:stretch>
        </p:blipFill>
        <p:spPr bwMode="auto">
          <a:xfrm>
            <a:off x="565944" y="619125"/>
            <a:ext cx="10278269"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401" y="2066603"/>
            <a:ext cx="3360037" cy="2520028"/>
          </a:xfrm>
          <a:prstGeom prst="rect">
            <a:avLst/>
          </a:prstGeom>
        </p:spPr>
      </p:pic>
      <p:sp>
        <p:nvSpPr>
          <p:cNvPr id="3" name="TextBox 2"/>
          <p:cNvSpPr txBox="1"/>
          <p:nvPr/>
        </p:nvSpPr>
        <p:spPr>
          <a:xfrm>
            <a:off x="3657599" y="2205319"/>
            <a:ext cx="8417899" cy="4334200"/>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Generate Revenue by providing services to their members.</a:t>
            </a:r>
            <a:endPar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Cooperative using farm Pass, the bank opens access to finance for their farmers.</a:t>
            </a:r>
            <a:endPar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Digitization of their payments and operations.</a:t>
            </a:r>
            <a:endPar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Access to Devices to utilize the platform.</a:t>
            </a:r>
            <a:endPar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Using </a:t>
            </a:r>
            <a:r>
              <a:rPr lang="en-US" kern="0" dirty="0">
                <a:solidFill>
                  <a:srgbClr val="00B0F0"/>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Farm Pass </a:t>
            </a:r>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Cooperatives can now propose value to their members, If a member sells to them he/she has access to credit and inputs service.</a:t>
            </a:r>
            <a:endPar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200000"/>
              </a:lnSpc>
              <a:buFont typeface="Arial" panose="020B0604020202020204" pitchFamily="34" charset="0"/>
              <a:buChar char="•"/>
            </a:pPr>
            <a:r>
              <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rPr>
              <a:t>Traceability and EUDR Compliance issues will be handled.  </a:t>
            </a:r>
            <a:endPar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a:p>
            <a:pPr marL="285750" indent="-285750">
              <a:lnSpc>
                <a:spcPct val="150000"/>
              </a:lnSpc>
              <a:buFont typeface="Arial" panose="020B0604020202020204" pitchFamily="34" charset="0"/>
              <a:buChar char="•"/>
            </a:pPr>
            <a:endParaRPr lang="en-US" kern="0" dirty="0">
              <a:solidFill>
                <a:srgbClr val="3F3F3F"/>
              </a:solidFill>
              <a:latin typeface="Nirmala UI Semilight" panose="020B0402040204020203" pitchFamily="34" charset="0"/>
              <a:ea typeface="Nirmala UI Semilight" panose="020B0402040204020203" pitchFamily="34" charset="0"/>
              <a:cs typeface="Nirmala UI Semilight" panose="020B0402040204020203" pitchFamily="34" charset="0"/>
              <a:sym typeface="Arial" panose="020B0604020202020204"/>
            </a:endParaRPr>
          </a:p>
        </p:txBody>
      </p:sp>
      <p:sp>
        <p:nvSpPr>
          <p:cNvPr id="4" name="TextBox 3"/>
          <p:cNvSpPr txBox="1"/>
          <p:nvPr/>
        </p:nvSpPr>
        <p:spPr>
          <a:xfrm>
            <a:off x="585833" y="4880096"/>
            <a:ext cx="4175196" cy="707886"/>
          </a:xfrm>
          <a:prstGeom prst="rect">
            <a:avLst/>
          </a:prstGeom>
          <a:noFill/>
        </p:spPr>
        <p:txBody>
          <a:bodyPr wrap="square">
            <a:spAutoFit/>
          </a:bodyPr>
          <a:lstStyle/>
          <a:p>
            <a:r>
              <a:rPr lang="en-ZA" sz="4000" b="1" dirty="0" err="1">
                <a:solidFill>
                  <a:srgbClr val="00B0F0"/>
                </a:solidFill>
                <a:latin typeface="Bahnschrift" panose="020B0502040204020203" pitchFamily="34" charset="0"/>
              </a:rPr>
              <a:t>Farm</a:t>
            </a:r>
            <a:r>
              <a:rPr lang="en-ZA" sz="4000" dirty="0" err="1">
                <a:solidFill>
                  <a:srgbClr val="00B0F0"/>
                </a:solidFill>
                <a:latin typeface="Calibri" panose="020F0502020204030204" pitchFamily="34" charset="0"/>
                <a:ea typeface="Calibri" panose="020F0502020204030204" pitchFamily="34" charset="0"/>
                <a:cs typeface="Calibri" panose="020F0502020204030204" pitchFamily="34" charset="0"/>
              </a:rPr>
              <a:t>Pass</a:t>
            </a:r>
            <a:r>
              <a:rPr lang="en-ZA" sz="4000" dirty="0">
                <a:solidFill>
                  <a:srgbClr val="00B0F0"/>
                </a:solidFill>
                <a:latin typeface="Calibri" panose="020F0502020204030204" pitchFamily="34" charset="0"/>
                <a:ea typeface="Calibri" panose="020F0502020204030204" pitchFamily="34" charset="0"/>
                <a:cs typeface="Calibri" panose="020F0502020204030204" pitchFamily="34" charset="0"/>
              </a:rPr>
              <a:t> </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p:cNvSpPr txBox="1"/>
          <p:nvPr/>
        </p:nvSpPr>
        <p:spPr>
          <a:xfrm>
            <a:off x="318640" y="443428"/>
            <a:ext cx="6677919" cy="954107"/>
          </a:xfrm>
          <a:prstGeom prst="rect">
            <a:avLst/>
          </a:prstGeom>
          <a:noFill/>
        </p:spPr>
        <p:txBody>
          <a:bodyPr wrap="square">
            <a:spAutoFit/>
          </a:bodyPr>
          <a:lstStyle/>
          <a:p>
            <a:r>
              <a:rPr lang="en-ZA" sz="2800" dirty="0">
                <a:solidFill>
                  <a:srgbClr val="00B0F0"/>
                </a:solidFill>
                <a:latin typeface="Bahnschrift" panose="020B0502040204020203" pitchFamily="34" charset="0"/>
              </a:rPr>
              <a:t>Value Proposition </a:t>
            </a:r>
            <a:r>
              <a:rPr lang="en-ZA" sz="2800" b="1" dirty="0">
                <a:solidFill>
                  <a:srgbClr val="00B0F0"/>
                </a:solidFill>
                <a:latin typeface="Bahnschrift" panose="020B0502040204020203" pitchFamily="34" charset="0"/>
              </a:rPr>
              <a:t>Farm </a:t>
            </a:r>
            <a:r>
              <a:rPr lang="en-ZA" sz="2800" dirty="0">
                <a:solidFill>
                  <a:srgbClr val="00B0F0"/>
                </a:solidFill>
                <a:latin typeface="Calibri" panose="020F0502020204030204" pitchFamily="34" charset="0"/>
                <a:ea typeface="Calibri" panose="020F0502020204030204" pitchFamily="34" charset="0"/>
                <a:cs typeface="Calibri" panose="020F0502020204030204" pitchFamily="34" charset="0"/>
              </a:rPr>
              <a:t>Pass to Cooperatives and other Actors</a:t>
            </a:r>
            <a:r>
              <a:rPr lang="en-ZA" sz="2800" dirty="0">
                <a:solidFill>
                  <a:schemeClr val="accent2"/>
                </a:solidFill>
                <a:latin typeface="Calibri" panose="020F0502020204030204" pitchFamily="34" charset="0"/>
                <a:ea typeface="Calibri" panose="020F0502020204030204" pitchFamily="34" charset="0"/>
                <a:cs typeface="Calibri" panose="020F0502020204030204" pitchFamily="34" charset="0"/>
              </a:rPr>
              <a:t> </a:t>
            </a:r>
            <a:endParaRPr lang="en-US" dirty="0">
              <a:solidFill>
                <a:schemeClr val="accent2"/>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2" name="Picture 1"/>
          <p:cNvPicPr>
            <a:picLocks noChangeAspect="1"/>
          </p:cNvPicPr>
          <p:nvPr/>
        </p:nvPicPr>
        <p:blipFill rotWithShape="1">
          <a:blip r:embed="rId1">
            <a:extLst>
              <a:ext uri="{28A0092B-C50C-407E-A947-70E740481C1C}">
                <a14:useLocalDpi xmlns:a14="http://schemas.microsoft.com/office/drawing/2010/main" val="0"/>
              </a:ext>
            </a:extLst>
          </a:blip>
          <a:srcRect t="8150" r="26860" b="33691"/>
          <a:stretch>
            <a:fillRect/>
          </a:stretch>
        </p:blipFill>
        <p:spPr>
          <a:xfrm>
            <a:off x="-9091" y="489833"/>
            <a:ext cx="12192000" cy="6379781"/>
          </a:xfrm>
          <a:prstGeom prst="rect">
            <a:avLst/>
          </a:prstGeom>
        </p:spPr>
      </p:pic>
      <p:grpSp>
        <p:nvGrpSpPr>
          <p:cNvPr id="30" name="Group 17"/>
          <p:cNvGrpSpPr/>
          <p:nvPr/>
        </p:nvGrpSpPr>
        <p:grpSpPr bwMode="auto">
          <a:xfrm>
            <a:off x="1684964" y="987942"/>
            <a:ext cx="6003262" cy="1137286"/>
            <a:chOff x="13744469" y="7377039"/>
            <a:chExt cx="11448025" cy="1993176"/>
          </a:xfrm>
        </p:grpSpPr>
        <p:grpSp>
          <p:nvGrpSpPr>
            <p:cNvPr id="31" name="Group 16"/>
            <p:cNvGrpSpPr/>
            <p:nvPr/>
          </p:nvGrpSpPr>
          <p:grpSpPr bwMode="auto">
            <a:xfrm>
              <a:off x="20449366" y="7377039"/>
              <a:ext cx="4743128" cy="1794171"/>
              <a:chOff x="11564988" y="3776181"/>
              <a:chExt cx="4743128" cy="1794171"/>
            </a:xfrm>
          </p:grpSpPr>
          <p:sp>
            <p:nvSpPr>
              <p:cNvPr id="44" name="Rectangle 43"/>
              <p:cNvSpPr/>
              <p:nvPr/>
            </p:nvSpPr>
            <p:spPr>
              <a:xfrm>
                <a:off x="11790275" y="3776181"/>
                <a:ext cx="3619281" cy="1778388"/>
              </a:xfrm>
              <a:prstGeom prst="rect">
                <a:avLst/>
              </a:prstGeom>
            </p:spPr>
            <p:txBody>
              <a:bodyPr wrap="square">
                <a:spAutoFit/>
              </a:bodyPr>
              <a:lstStyle/>
              <a:p>
                <a:pPr algn="ctr">
                  <a:defRPr/>
                </a:pPr>
                <a:r>
                  <a:rPr lang="en-US" sz="4400" b="1" dirty="0">
                    <a:ln w="0"/>
                    <a:solidFill>
                      <a:srgbClr val="00B0F0"/>
                    </a:solidFill>
                    <a:effectLst>
                      <a:outerShdw blurRad="38100" dist="19050" dir="2700000" algn="tl" rotWithShape="0">
                        <a:schemeClr val="dk1">
                          <a:alpha val="40000"/>
                        </a:schemeClr>
                      </a:outerShdw>
                    </a:effectLst>
                    <a:latin typeface="Arial Narrow" panose="020B0606020202030204" pitchFamily="34" charset="0"/>
                    <a:cs typeface="Arial Narrow" panose="020B0606020202030204" pitchFamily="34" charset="0"/>
                  </a:rPr>
                  <a:t>1,100 +</a:t>
                </a:r>
                <a:endParaRPr lang="en-US" sz="4400" dirty="0">
                  <a:ln w="0"/>
                  <a:solidFill>
                    <a:srgbClr val="00B0F0"/>
                  </a:solidFill>
                  <a:effectLst>
                    <a:outerShdw blurRad="38100" dist="19050" dir="2700000" algn="tl" rotWithShape="0">
                      <a:schemeClr val="dk1">
                        <a:alpha val="40000"/>
                      </a:schemeClr>
                    </a:outerShdw>
                  </a:effectLst>
                  <a:latin typeface="Bahnschrift Light" panose="020B0502040204020203" pitchFamily="34" charset="0"/>
                </a:endParaRPr>
              </a:p>
              <a:p>
                <a:pPr>
                  <a:defRPr/>
                </a:pPr>
                <a:endParaRPr lang="en-US" sz="1600" b="1" dirty="0">
                  <a:ln w="9525">
                    <a:solidFill>
                      <a:prstClr val="white"/>
                    </a:solidFill>
                    <a:prstDash val="solid"/>
                  </a:ln>
                  <a:solidFill>
                    <a:srgbClr val="00B0F0"/>
                  </a:solidFill>
                  <a:effectLst>
                    <a:outerShdw blurRad="12700" dist="38100" dir="2700000" algn="tl" rotWithShape="0">
                      <a:prstClr val="white">
                        <a:lumMod val="50000"/>
                      </a:prstClr>
                    </a:outerShdw>
                  </a:effectLst>
                  <a:latin typeface="Bahnschrift Light" panose="020B0502040204020203" pitchFamily="34" charset="0"/>
                </a:endParaRPr>
              </a:p>
            </p:txBody>
          </p:sp>
          <p:sp>
            <p:nvSpPr>
              <p:cNvPr id="45" name="Rectangle 10"/>
              <p:cNvSpPr>
                <a:spLocks noChangeArrowheads="1"/>
              </p:cNvSpPr>
              <p:nvPr/>
            </p:nvSpPr>
            <p:spPr bwMode="auto">
              <a:xfrm>
                <a:off x="11564988" y="4924880"/>
                <a:ext cx="4743128" cy="645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rgbClr val="5E5E5E"/>
                    </a:solidFill>
                    <a:latin typeface="Helvetica Neue"/>
                    <a:ea typeface="Helvetica Neue"/>
                    <a:cs typeface="Helvetica Neue"/>
                    <a:sym typeface="Helvetica Neue"/>
                  </a:defRPr>
                </a:lvl1pPr>
                <a:lvl2pPr marL="742950" indent="-285750">
                  <a:defRPr sz="2400">
                    <a:solidFill>
                      <a:srgbClr val="5E5E5E"/>
                    </a:solidFill>
                    <a:latin typeface="Helvetica Neue"/>
                    <a:ea typeface="Helvetica Neue"/>
                    <a:cs typeface="Helvetica Neue"/>
                    <a:sym typeface="Helvetica Neue"/>
                  </a:defRPr>
                </a:lvl2pPr>
                <a:lvl3pPr marL="1143000" indent="-228600">
                  <a:defRPr sz="2400">
                    <a:solidFill>
                      <a:srgbClr val="5E5E5E"/>
                    </a:solidFill>
                    <a:latin typeface="Helvetica Neue"/>
                    <a:ea typeface="Helvetica Neue"/>
                    <a:cs typeface="Helvetica Neue"/>
                    <a:sym typeface="Helvetica Neue"/>
                  </a:defRPr>
                </a:lvl3pPr>
                <a:lvl4pPr marL="1600200" indent="-228600">
                  <a:defRPr sz="2400">
                    <a:solidFill>
                      <a:srgbClr val="5E5E5E"/>
                    </a:solidFill>
                    <a:latin typeface="Helvetica Neue"/>
                    <a:ea typeface="Helvetica Neue"/>
                    <a:cs typeface="Helvetica Neue"/>
                    <a:sym typeface="Helvetica Neue"/>
                  </a:defRPr>
                </a:lvl4pPr>
                <a:lvl5pPr marL="2057400" indent="-228600">
                  <a:defRPr sz="2400">
                    <a:solidFill>
                      <a:srgbClr val="5E5E5E"/>
                    </a:solidFill>
                    <a:latin typeface="Helvetica Neue"/>
                    <a:ea typeface="Helvetica Neue"/>
                    <a:cs typeface="Helvetica Neue"/>
                    <a:sym typeface="Helvetica Neue"/>
                  </a:defRPr>
                </a:lvl5pPr>
                <a:lvl6pPr marL="25146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6pPr>
                <a:lvl7pPr marL="29718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7pPr>
                <a:lvl8pPr marL="34290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8pPr>
                <a:lvl9pPr marL="38862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9pPr>
              </a:lstStyle>
              <a:p>
                <a:r>
                  <a:rPr lang="en-US" altLang="en-US" sz="1800" b="1" dirty="0">
                    <a:solidFill>
                      <a:schemeClr val="tx1"/>
                    </a:solidFill>
                    <a:latin typeface="Arial Narrow" panose="020B0606020202030204" pitchFamily="34" charset="0"/>
                    <a:cs typeface="Arial Narrow" panose="020B0606020202030204" pitchFamily="34" charset="0"/>
                  </a:rPr>
                  <a:t>Primary Cooperatives</a:t>
                </a:r>
                <a:endParaRPr lang="en-US" altLang="en-US" sz="1800" b="1" dirty="0">
                  <a:solidFill>
                    <a:schemeClr val="tx1"/>
                  </a:solidFill>
                  <a:latin typeface="Arial Narrow" panose="020B0606020202030204" pitchFamily="34" charset="0"/>
                  <a:cs typeface="Arial Narrow" panose="020B0606020202030204" pitchFamily="34" charset="0"/>
                </a:endParaRPr>
              </a:p>
            </p:txBody>
          </p:sp>
        </p:grpSp>
        <p:grpSp>
          <p:nvGrpSpPr>
            <p:cNvPr id="32" name="Group 15"/>
            <p:cNvGrpSpPr/>
            <p:nvPr/>
          </p:nvGrpSpPr>
          <p:grpSpPr bwMode="auto">
            <a:xfrm>
              <a:off x="13744469" y="7377040"/>
              <a:ext cx="4985262" cy="1993175"/>
              <a:chOff x="3127893" y="4914697"/>
              <a:chExt cx="4906845" cy="2093839"/>
            </a:xfrm>
          </p:grpSpPr>
          <p:sp>
            <p:nvSpPr>
              <p:cNvPr id="33" name="Rectangle 32"/>
              <p:cNvSpPr/>
              <p:nvPr/>
            </p:nvSpPr>
            <p:spPr>
              <a:xfrm>
                <a:off x="3127893" y="4914697"/>
                <a:ext cx="4906845" cy="2093839"/>
              </a:xfrm>
              <a:prstGeom prst="rect">
                <a:avLst/>
              </a:prstGeom>
              <a:noFill/>
            </p:spPr>
            <p:txBody>
              <a:bodyPr wrap="square" lIns="121920" tIns="60960" rIns="121920" bIns="60960">
                <a:spAutoFit/>
              </a:bodyPr>
              <a:lstStyle/>
              <a:p>
                <a:pPr algn="ctr">
                  <a:defRPr/>
                </a:pPr>
                <a:r>
                  <a:rPr lang="en-US" sz="4400" b="1" dirty="0">
                    <a:ln w="0"/>
                    <a:solidFill>
                      <a:srgbClr val="00B0F0"/>
                    </a:solidFill>
                    <a:effectLst>
                      <a:outerShdw blurRad="38100" dist="19050" dir="2700000" algn="tl" rotWithShape="0">
                        <a:schemeClr val="dk1">
                          <a:alpha val="40000"/>
                        </a:schemeClr>
                      </a:outerShdw>
                    </a:effectLst>
                    <a:latin typeface="Arial Narrow" panose="020B0606020202030204" pitchFamily="34" charset="0"/>
                    <a:cs typeface="Arial Narrow" panose="020B0606020202030204" pitchFamily="34" charset="0"/>
                  </a:rPr>
                  <a:t>567,454</a:t>
                </a:r>
                <a:r>
                  <a:rPr lang="en-US" sz="4400" b="1" dirty="0">
                    <a:ln w="9525">
                      <a:solidFill>
                        <a:prstClr val="white"/>
                      </a:solidFill>
                      <a:prstDash val="solid"/>
                    </a:ln>
                    <a:solidFill>
                      <a:srgbClr val="00B0F0"/>
                    </a:solidFill>
                    <a:effectLst>
                      <a:outerShdw blurRad="12700" dist="38100" dir="2700000" algn="tl" rotWithShape="0">
                        <a:prstClr val="white">
                          <a:lumMod val="50000"/>
                        </a:prstClr>
                      </a:outerShdw>
                    </a:effectLst>
                    <a:latin typeface="Arial Narrow" panose="020B0606020202030204" pitchFamily="34" charset="0"/>
                    <a:cs typeface="Arial Narrow" panose="020B0606020202030204" pitchFamily="34" charset="0"/>
                  </a:rPr>
                  <a:t>+</a:t>
                </a:r>
                <a:endParaRPr lang="en-US" sz="4400" b="1" dirty="0">
                  <a:ln w="9525">
                    <a:solidFill>
                      <a:prstClr val="white"/>
                    </a:solidFill>
                    <a:prstDash val="solid"/>
                  </a:ln>
                  <a:solidFill>
                    <a:srgbClr val="00B0F0"/>
                  </a:solidFill>
                  <a:effectLst>
                    <a:outerShdw blurRad="12700" dist="38100" dir="2700000" algn="tl" rotWithShape="0">
                      <a:prstClr val="white">
                        <a:lumMod val="50000"/>
                      </a:prstClr>
                    </a:outerShdw>
                  </a:effectLst>
                  <a:latin typeface="Arial Narrow" panose="020B0606020202030204" pitchFamily="34" charset="0"/>
                  <a:cs typeface="Arial Narrow" panose="020B0606020202030204" pitchFamily="34" charset="0"/>
                </a:endParaRPr>
              </a:p>
              <a:p>
                <a:pPr algn="ctr">
                  <a:defRPr/>
                </a:pPr>
                <a:endParaRPr lang="en-US" sz="2200" b="1" dirty="0">
                  <a:solidFill>
                    <a:prstClr val="black"/>
                  </a:solidFill>
                  <a:latin typeface="Arial Narrow" panose="020B0606020202030204" pitchFamily="34" charset="0"/>
                  <a:cs typeface="Arial Narrow" panose="020B0606020202030204" pitchFamily="34" charset="0"/>
                </a:endParaRPr>
              </a:p>
            </p:txBody>
          </p:sp>
          <p:sp>
            <p:nvSpPr>
              <p:cNvPr id="43" name="Rectangle 4"/>
              <p:cNvSpPr>
                <a:spLocks noChangeArrowheads="1"/>
              </p:cNvSpPr>
              <p:nvPr/>
            </p:nvSpPr>
            <p:spPr bwMode="auto">
              <a:xfrm>
                <a:off x="3684678" y="6115820"/>
                <a:ext cx="3703161" cy="67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5E5E5E"/>
                    </a:solidFill>
                    <a:latin typeface="Helvetica Neue"/>
                    <a:ea typeface="Helvetica Neue"/>
                    <a:cs typeface="Helvetica Neue"/>
                    <a:sym typeface="Helvetica Neue"/>
                  </a:defRPr>
                </a:lvl1pPr>
                <a:lvl2pPr marL="742950" indent="-285750">
                  <a:defRPr sz="2400">
                    <a:solidFill>
                      <a:srgbClr val="5E5E5E"/>
                    </a:solidFill>
                    <a:latin typeface="Helvetica Neue"/>
                    <a:ea typeface="Helvetica Neue"/>
                    <a:cs typeface="Helvetica Neue"/>
                    <a:sym typeface="Helvetica Neue"/>
                  </a:defRPr>
                </a:lvl2pPr>
                <a:lvl3pPr marL="1143000" indent="-228600">
                  <a:defRPr sz="2400">
                    <a:solidFill>
                      <a:srgbClr val="5E5E5E"/>
                    </a:solidFill>
                    <a:latin typeface="Helvetica Neue"/>
                    <a:ea typeface="Helvetica Neue"/>
                    <a:cs typeface="Helvetica Neue"/>
                    <a:sym typeface="Helvetica Neue"/>
                  </a:defRPr>
                </a:lvl3pPr>
                <a:lvl4pPr marL="1600200" indent="-228600">
                  <a:defRPr sz="2400">
                    <a:solidFill>
                      <a:srgbClr val="5E5E5E"/>
                    </a:solidFill>
                    <a:latin typeface="Helvetica Neue"/>
                    <a:ea typeface="Helvetica Neue"/>
                    <a:cs typeface="Helvetica Neue"/>
                    <a:sym typeface="Helvetica Neue"/>
                  </a:defRPr>
                </a:lvl4pPr>
                <a:lvl5pPr marL="2057400" indent="-228600">
                  <a:defRPr sz="2400">
                    <a:solidFill>
                      <a:srgbClr val="5E5E5E"/>
                    </a:solidFill>
                    <a:latin typeface="Helvetica Neue"/>
                    <a:ea typeface="Helvetica Neue"/>
                    <a:cs typeface="Helvetica Neue"/>
                    <a:sym typeface="Helvetica Neue"/>
                  </a:defRPr>
                </a:lvl5pPr>
                <a:lvl6pPr marL="25146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6pPr>
                <a:lvl7pPr marL="29718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7pPr>
                <a:lvl8pPr marL="34290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8pPr>
                <a:lvl9pPr marL="38862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9pPr>
              </a:lstStyle>
              <a:p>
                <a:pPr algn="ctr"/>
                <a:r>
                  <a:rPr lang="en-US" altLang="en-US" sz="1800" b="1" dirty="0">
                    <a:solidFill>
                      <a:schemeClr val="tx1"/>
                    </a:solidFill>
                    <a:latin typeface="Arial Narrow" panose="020B0606020202030204" pitchFamily="34" charset="0"/>
                    <a:cs typeface="Arial Narrow" panose="020B0606020202030204" pitchFamily="34" charset="0"/>
                  </a:rPr>
                  <a:t>Farmers Onboarded</a:t>
                </a:r>
                <a:endParaRPr lang="en-US" altLang="en-US" sz="1800" b="1" dirty="0">
                  <a:solidFill>
                    <a:schemeClr val="tx1"/>
                  </a:solidFill>
                  <a:latin typeface="Arial Narrow" panose="020B0606020202030204" pitchFamily="34" charset="0"/>
                  <a:cs typeface="Arial Narrow" panose="020B0606020202030204" pitchFamily="34" charset="0"/>
                </a:endParaRPr>
              </a:p>
            </p:txBody>
          </p:sp>
        </p:grpSp>
      </p:grpSp>
      <p:sp>
        <p:nvSpPr>
          <p:cNvPr id="49" name="TextBox 48"/>
          <p:cNvSpPr txBox="1"/>
          <p:nvPr/>
        </p:nvSpPr>
        <p:spPr>
          <a:xfrm>
            <a:off x="2274764" y="185832"/>
            <a:ext cx="7313551" cy="5835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defRPr/>
            </a:pPr>
            <a:r>
              <a:rPr lang="en-ZA" sz="3200" b="1" dirty="0">
                <a:latin typeface="Arial Narrow" panose="020B0606020202030204" pitchFamily="34" charset="0"/>
                <a:cs typeface="Arial Narrow" panose="020B0606020202030204" pitchFamily="34" charset="0"/>
              </a:rPr>
              <a:t>Current Status</a:t>
            </a:r>
            <a:endParaRPr lang="en-US" sz="3200" b="1" dirty="0">
              <a:latin typeface="Arial Narrow" panose="020B0606020202030204" pitchFamily="34" charset="0"/>
              <a:cs typeface="Arial Narrow" panose="020B0606020202030204" pitchFamily="34" charset="0"/>
            </a:endParaRPr>
          </a:p>
        </p:txBody>
      </p:sp>
      <p:grpSp>
        <p:nvGrpSpPr>
          <p:cNvPr id="7" name="Group 6"/>
          <p:cNvGrpSpPr/>
          <p:nvPr/>
        </p:nvGrpSpPr>
        <p:grpSpPr>
          <a:xfrm>
            <a:off x="422576" y="2358929"/>
            <a:ext cx="9268934" cy="4853305"/>
            <a:chOff x="2053629" y="2101570"/>
            <a:chExt cx="9268934" cy="4853305"/>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3629" y="4204968"/>
              <a:ext cx="1435018" cy="1439324"/>
            </a:xfrm>
            <a:prstGeom prst="rect">
              <a:avLst/>
            </a:prstGeom>
          </p:spPr>
        </p:pic>
        <p:sp>
          <p:nvSpPr>
            <p:cNvPr id="47" name="Google Shape;395;p14"/>
            <p:cNvSpPr/>
            <p:nvPr/>
          </p:nvSpPr>
          <p:spPr>
            <a:xfrm>
              <a:off x="4009013" y="2101570"/>
              <a:ext cx="7313550" cy="4853305"/>
            </a:xfrm>
            <a:prstGeom prst="rect">
              <a:avLst/>
            </a:prstGeom>
            <a:noFill/>
            <a:ln>
              <a:noFill/>
            </a:ln>
          </p:spPr>
          <p:txBody>
            <a:bodyPr spcFirstLastPara="1" wrap="square" lIns="68569" tIns="34275" rIns="68569" bIns="34275" anchor="t" anchorCtr="0">
              <a:spAutoFit/>
            </a:bodyPr>
            <a:lstStyle/>
            <a:p>
              <a:endParaRPr lang="en-US" sz="1400" b="1" dirty="0">
                <a:solidFill>
                  <a:schemeClr val="accent5">
                    <a:lumMod val="7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1400" b="1" dirty="0">
                <a:solidFill>
                  <a:schemeClr val="accent5">
                    <a:lumMod val="75000"/>
                  </a:schemeClr>
                </a:solidFill>
                <a:latin typeface="Aptos Narrow" panose="020B0004020202020204" pitchFamily="34" charset="0"/>
                <a:ea typeface="Arial" panose="020B0604020202020204"/>
                <a:cs typeface="Arial" panose="020B0604020202020204"/>
                <a:sym typeface="Arial" panose="020B0604020202020204"/>
              </a:endParaRPr>
            </a:p>
            <a:p>
              <a:r>
                <a:rPr lang="en-US" sz="2400" b="1" dirty="0">
                  <a:solidFill>
                    <a:schemeClr val="accent2"/>
                  </a:solidFill>
                  <a:latin typeface="Arial Narrow" panose="020B0606020202030204" pitchFamily="34" charset="0"/>
                  <a:ea typeface="Arial" panose="020B0604020202020204"/>
                  <a:cs typeface="Arial Narrow" panose="020B0606020202030204" pitchFamily="34" charset="0"/>
                  <a:sym typeface="Arial" panose="020B0604020202020204"/>
                </a:rPr>
                <a:t>1.1 + </a:t>
              </a:r>
              <a:r>
                <a:rPr lang="en-US" sz="1400" b="1" dirty="0">
                  <a:solidFill>
                    <a:schemeClr val="tx1">
                      <a:lumMod val="95000"/>
                      <a:lumOff val="5000"/>
                    </a:schemeClr>
                  </a:solidFill>
                  <a:latin typeface="Arial Narrow" panose="020B0606020202030204" pitchFamily="34" charset="0"/>
                  <a:ea typeface="Arial" panose="020B0604020202020204"/>
                  <a:cs typeface="Arial Narrow" panose="020B0606020202030204" pitchFamily="34" charset="0"/>
                  <a:sym typeface="Arial" panose="020B0604020202020204"/>
                </a:rPr>
                <a:t>Billion ETB</a:t>
              </a:r>
              <a:endParaRPr lang="en-US" sz="1200" dirty="0">
                <a:solidFill>
                  <a:schemeClr val="tx1">
                    <a:lumMod val="95000"/>
                    <a:lumOff val="5000"/>
                  </a:schemeClr>
                </a:solidFill>
                <a:latin typeface="Arial Narrow" panose="020B0606020202030204" pitchFamily="34" charset="0"/>
                <a:ea typeface="Arial" panose="020B0604020202020204"/>
                <a:cs typeface="Arial Narrow" panose="020B0606020202030204" pitchFamily="34" charset="0"/>
                <a:sym typeface="Arial" panose="020B0604020202020204"/>
              </a:endParaRPr>
            </a:p>
            <a:p>
              <a:r>
                <a:rPr lang="en-US" sz="1800" b="1" dirty="0">
                  <a:solidFill>
                    <a:srgbClr val="00B0F0"/>
                  </a:solidFill>
                  <a:latin typeface="Arial Narrow" panose="020B0606020202030204" pitchFamily="34" charset="0"/>
                  <a:ea typeface="Arial" panose="020B0604020202020204"/>
                  <a:cs typeface="Arial Narrow" panose="020B0606020202030204" pitchFamily="34" charset="0"/>
                  <a:sym typeface="Arial" panose="020B0604020202020204"/>
                </a:rPr>
                <a:t>12 + Million Kg </a:t>
              </a:r>
              <a:r>
                <a:rPr lang="en-US" sz="1200" dirty="0">
                  <a:latin typeface="Arial Narrow" panose="020B0606020202030204" pitchFamily="34" charset="0"/>
                  <a:ea typeface="Arial" panose="020B0604020202020204"/>
                  <a:cs typeface="Arial Narrow" panose="020B0606020202030204" pitchFamily="34" charset="0"/>
                  <a:sym typeface="Arial" panose="020B0604020202020204"/>
                </a:rPr>
                <a:t>of</a:t>
              </a:r>
              <a:r>
                <a:rPr lang="en-US" sz="1200" b="1" dirty="0">
                  <a:latin typeface="Arial Narrow" panose="020B0606020202030204" pitchFamily="34" charset="0"/>
                  <a:ea typeface="Arial" panose="020B0604020202020204"/>
                  <a:cs typeface="Arial Narrow" panose="020B0606020202030204" pitchFamily="34" charset="0"/>
                  <a:sym typeface="Arial" panose="020B0604020202020204"/>
                </a:rPr>
                <a:t> Coffee </a:t>
              </a:r>
              <a:r>
                <a:rPr lang="en-US" sz="1200" dirty="0">
                  <a:latin typeface="Arial Narrow" panose="020B0606020202030204" pitchFamily="34" charset="0"/>
                  <a:ea typeface="Arial" panose="020B0604020202020204"/>
                  <a:cs typeface="Arial Narrow" panose="020B0606020202030204" pitchFamily="34" charset="0"/>
                  <a:sym typeface="Arial" panose="020B0604020202020204"/>
                </a:rPr>
                <a:t>transaction digitized</a:t>
              </a:r>
              <a:endParaRPr lang="en-US" sz="1200" dirty="0">
                <a:latin typeface="Arial Narrow" panose="020B0606020202030204" pitchFamily="34" charset="0"/>
                <a:ea typeface="Arial" panose="020B0604020202020204"/>
                <a:cs typeface="Arial Narrow" panose="020B0606020202030204" pitchFamily="34" charset="0"/>
                <a:sym typeface="Arial" panose="020B0604020202020204"/>
              </a:endParaRPr>
            </a:p>
            <a:p>
              <a:r>
                <a:rPr lang="en-US" sz="12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rPr>
                <a:t>     </a:t>
              </a:r>
              <a:r>
                <a:rPr lang="en-US" sz="1200" b="1"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rPr>
                <a:t> Gujii- 150 Million</a:t>
              </a:r>
              <a:br>
                <a:rPr lang="en-US" sz="1200" b="1"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rPr>
              </a:br>
              <a:r>
                <a:rPr lang="en-US" sz="1200" b="1"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rPr>
                <a:t>      Jimma - 900 + Million</a:t>
              </a:r>
              <a:endParaRPr lang="en-US" sz="1200" b="1"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12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12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12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2000" b="1" i="0" u="none" strike="noStrike" dirty="0">
                <a:solidFill>
                  <a:srgbClr val="FFC000"/>
                </a:solidFill>
                <a:effectLst/>
                <a:latin typeface="Aptos Narrow" panose="020B0004020202020204" pitchFamily="34" charset="0"/>
              </a:endParaRPr>
            </a:p>
            <a:p>
              <a:r>
                <a:rPr lang="en-US" sz="2400" b="1" dirty="0">
                  <a:solidFill>
                    <a:srgbClr val="FFC000"/>
                  </a:solidFill>
                  <a:latin typeface="Arial Narrow" panose="020B0606020202030204" pitchFamily="34" charset="0"/>
                  <a:cs typeface="Arial Narrow" panose="020B0606020202030204" pitchFamily="34" charset="0"/>
                </a:rPr>
                <a:t>100,368,320</a:t>
              </a:r>
              <a:r>
                <a:rPr lang="en-US" b="1" dirty="0">
                  <a:solidFill>
                    <a:srgbClr val="00B0F0"/>
                  </a:solidFill>
                  <a:latin typeface="Arial Narrow" panose="020B0606020202030204" pitchFamily="34" charset="0"/>
                  <a:cs typeface="Arial Narrow" panose="020B0606020202030204" pitchFamily="34" charset="0"/>
                </a:rPr>
                <a:t> </a:t>
              </a:r>
              <a:r>
                <a:rPr lang="en-US" sz="1200" b="1" dirty="0">
                  <a:solidFill>
                    <a:schemeClr val="tx1">
                      <a:lumMod val="95000"/>
                      <a:lumOff val="5000"/>
                    </a:schemeClr>
                  </a:solidFill>
                  <a:latin typeface="Arial Narrow" panose="020B0606020202030204" pitchFamily="34" charset="0"/>
                  <a:ea typeface="Arial" panose="020B0604020202020204"/>
                  <a:cs typeface="Arial Narrow" panose="020B0606020202030204" pitchFamily="34" charset="0"/>
                  <a:sym typeface="Arial" panose="020B0604020202020204"/>
                </a:rPr>
                <a:t>Million</a:t>
              </a:r>
              <a:r>
                <a:rPr lang="en-US" sz="1400" b="1" dirty="0">
                  <a:solidFill>
                    <a:schemeClr val="tx1">
                      <a:lumMod val="95000"/>
                      <a:lumOff val="5000"/>
                    </a:schemeClr>
                  </a:solidFill>
                  <a:latin typeface="Arial Narrow" panose="020B0606020202030204" pitchFamily="34" charset="0"/>
                  <a:ea typeface="Arial" panose="020B0604020202020204"/>
                  <a:cs typeface="Arial Narrow" panose="020B0606020202030204" pitchFamily="34" charset="0"/>
                  <a:sym typeface="Arial" panose="020B0604020202020204"/>
                </a:rPr>
                <a:t> </a:t>
              </a:r>
              <a:r>
                <a:rPr lang="en-US" sz="1200" b="1" dirty="0">
                  <a:solidFill>
                    <a:schemeClr val="tx1">
                      <a:lumMod val="95000"/>
                      <a:lumOff val="5000"/>
                    </a:schemeClr>
                  </a:solidFill>
                  <a:latin typeface="Arial Narrow" panose="020B0606020202030204" pitchFamily="34" charset="0"/>
                  <a:ea typeface="Arial" panose="020B0604020202020204"/>
                  <a:cs typeface="Arial Narrow" panose="020B0606020202030204" pitchFamily="34" charset="0"/>
                  <a:sym typeface="Arial" panose="020B0604020202020204"/>
                </a:rPr>
                <a:t>ETB</a:t>
              </a:r>
              <a:endParaRPr lang="en-US" sz="1200" b="1" dirty="0">
                <a:solidFill>
                  <a:schemeClr val="tx1">
                    <a:lumMod val="95000"/>
                    <a:lumOff val="5000"/>
                  </a:schemeClr>
                </a:solidFill>
                <a:latin typeface="Arial Narrow" panose="020B0606020202030204" pitchFamily="34" charset="0"/>
                <a:ea typeface="Arial" panose="020B0604020202020204"/>
                <a:cs typeface="Arial Narrow" panose="020B0606020202030204" pitchFamily="34" charset="0"/>
                <a:sym typeface="Arial" panose="020B0604020202020204"/>
              </a:endParaRPr>
            </a:p>
            <a:p>
              <a:pPr>
                <a:lnSpc>
                  <a:spcPct val="150000"/>
                </a:lnSpc>
              </a:pPr>
              <a:r>
                <a:rPr lang="en-US" b="1" dirty="0">
                  <a:solidFill>
                    <a:srgbClr val="00B0F0"/>
                  </a:solidFill>
                  <a:latin typeface="Arial Narrow" panose="020B0606020202030204" pitchFamily="34" charset="0"/>
                  <a:cs typeface="Arial Narrow" panose="020B0606020202030204" pitchFamily="34" charset="0"/>
                  <a:sym typeface="Arial" panose="020B0604020202020204"/>
                </a:rPr>
                <a:t>1 Million + Kg</a:t>
              </a:r>
              <a:r>
                <a:rPr lang="en-US" sz="1200" b="1" dirty="0">
                  <a:solidFill>
                    <a:srgbClr val="00B0F0"/>
                  </a:solidFill>
                  <a:latin typeface="Arial Narrow" panose="020B0606020202030204" pitchFamily="34" charset="0"/>
                  <a:cs typeface="Arial Narrow" panose="020B0606020202030204" pitchFamily="34" charset="0"/>
                  <a:sym typeface="Arial" panose="020B0604020202020204"/>
                </a:rPr>
                <a:t> </a:t>
              </a:r>
              <a:r>
                <a:rPr lang="en-US" sz="1200" dirty="0">
                  <a:latin typeface="Arial Narrow" panose="020B0606020202030204" pitchFamily="34" charset="0"/>
                  <a:cs typeface="Arial Narrow" panose="020B0606020202030204" pitchFamily="34" charset="0"/>
                  <a:sym typeface="Arial" panose="020B0604020202020204"/>
                </a:rPr>
                <a:t>of </a:t>
              </a:r>
              <a:r>
                <a:rPr lang="en-US" sz="1200" b="1" dirty="0">
                  <a:latin typeface="Arial Narrow" panose="020B0606020202030204" pitchFamily="34" charset="0"/>
                  <a:cs typeface="Arial Narrow" panose="020B0606020202030204" pitchFamily="34" charset="0"/>
                  <a:sym typeface="Arial" panose="020B0604020202020204"/>
                </a:rPr>
                <a:t>Barley, Wheat, Bean </a:t>
              </a:r>
              <a:r>
                <a:rPr lang="en-US" sz="1200" dirty="0">
                  <a:latin typeface="Arial Narrow" panose="020B0606020202030204" pitchFamily="34" charset="0"/>
                  <a:cs typeface="Arial Narrow" panose="020B0606020202030204" pitchFamily="34" charset="0"/>
                  <a:sym typeface="Arial" panose="020B0604020202020204"/>
                </a:rPr>
                <a:t> transaction digitized</a:t>
              </a:r>
              <a:endParaRPr lang="en-US" sz="1200" dirty="0">
                <a:latin typeface="Arial Narrow" panose="020B0606020202030204" pitchFamily="34" charset="0"/>
                <a:cs typeface="Arial Narrow" panose="020B0606020202030204" pitchFamily="34" charset="0"/>
                <a:sym typeface="Arial" panose="020B0604020202020204"/>
              </a:endParaRPr>
            </a:p>
            <a:p>
              <a:endParaRPr lang="en-US" sz="1200" dirty="0">
                <a:latin typeface="Arial Narrow" panose="020B0606020202030204" pitchFamily="34" charset="0"/>
                <a:cs typeface="Arial Narrow" panose="020B0606020202030204" pitchFamily="34" charset="0"/>
                <a:sym typeface="Arial" panose="020B0604020202020204"/>
              </a:endParaRPr>
            </a:p>
            <a:p>
              <a:endParaRPr lang="en-US" sz="1200" dirty="0">
                <a:latin typeface="Aptos Narrow" panose="020B0004020202020204" pitchFamily="34" charset="0"/>
                <a:cs typeface="Arial" panose="020B0604020202020204"/>
                <a:sym typeface="Arial" panose="020B0604020202020204"/>
              </a:endParaRPr>
            </a:p>
            <a:p>
              <a:endParaRPr lang="en-US" sz="12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12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r>
                <a:rPr lang="en-US" sz="14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rPr>
                <a:t> </a:t>
              </a:r>
              <a:endParaRPr lang="en-US" sz="14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16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lang="en-US" sz="16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a:p>
              <a:endParaRPr sz="1600" dirty="0">
                <a:solidFill>
                  <a:schemeClr val="tx1">
                    <a:lumMod val="95000"/>
                    <a:lumOff val="5000"/>
                  </a:schemeClr>
                </a:solidFill>
                <a:latin typeface="Aptos Narrow" panose="020B0004020202020204" pitchFamily="34" charset="0"/>
                <a:ea typeface="Arial" panose="020B0604020202020204"/>
                <a:cs typeface="Arial" panose="020B0604020202020204"/>
                <a:sym typeface="Arial" panose="020B0604020202020204"/>
              </a:endParaRPr>
            </a:p>
          </p:txBody>
        </p:sp>
        <p:pic>
          <p:nvPicPr>
            <p:cNvPr id="5" name="Google Shape;427;p16"/>
            <p:cNvPicPr preferRelativeResize="0"/>
            <p:nvPr/>
          </p:nvPicPr>
          <p:blipFill rotWithShape="1">
            <a:blip r:embed="rId3"/>
            <a:srcRect/>
            <a:stretch>
              <a:fillRect/>
            </a:stretch>
          </p:blipFill>
          <p:spPr>
            <a:xfrm>
              <a:off x="2157298" y="2209649"/>
              <a:ext cx="1528492" cy="1439324"/>
            </a:xfrm>
            <a:prstGeom prst="ellipse">
              <a:avLst/>
            </a:prstGeom>
            <a:noFill/>
            <a:ln>
              <a:noFill/>
            </a:ln>
          </p:spPr>
        </p:pic>
      </p:grpSp>
      <p:sp>
        <p:nvSpPr>
          <p:cNvPr id="8" name="TextBox 7"/>
          <p:cNvSpPr txBox="1"/>
          <p:nvPr/>
        </p:nvSpPr>
        <p:spPr>
          <a:xfrm>
            <a:off x="7134958" y="2367436"/>
            <a:ext cx="4803764" cy="3599815"/>
          </a:xfrm>
          <a:prstGeom prst="rect">
            <a:avLst/>
          </a:prstGeom>
          <a:noFill/>
        </p:spPr>
        <p:txBody>
          <a:bodyPr wrap="square">
            <a:spAutoFit/>
          </a:bodyPr>
          <a:lstStyle/>
          <a:p>
            <a:r>
              <a:rPr lang="en-US" sz="1800" b="1" dirty="0">
                <a:solidFill>
                  <a:srgbClr val="00B0F0"/>
                </a:solidFill>
                <a:latin typeface="Arial Narrow" panose="020B0606020202030204" pitchFamily="34" charset="0"/>
                <a:cs typeface="Arial Narrow" panose="020B0606020202030204" pitchFamily="34" charset="0"/>
                <a:sym typeface="Arial" panose="020B0604020202020204"/>
              </a:rPr>
              <a:t>Active Value Chains</a:t>
            </a:r>
            <a:endParaRPr lang="en-US" sz="1800" b="1" dirty="0">
              <a:solidFill>
                <a:srgbClr val="00B0F0"/>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Coffee</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Barley</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Wheat</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Horticulture</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Poultry</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Bean</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Honey</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798830" indent="231775">
              <a:buFont typeface="Arial" panose="020B0604020202020204" pitchFamily="34" charset="0"/>
              <a:buChar char="•"/>
            </a:pPr>
            <a:r>
              <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Dairy (Pilot with IFC)</a:t>
            </a:r>
            <a:endParaRPr lang="en-US"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285750" indent="-285750">
              <a:lnSpc>
                <a:spcPct val="150000"/>
              </a:lnSpc>
              <a:buFont typeface="Wingdings" panose="05000000000000000000" pitchFamily="2" charset="2"/>
              <a:buChar char="ü"/>
            </a:pPr>
            <a:r>
              <a:rPr lang="en-US" sz="1600"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Onboarded Farmers in 6 Regions in Ethiopia</a:t>
            </a:r>
            <a:endParaRPr lang="en-US" sz="1600"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pPr marL="285750" indent="-285750">
              <a:lnSpc>
                <a:spcPct val="150000"/>
              </a:lnSpc>
              <a:buFont typeface="Wingdings" panose="05000000000000000000" pitchFamily="2" charset="2"/>
              <a:buChar char="ü"/>
            </a:pPr>
            <a:r>
              <a:rPr lang="en-US" sz="1600" dirty="0">
                <a:solidFill>
                  <a:schemeClr val="tx1">
                    <a:lumMod val="50000"/>
                  </a:schemeClr>
                </a:solidFill>
                <a:latin typeface="Arial Narrow" panose="020B0606020202030204" pitchFamily="34" charset="0"/>
                <a:cs typeface="Arial Narrow" panose="020B0606020202030204" pitchFamily="34" charset="0"/>
                <a:sym typeface="Arial" panose="020B0604020202020204"/>
              </a:rPr>
              <a:t>Onboarded Big Off-takers and Processors</a:t>
            </a:r>
            <a:endParaRPr lang="en-US" sz="1600" dirty="0">
              <a:solidFill>
                <a:schemeClr val="tx1">
                  <a:lumMod val="50000"/>
                </a:schemeClr>
              </a:solidFill>
              <a:latin typeface="Arial Narrow" panose="020B0606020202030204" pitchFamily="34" charset="0"/>
              <a:cs typeface="Arial Narrow" panose="020B0606020202030204" pitchFamily="34" charset="0"/>
              <a:sym typeface="Arial" panose="020B0604020202020204"/>
            </a:endParaRPr>
          </a:p>
          <a:p>
            <a:endParaRPr lang="en-US" b="1" dirty="0">
              <a:latin typeface="Arial Narrow" panose="020B0606020202030204" pitchFamily="34" charset="0"/>
              <a:cs typeface="Arial Narrow" panose="020B0606020202030204" pitchFamily="34" charset="0"/>
              <a:sym typeface="Arial" panose="020B0604020202020204"/>
            </a:endParaRPr>
          </a:p>
        </p:txBody>
      </p:sp>
      <p:sp>
        <p:nvSpPr>
          <p:cNvPr id="13" name="Rectangle 12"/>
          <p:cNvSpPr/>
          <p:nvPr/>
        </p:nvSpPr>
        <p:spPr bwMode="auto">
          <a:xfrm>
            <a:off x="7855921" y="1025484"/>
            <a:ext cx="2614236" cy="1137285"/>
          </a:xfrm>
          <a:prstGeom prst="rect">
            <a:avLst/>
          </a:prstGeom>
          <a:noFill/>
        </p:spPr>
        <p:txBody>
          <a:bodyPr wrap="square" lIns="121920" tIns="60960" rIns="121920" bIns="60960">
            <a:spAutoFit/>
          </a:bodyPr>
          <a:lstStyle/>
          <a:p>
            <a:pPr algn="ctr">
              <a:defRPr/>
            </a:pPr>
            <a:r>
              <a:rPr lang="en-US" sz="4400" dirty="0">
                <a:ln w="0"/>
                <a:solidFill>
                  <a:srgbClr val="00B0F0"/>
                </a:solidFill>
                <a:effectLst>
                  <a:outerShdw blurRad="38100" dist="19050" dir="2700000" algn="tl" rotWithShape="0">
                    <a:schemeClr val="dk1">
                      <a:alpha val="40000"/>
                    </a:schemeClr>
                  </a:outerShdw>
                </a:effectLst>
                <a:latin typeface="Bahnschrift Light" panose="020B0502040204020203" pitchFamily="34" charset="0"/>
              </a:rPr>
              <a:t>  </a:t>
            </a:r>
            <a:r>
              <a:rPr lang="en-US" sz="4400" b="1" dirty="0">
                <a:ln w="0"/>
                <a:solidFill>
                  <a:srgbClr val="00B0F0"/>
                </a:solidFill>
                <a:effectLst>
                  <a:outerShdw blurRad="38100" dist="19050" dir="2700000" algn="tl" rotWithShape="0">
                    <a:schemeClr val="dk1">
                      <a:alpha val="40000"/>
                    </a:schemeClr>
                  </a:outerShdw>
                </a:effectLst>
                <a:latin typeface="Arial Narrow" panose="020B0606020202030204" pitchFamily="34" charset="0"/>
                <a:cs typeface="Arial Narrow" panose="020B0606020202030204" pitchFamily="34" charset="0"/>
              </a:rPr>
              <a:t>55+</a:t>
            </a:r>
            <a:r>
              <a:rPr lang="en-US" sz="4400" b="1" dirty="0">
                <a:ln w="9525">
                  <a:solidFill>
                    <a:prstClr val="white"/>
                  </a:solidFill>
                  <a:prstDash val="solid"/>
                </a:ln>
                <a:solidFill>
                  <a:srgbClr val="00B0F0"/>
                </a:solidFill>
                <a:effectLst>
                  <a:outerShdw blurRad="12700" dist="38100" dir="2700000" algn="tl" rotWithShape="0">
                    <a:prstClr val="white">
                      <a:lumMod val="50000"/>
                    </a:prstClr>
                  </a:outerShdw>
                </a:effectLst>
                <a:latin typeface="Arial Narrow" panose="020B0606020202030204" pitchFamily="34" charset="0"/>
                <a:cs typeface="Arial Narrow" panose="020B0606020202030204" pitchFamily="34" charset="0"/>
              </a:rPr>
              <a:t> </a:t>
            </a:r>
            <a:endParaRPr lang="en-US" sz="4400" b="1" dirty="0">
              <a:ln w="9525">
                <a:solidFill>
                  <a:prstClr val="white"/>
                </a:solidFill>
                <a:prstDash val="solid"/>
              </a:ln>
              <a:solidFill>
                <a:srgbClr val="00B0F0"/>
              </a:solidFill>
              <a:effectLst>
                <a:outerShdw blurRad="12700" dist="38100" dir="2700000" algn="tl" rotWithShape="0">
                  <a:prstClr val="white">
                    <a:lumMod val="50000"/>
                  </a:prstClr>
                </a:outerShdw>
              </a:effectLst>
              <a:latin typeface="Bahnschrift Light" panose="020B0502040204020203" pitchFamily="34" charset="0"/>
            </a:endParaRPr>
          </a:p>
          <a:p>
            <a:pPr algn="ctr">
              <a:defRPr/>
            </a:pPr>
            <a:endParaRPr lang="en-US" sz="2200" dirty="0">
              <a:solidFill>
                <a:prstClr val="black"/>
              </a:solidFill>
              <a:latin typeface="Bahnschrift SemiBold" panose="020B0502040204020203" pitchFamily="34" charset="0"/>
            </a:endParaRPr>
          </a:p>
        </p:txBody>
      </p:sp>
      <p:sp>
        <p:nvSpPr>
          <p:cNvPr id="14" name="Rectangle 10"/>
          <p:cNvSpPr>
            <a:spLocks noChangeArrowheads="1"/>
          </p:cNvSpPr>
          <p:nvPr/>
        </p:nvSpPr>
        <p:spPr bwMode="auto">
          <a:xfrm>
            <a:off x="8344684" y="1646765"/>
            <a:ext cx="2487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rgbClr val="5E5E5E"/>
                </a:solidFill>
                <a:latin typeface="Helvetica Neue"/>
                <a:ea typeface="Helvetica Neue"/>
                <a:cs typeface="Helvetica Neue"/>
                <a:sym typeface="Helvetica Neue"/>
              </a:defRPr>
            </a:lvl1pPr>
            <a:lvl2pPr marL="742950" indent="-285750">
              <a:defRPr sz="2400">
                <a:solidFill>
                  <a:srgbClr val="5E5E5E"/>
                </a:solidFill>
                <a:latin typeface="Helvetica Neue"/>
                <a:ea typeface="Helvetica Neue"/>
                <a:cs typeface="Helvetica Neue"/>
                <a:sym typeface="Helvetica Neue"/>
              </a:defRPr>
            </a:lvl2pPr>
            <a:lvl3pPr marL="1143000" indent="-228600">
              <a:defRPr sz="2400">
                <a:solidFill>
                  <a:srgbClr val="5E5E5E"/>
                </a:solidFill>
                <a:latin typeface="Helvetica Neue"/>
                <a:ea typeface="Helvetica Neue"/>
                <a:cs typeface="Helvetica Neue"/>
                <a:sym typeface="Helvetica Neue"/>
              </a:defRPr>
            </a:lvl3pPr>
            <a:lvl4pPr marL="1600200" indent="-228600">
              <a:defRPr sz="2400">
                <a:solidFill>
                  <a:srgbClr val="5E5E5E"/>
                </a:solidFill>
                <a:latin typeface="Helvetica Neue"/>
                <a:ea typeface="Helvetica Neue"/>
                <a:cs typeface="Helvetica Neue"/>
                <a:sym typeface="Helvetica Neue"/>
              </a:defRPr>
            </a:lvl4pPr>
            <a:lvl5pPr marL="2057400" indent="-228600">
              <a:defRPr sz="2400">
                <a:solidFill>
                  <a:srgbClr val="5E5E5E"/>
                </a:solidFill>
                <a:latin typeface="Helvetica Neue"/>
                <a:ea typeface="Helvetica Neue"/>
                <a:cs typeface="Helvetica Neue"/>
                <a:sym typeface="Helvetica Neue"/>
              </a:defRPr>
            </a:lvl5pPr>
            <a:lvl6pPr marL="25146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6pPr>
            <a:lvl7pPr marL="29718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7pPr>
            <a:lvl8pPr marL="34290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8pPr>
            <a:lvl9pPr marL="3886200" indent="-228600" defTabSz="2437130" eaLnBrk="0" fontAlgn="base" hangingPunct="0">
              <a:spcBef>
                <a:spcPct val="0"/>
              </a:spcBef>
              <a:spcAft>
                <a:spcPct val="0"/>
              </a:spcAft>
              <a:defRPr sz="2400">
                <a:solidFill>
                  <a:srgbClr val="5E5E5E"/>
                </a:solidFill>
                <a:latin typeface="Helvetica Neue"/>
                <a:ea typeface="Helvetica Neue"/>
                <a:cs typeface="Helvetica Neue"/>
                <a:sym typeface="Helvetica Neue"/>
              </a:defRPr>
            </a:lvl9pPr>
          </a:lstStyle>
          <a:p>
            <a:r>
              <a:rPr lang="en-US" altLang="en-US" sz="1800" b="1" dirty="0">
                <a:solidFill>
                  <a:schemeClr val="tx1"/>
                </a:solidFill>
                <a:latin typeface="Arial Narrow" panose="020B0606020202030204" pitchFamily="34" charset="0"/>
                <a:cs typeface="Arial Narrow" panose="020B0606020202030204" pitchFamily="34" charset="0"/>
              </a:rPr>
              <a:t>Cooperative Unions</a:t>
            </a:r>
            <a:endParaRPr lang="en-US" altLang="en-US" sz="1800" b="1" dirty="0">
              <a:solidFill>
                <a:schemeClr val="tx1"/>
              </a:solidFill>
              <a:latin typeface="Arial Narrow" panose="020B0606020202030204" pitchFamily="34" charset="0"/>
              <a:cs typeface="Arial Narrow" panose="020B0606020202030204" pitchFamily="34" charset="0"/>
            </a:endParaRPr>
          </a:p>
        </p:txBody>
      </p:sp>
      <p:pic>
        <p:nvPicPr>
          <p:cNvPr id="3" name="Picture 2" descr="A black background with a black square&#10;&#10;Description automatically generated with medium confidence"/>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42509" y="111316"/>
            <a:ext cx="1028048" cy="418073"/>
          </a:xfrm>
          <a:prstGeom prst="rect">
            <a:avLst/>
          </a:prstGeom>
        </p:spPr>
      </p:pic>
      <p:sp>
        <p:nvSpPr>
          <p:cNvPr id="4" name="Rectangle: Rounded Corners 3"/>
          <p:cNvSpPr/>
          <p:nvPr/>
        </p:nvSpPr>
        <p:spPr>
          <a:xfrm>
            <a:off x="9299933" y="6516246"/>
            <a:ext cx="2419794" cy="2640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GB" sz="1000" b="0" i="1"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Empowering Communities, Transforming Lives! </a:t>
            </a:r>
            <a:endParaRPr kumimoji="0" lang="en-GB" sz="1000" b="0" i="1" u="none" strike="noStrike" kern="1200" cap="none" spc="0" normalizeH="0" baseline="0" noProof="0" dirty="0">
              <a:ln>
                <a:noFill/>
              </a:ln>
              <a:solidFill>
                <a:prstClr val="black"/>
              </a:solidFill>
              <a:effectLst/>
              <a:uLnTx/>
              <a:uFillTx/>
              <a:latin typeface="Arial Narrow" panose="020B0606020202030204" pitchFamily="34" charset="0"/>
              <a:ea typeface="+mn-ea"/>
              <a:cs typeface="+mn-cs"/>
            </a:endParaRPr>
          </a:p>
        </p:txBody>
      </p:sp>
      <p:pic>
        <p:nvPicPr>
          <p:cNvPr id="9" name="Picture 8"/>
          <p:cNvPicPr/>
          <p:nvPr/>
        </p:nvPicPr>
        <p:blipFill>
          <a:blip r:embed="rId5"/>
          <a:stretch>
            <a:fillRect/>
          </a:stretch>
        </p:blipFill>
        <p:spPr>
          <a:xfrm>
            <a:off x="329565" y="186055"/>
            <a:ext cx="2406650" cy="839470"/>
          </a:xfrm>
          <a:prstGeom prst="rect">
            <a:avLst/>
          </a:prstGeom>
        </p:spPr>
      </p:pic>
      <p:pic>
        <p:nvPicPr>
          <p:cNvPr id="10" name="Google Shape;104;p14"/>
          <p:cNvPicPr preferRelativeResize="0"/>
          <p:nvPr/>
        </p:nvPicPr>
        <p:blipFill rotWithShape="1">
          <a:blip r:embed="rId6"/>
          <a:srcRect/>
          <a:stretch>
            <a:fillRect/>
          </a:stretch>
        </p:blipFill>
        <p:spPr>
          <a:xfrm>
            <a:off x="10390505" y="243840"/>
            <a:ext cx="1166495" cy="603885"/>
          </a:xfrm>
          <a:prstGeom prst="rect">
            <a:avLst/>
          </a:prstGeom>
          <a:noFill/>
          <a:ln>
            <a:noFill/>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Isosceles Triangle 83"/>
          <p:cNvSpPr/>
          <p:nvPr/>
        </p:nvSpPr>
        <p:spPr>
          <a:xfrm flipV="1">
            <a:off x="10285265" y="3854"/>
            <a:ext cx="298735" cy="172865"/>
          </a:xfrm>
          <a:prstGeom prst="triangl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panose="020B0604020202020204"/>
              <a:buNone/>
              <a:defRPr/>
            </a:pPr>
            <a:endParaRPr lang="en-US" sz="1400" kern="0">
              <a:solidFill>
                <a:prstClr val="white"/>
              </a:solidFill>
              <a:sym typeface="Arial" panose="020B0604020202020204"/>
            </a:endParaRPr>
          </a:p>
        </p:txBody>
      </p:sp>
      <p:pic>
        <p:nvPicPr>
          <p:cNvPr id="2" name="Picture 1"/>
          <p:cNvPicPr>
            <a:picLocks noChangeAspect="1"/>
          </p:cNvPicPr>
          <p:nvPr/>
        </p:nvPicPr>
        <p:blipFill>
          <a:blip r:embed="rId1"/>
          <a:stretch>
            <a:fillRect/>
          </a:stretch>
        </p:blipFill>
        <p:spPr>
          <a:xfrm>
            <a:off x="-84841" y="-988836"/>
            <a:ext cx="12276841" cy="8365319"/>
          </a:xfrm>
          <a:prstGeom prst="rect">
            <a:avLst/>
          </a:prstGeom>
        </p:spPr>
      </p:pic>
      <p:pic>
        <p:nvPicPr>
          <p:cNvPr id="3" name="Picture 2" descr="Thank You Icon Png #9419 - Free Icons Libr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17" y="4401502"/>
            <a:ext cx="3161923" cy="13319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6258</Words>
  <Application>WPS Presentation</Application>
  <PresentationFormat>Widescreen</PresentationFormat>
  <Paragraphs>210</Paragraphs>
  <Slides>14</Slides>
  <Notes>8</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14</vt:i4>
      </vt:variant>
    </vt:vector>
  </HeadingPairs>
  <TitlesOfParts>
    <vt:vector size="35" baseType="lpstr">
      <vt:lpstr>Arial</vt:lpstr>
      <vt:lpstr>SimSun</vt:lpstr>
      <vt:lpstr>Wingdings</vt:lpstr>
      <vt:lpstr>Arial</vt:lpstr>
      <vt:lpstr>Nirmala UI Semilight</vt:lpstr>
      <vt:lpstr>Calibri</vt:lpstr>
      <vt:lpstr>Bahnschrift</vt:lpstr>
      <vt:lpstr>Calibri</vt:lpstr>
      <vt:lpstr>Helvetica Neue</vt:lpstr>
      <vt:lpstr>Arial Narrow</vt:lpstr>
      <vt:lpstr>Bahnschrift Light</vt:lpstr>
      <vt:lpstr>Bahnschrift SemiBold</vt:lpstr>
      <vt:lpstr>Cambria</vt:lpstr>
      <vt:lpstr>Segoe UI</vt:lpstr>
      <vt:lpstr>Microsoft YaHei</vt:lpstr>
      <vt:lpstr>Arial Unicode MS</vt:lpstr>
      <vt:lpstr>Calibri Light</vt:lpstr>
      <vt:lpstr>Malgun Gothic</vt:lpstr>
      <vt:lpstr>Aptos Narrow</vt:lpstr>
      <vt:lpstr>Segoe UI Variable Display</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Esayas Yohannes</dc:creator>
  <cp:lastModifiedBy>Habtamu Kenate Aga</cp:lastModifiedBy>
  <cp:revision>36</cp:revision>
  <dcterms:created xsi:type="dcterms:W3CDTF">2024-06-07T10:59:00Z</dcterms:created>
  <dcterms:modified xsi:type="dcterms:W3CDTF">2026-09-04T12:52:14Z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84AB1883A11B42C1A0731F87444CF6EE_13</vt:lpwstr>
  </property>
  <property fmtid="{D5CDD505-2E9C-101B-9397-08002B2CF9AE}" pid="3" name="KSOProductBuildVer">
    <vt:lpwstr>1033-12.1.0.28032</vt:lpwstr>
  </property>
</Properties>
</file>
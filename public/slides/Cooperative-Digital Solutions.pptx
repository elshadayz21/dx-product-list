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9"/>
  </p:notesMasterIdLst>
  <p:sldIdLst>
    <p:sldId id="263" r:id="rId2"/>
    <p:sldId id="257" r:id="rId3"/>
    <p:sldId id="262" r:id="rId4"/>
    <p:sldId id="258" r:id="rId5"/>
    <p:sldId id="269" r:id="rId6"/>
    <p:sldId id="259" r:id="rId7"/>
    <p:sldId id="260" r:id="rId8"/>
  </p:sldIdLst>
  <p:sldSz cx="18288000" cy="10287000"/>
  <p:notesSz cx="6858000" cy="9144000"/>
  <p:embeddedFontLst>
    <p:embeddedFont>
      <p:font typeface="Helvetica Now" panose="020B0604020202020204" charset="0"/>
      <p:regular r:id="rId10"/>
    </p:embeddedFont>
    <p:embeddedFont>
      <p:font typeface="Helvetica Now Bold" panose="020B0604020202020204" charset="0"/>
      <p:regular r:id="rId11"/>
    </p:embeddedFont>
    <p:embeddedFont>
      <p:font typeface="Nirmala Text" panose="020B0502040204020203" pitchFamily="34" charset="0"/>
      <p:regular r:id="rId12"/>
      <p:bold r:id="rId13"/>
    </p:embeddedFont>
    <p:embeddedFont>
      <p:font typeface="Nirmala UI" panose="020B0502040204020203" pitchFamily="34" charset="0"/>
      <p:regular r:id="rId14"/>
      <p:bold r:id="rId15"/>
    </p:embeddedFont>
    <p:embeddedFont>
      <p:font typeface="Nirmala UI Semilight" panose="020B0402040204020203" pitchFamily="34" charset="0"/>
      <p:regular r:id="rId16"/>
    </p:embeddedFont>
    <p:embeddedFont>
      <p:font typeface="Proxima Nova" panose="020B0604020202020204" charset="0"/>
      <p:regular r:id="rId17"/>
    </p:embeddedFont>
    <p:embeddedFont>
      <p:font typeface="Proxima Nova Bold" panose="020B0604020202020204" charset="0"/>
      <p:regular r:id="rId18"/>
    </p:embeddedFont>
    <p:embeddedFont>
      <p:font typeface="TT Fors" panose="020B0604020202020204" charset="0"/>
      <p:regular r:id="rId19"/>
    </p:embeddedFont>
    <p:embeddedFont>
      <p:font typeface="TT Fors Bold" panose="020B0604020202020204" charset="0"/>
      <p:regular r:id="rId20"/>
    </p:embeddedFont>
    <p:embeddedFont>
      <p:font typeface="TT Norms" panose="020B0604020202020204" charset="0"/>
      <p:regular r:id="rId21"/>
    </p:embeddedFont>
    <p:embeddedFont>
      <p:font typeface="TT Norms Bold"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9" d="100"/>
          <a:sy n="59" d="100"/>
        </p:scale>
        <p:origin x="400" y="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presProps" Target="presProps.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A046E9-9FA0-4A4D-884D-2460DC150D54}" type="datetimeFigureOut">
              <a:rPr lang="en-US" smtClean="0"/>
              <a:t>10/14/2026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15407F-5E87-4F46-BB6D-D008E072A6D7}" type="slidenum">
              <a:rPr lang="en-US" smtClean="0"/>
              <a:t>‹#›</a:t>
            </a:fld>
            <a:endParaRPr lang="en-US"/>
          </a:p>
        </p:txBody>
      </p:sp>
    </p:spTree>
    <p:extLst>
      <p:ext uri="{BB962C8B-B14F-4D97-AF65-F5344CB8AC3E}">
        <p14:creationId xmlns:p14="http://schemas.microsoft.com/office/powerpoint/2010/main" val="3437394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15407F-5E87-4F46-BB6D-D008E072A6D7}" type="slidenum">
              <a:rPr lang="en-US" smtClean="0"/>
              <a:t>2</a:t>
            </a:fld>
            <a:endParaRPr lang="en-US"/>
          </a:p>
        </p:txBody>
      </p:sp>
    </p:spTree>
    <p:extLst>
      <p:ext uri="{BB962C8B-B14F-4D97-AF65-F5344CB8AC3E}">
        <p14:creationId xmlns:p14="http://schemas.microsoft.com/office/powerpoint/2010/main" val="859937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07A3C-713B-F604-1C0D-7775F126B1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23EDD6-8270-BB67-954B-3D0DD4ED05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813D01-F9A7-2B95-E22E-18E0B2D63B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70E5FF-5732-7AC1-1CDD-FD9F70C44119}"/>
              </a:ext>
            </a:extLst>
          </p:cNvPr>
          <p:cNvSpPr>
            <a:spLocks noGrp="1"/>
          </p:cNvSpPr>
          <p:nvPr>
            <p:ph type="sldNum" sz="quarter" idx="5"/>
          </p:nvPr>
        </p:nvSpPr>
        <p:spPr/>
        <p:txBody>
          <a:bodyPr/>
          <a:lstStyle/>
          <a:p>
            <a:fld id="{2AD00708-D953-44DE-A615-7C54CA174B39}" type="slidenum">
              <a:rPr lang="en-US" smtClean="0"/>
              <a:t>5</a:t>
            </a:fld>
            <a:endParaRPr lang="en-US"/>
          </a:p>
        </p:txBody>
      </p:sp>
    </p:spTree>
    <p:extLst>
      <p:ext uri="{BB962C8B-B14F-4D97-AF65-F5344CB8AC3E}">
        <p14:creationId xmlns:p14="http://schemas.microsoft.com/office/powerpoint/2010/main" val="34518968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0.png"/><Relationship Id="rId4" Type="http://schemas.openxmlformats.org/officeDocument/2006/relationships/image" Target="../media/image5.png"/><Relationship Id="rId9"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13.jpg"/><Relationship Id="rId7" Type="http://schemas.openxmlformats.org/officeDocument/2006/relationships/image" Target="../media/image17.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6.jpe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3.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AB5FD-621E-50C0-AECA-1BFDA0F7EC94}"/>
            </a:ext>
          </a:extLst>
        </p:cNvPr>
        <p:cNvGrpSpPr/>
        <p:nvPr/>
      </p:nvGrpSpPr>
      <p:grpSpPr>
        <a:xfrm>
          <a:off x="0" y="0"/>
          <a:ext cx="0" cy="0"/>
          <a:chOff x="0" y="0"/>
          <a:chExt cx="0" cy="0"/>
        </a:xfrm>
      </p:grpSpPr>
      <p:pic>
        <p:nvPicPr>
          <p:cNvPr id="3" name="object 13" descr="object 13">
            <a:extLst>
              <a:ext uri="{FF2B5EF4-FFF2-40B4-BE49-F238E27FC236}">
                <a16:creationId xmlns:a16="http://schemas.microsoft.com/office/drawing/2014/main" id="{D243EDFE-622E-65FC-F0F8-B4100D251D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6226"/>
          <a:stretch>
            <a:fillRect/>
          </a:stretch>
        </p:blipFill>
        <p:spPr bwMode="auto">
          <a:xfrm>
            <a:off x="1638521" y="1229878"/>
            <a:ext cx="10082582" cy="744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8" name="AutoShape 8">
            <a:extLst>
              <a:ext uri="{FF2B5EF4-FFF2-40B4-BE49-F238E27FC236}">
                <a16:creationId xmlns:a16="http://schemas.microsoft.com/office/drawing/2014/main" id="{550D6C92-1583-C656-E206-ECC010E9C5E2}"/>
              </a:ext>
            </a:extLst>
          </p:cNvPr>
          <p:cNvSpPr/>
          <p:nvPr/>
        </p:nvSpPr>
        <p:spPr>
          <a:xfrm>
            <a:off x="1028714" y="4286533"/>
            <a:ext cx="1270414" cy="0"/>
          </a:xfrm>
          <a:prstGeom prst="line">
            <a:avLst/>
          </a:prstGeom>
          <a:ln w="76200" cap="flat">
            <a:solidFill>
              <a:srgbClr val="3B2561"/>
            </a:solidFill>
            <a:prstDash val="solid"/>
            <a:headEnd type="none" w="sm" len="sm"/>
            <a:tailEnd type="none" w="sm" len="sm"/>
          </a:ln>
        </p:spPr>
      </p:sp>
      <p:sp>
        <p:nvSpPr>
          <p:cNvPr id="9" name="Freeform 9">
            <a:extLst>
              <a:ext uri="{FF2B5EF4-FFF2-40B4-BE49-F238E27FC236}">
                <a16:creationId xmlns:a16="http://schemas.microsoft.com/office/drawing/2014/main" id="{29BF5BDC-8230-385C-C47F-6D0648CFD143}"/>
              </a:ext>
            </a:extLst>
          </p:cNvPr>
          <p:cNvSpPr/>
          <p:nvPr/>
        </p:nvSpPr>
        <p:spPr>
          <a:xfrm>
            <a:off x="9565067" y="0"/>
            <a:ext cx="8696024" cy="10287000"/>
          </a:xfrm>
          <a:custGeom>
            <a:avLst/>
            <a:gdLst/>
            <a:ahLst/>
            <a:cxnLst/>
            <a:rect l="l" t="t" r="r" b="b"/>
            <a:pathLst>
              <a:path w="9383030" h="9383030">
                <a:moveTo>
                  <a:pt x="0" y="0"/>
                </a:moveTo>
                <a:lnTo>
                  <a:pt x="9383030" y="0"/>
                </a:lnTo>
                <a:lnTo>
                  <a:pt x="9383030" y="9383030"/>
                </a:lnTo>
                <a:lnTo>
                  <a:pt x="0" y="9383030"/>
                </a:lnTo>
                <a:lnTo>
                  <a:pt x="0" y="0"/>
                </a:lnTo>
                <a:close/>
              </a:path>
            </a:pathLst>
          </a:custGeom>
          <a:blipFill>
            <a:blip r:embed="rId3"/>
            <a:stretch>
              <a:fillRect/>
            </a:stretch>
          </a:blipFill>
        </p:spPr>
      </p:sp>
      <p:sp>
        <p:nvSpPr>
          <p:cNvPr id="10" name="TextBox 10">
            <a:extLst>
              <a:ext uri="{FF2B5EF4-FFF2-40B4-BE49-F238E27FC236}">
                <a16:creationId xmlns:a16="http://schemas.microsoft.com/office/drawing/2014/main" id="{2144C63F-BE12-5F1B-CFED-E76CC3C8367F}"/>
              </a:ext>
            </a:extLst>
          </p:cNvPr>
          <p:cNvSpPr txBox="1"/>
          <p:nvPr/>
        </p:nvSpPr>
        <p:spPr>
          <a:xfrm>
            <a:off x="996257" y="3642729"/>
            <a:ext cx="4412068" cy="344710"/>
          </a:xfrm>
          <a:prstGeom prst="rect">
            <a:avLst/>
          </a:prstGeom>
        </p:spPr>
        <p:txBody>
          <a:bodyPr lIns="0" tIns="0" rIns="0" bIns="0" rtlCol="0" anchor="t">
            <a:spAutoFit/>
          </a:bodyPr>
          <a:lstStyle/>
          <a:p>
            <a:pPr algn="l">
              <a:lnSpc>
                <a:spcPts val="2800"/>
              </a:lnSpc>
            </a:pPr>
            <a:r>
              <a:rPr lang="en-US" sz="2000" dirty="0">
                <a:solidFill>
                  <a:srgbClr val="242424"/>
                </a:solidFill>
                <a:latin typeface="Helvetica Now"/>
                <a:ea typeface="Helvetica Now"/>
                <a:cs typeface="Helvetica Now"/>
                <a:sym typeface="Helvetica Now"/>
              </a:rPr>
              <a:t>Core Banking + Mobile Banking</a:t>
            </a:r>
          </a:p>
        </p:txBody>
      </p:sp>
      <p:sp>
        <p:nvSpPr>
          <p:cNvPr id="11" name="TextBox 11">
            <a:extLst>
              <a:ext uri="{FF2B5EF4-FFF2-40B4-BE49-F238E27FC236}">
                <a16:creationId xmlns:a16="http://schemas.microsoft.com/office/drawing/2014/main" id="{0A83391C-8A77-BF4C-48DC-0B19BD71668C}"/>
              </a:ext>
            </a:extLst>
          </p:cNvPr>
          <p:cNvSpPr txBox="1"/>
          <p:nvPr/>
        </p:nvSpPr>
        <p:spPr>
          <a:xfrm>
            <a:off x="914399" y="1616959"/>
            <a:ext cx="6599169" cy="891334"/>
          </a:xfrm>
          <a:prstGeom prst="rect">
            <a:avLst/>
          </a:prstGeom>
        </p:spPr>
        <p:txBody>
          <a:bodyPr wrap="square" lIns="0" tIns="0" rIns="0" bIns="0" rtlCol="0" anchor="t">
            <a:spAutoFit/>
          </a:bodyPr>
          <a:lstStyle/>
          <a:p>
            <a:pPr algn="l">
              <a:lnSpc>
                <a:spcPts val="7699"/>
              </a:lnSpc>
            </a:pPr>
            <a:r>
              <a:rPr lang="en-US" sz="4000" b="1" spc="-349" dirty="0">
                <a:latin typeface="Helvetica Now Bold"/>
                <a:ea typeface="Helvetica Now Bold"/>
                <a:cs typeface="Helvetica Now Bold"/>
                <a:sym typeface="Helvetica Now Bold"/>
              </a:rPr>
              <a:t>The Big Picture</a:t>
            </a:r>
          </a:p>
        </p:txBody>
      </p:sp>
      <p:sp>
        <p:nvSpPr>
          <p:cNvPr id="12" name="TextBox 12">
            <a:extLst>
              <a:ext uri="{FF2B5EF4-FFF2-40B4-BE49-F238E27FC236}">
                <a16:creationId xmlns:a16="http://schemas.microsoft.com/office/drawing/2014/main" id="{CC9BC014-FB39-B198-4EEE-137FBC81720B}"/>
              </a:ext>
            </a:extLst>
          </p:cNvPr>
          <p:cNvSpPr txBox="1"/>
          <p:nvPr/>
        </p:nvSpPr>
        <p:spPr>
          <a:xfrm>
            <a:off x="914399" y="2560622"/>
            <a:ext cx="7886613" cy="1004378"/>
          </a:xfrm>
          <a:prstGeom prst="rect">
            <a:avLst/>
          </a:prstGeom>
        </p:spPr>
        <p:txBody>
          <a:bodyPr lIns="0" tIns="0" rIns="0" bIns="0" rtlCol="0" anchor="t">
            <a:spAutoFit/>
          </a:bodyPr>
          <a:lstStyle/>
          <a:p>
            <a:pPr algn="l">
              <a:lnSpc>
                <a:spcPts val="7699"/>
              </a:lnSpc>
            </a:pPr>
            <a:r>
              <a:rPr lang="en-US" sz="6999" b="1" spc="-349" dirty="0">
                <a:solidFill>
                  <a:srgbClr val="00B0F0"/>
                </a:solidFill>
                <a:latin typeface="Helvetica Now Bold"/>
                <a:ea typeface="Helvetica Now Bold"/>
                <a:cs typeface="Helvetica Now Bold"/>
                <a:sym typeface="Helvetica Now Bold"/>
              </a:rPr>
              <a:t>SACCO</a:t>
            </a:r>
            <a:r>
              <a:rPr lang="en-US" sz="6999" b="1" spc="-349" dirty="0">
                <a:solidFill>
                  <a:schemeClr val="accent6"/>
                </a:solidFill>
                <a:latin typeface="Helvetica Now Bold"/>
                <a:ea typeface="Helvetica Now Bold"/>
                <a:cs typeface="Helvetica Now Bold"/>
                <a:sym typeface="Helvetica Now Bold"/>
              </a:rPr>
              <a:t>-</a:t>
            </a:r>
            <a:r>
              <a:rPr lang="en-US" sz="6999" b="1" spc="-349" dirty="0">
                <a:solidFill>
                  <a:srgbClr val="00B0F0"/>
                </a:solidFill>
                <a:latin typeface="Helvetica Now Bold"/>
                <a:ea typeface="Helvetica Now Bold"/>
                <a:cs typeface="Helvetica Now Bold"/>
                <a:sym typeface="Helvetica Now Bold"/>
              </a:rPr>
              <a:t>Link</a:t>
            </a:r>
          </a:p>
        </p:txBody>
      </p:sp>
      <p:sp>
        <p:nvSpPr>
          <p:cNvPr id="13" name="TextBox 13">
            <a:extLst>
              <a:ext uri="{FF2B5EF4-FFF2-40B4-BE49-F238E27FC236}">
                <a16:creationId xmlns:a16="http://schemas.microsoft.com/office/drawing/2014/main" id="{8B94986E-2142-9D68-C383-8886FDD08CDE}"/>
              </a:ext>
            </a:extLst>
          </p:cNvPr>
          <p:cNvSpPr txBox="1"/>
          <p:nvPr/>
        </p:nvSpPr>
        <p:spPr>
          <a:xfrm>
            <a:off x="447974" y="4470622"/>
            <a:ext cx="9000826" cy="5836662"/>
          </a:xfrm>
          <a:prstGeom prst="rect">
            <a:avLst/>
          </a:prstGeom>
        </p:spPr>
        <p:txBody>
          <a:bodyPr wrap="square" lIns="0" tIns="0" rIns="0" bIns="0" rtlCol="0" anchor="t">
            <a:spAutoFit/>
          </a:bodyPr>
          <a:lstStyle/>
          <a:p>
            <a:pPr>
              <a:lnSpc>
                <a:spcPts val="2660"/>
              </a:lnSpc>
            </a:pPr>
            <a:r>
              <a:rPr lang="en-US" sz="2000" dirty="0">
                <a:solidFill>
                  <a:srgbClr val="242424"/>
                </a:solidFill>
                <a:latin typeface="Nirmala Text" panose="020B0502040204020203" pitchFamily="34" charset="0"/>
                <a:ea typeface="Nirmala Text" panose="020B0502040204020203" pitchFamily="34" charset="0"/>
                <a:cs typeface="Nirmala Text" panose="020B0502040204020203" pitchFamily="34" charset="0"/>
                <a:sym typeface="Helvetica Now"/>
              </a:rPr>
              <a:t>Is an integrated Core and Mobile Banking platform designed for SACCOs and Unions to transform them by unlocking their full potential through digital innovation, connecting rural communities to modern banking, and driving sustainable community growth.</a:t>
            </a:r>
          </a:p>
          <a:p>
            <a:pPr>
              <a:lnSpc>
                <a:spcPts val="2660"/>
              </a:lnSpc>
            </a:pPr>
            <a:endParaRPr lang="en-US" sz="2000" dirty="0">
              <a:solidFill>
                <a:srgbClr val="242424"/>
              </a:solidFill>
              <a:latin typeface="Nirmala Text" panose="020B0502040204020203" pitchFamily="34" charset="0"/>
              <a:ea typeface="Nirmala Text" panose="020B0502040204020203" pitchFamily="34" charset="0"/>
              <a:cs typeface="Nirmala Text" panose="020B0502040204020203" pitchFamily="34" charset="0"/>
              <a:sym typeface="Helvetica Now"/>
            </a:endParaRPr>
          </a:p>
          <a:p>
            <a:pPr>
              <a:lnSpc>
                <a:spcPts val="2660"/>
              </a:lnSpc>
            </a:pPr>
            <a:r>
              <a:rPr lang="en-US" sz="2000" dirty="0">
                <a:solidFill>
                  <a:srgbClr val="242424"/>
                </a:solidFill>
                <a:latin typeface="Nirmala Text" panose="020B0502040204020203" pitchFamily="34" charset="0"/>
                <a:ea typeface="Nirmala Text" panose="020B0502040204020203" pitchFamily="34" charset="0"/>
                <a:cs typeface="Nirmala Text" panose="020B0502040204020203" pitchFamily="34" charset="0"/>
                <a:sym typeface="Helvetica Now"/>
              </a:rPr>
              <a:t>Through the </a:t>
            </a:r>
            <a:r>
              <a:rPr lang="en-US" sz="2000" b="1" dirty="0" err="1">
                <a:solidFill>
                  <a:srgbClr val="242424"/>
                </a:solidFill>
                <a:latin typeface="Nirmala Text" panose="020B0502040204020203" pitchFamily="34" charset="0"/>
                <a:ea typeface="Nirmala Text" panose="020B0502040204020203" pitchFamily="34" charset="0"/>
                <a:cs typeface="Nirmala Text" panose="020B0502040204020203" pitchFamily="34" charset="0"/>
                <a:sym typeface="Helvetica Now"/>
              </a:rPr>
              <a:t>SACCOLink</a:t>
            </a:r>
            <a:r>
              <a:rPr lang="en-US" sz="2000" dirty="0">
                <a:solidFill>
                  <a:srgbClr val="242424"/>
                </a:solidFill>
                <a:latin typeface="Nirmala Text" panose="020B0502040204020203" pitchFamily="34" charset="0"/>
                <a:ea typeface="Nirmala Text" panose="020B0502040204020203" pitchFamily="34" charset="0"/>
                <a:cs typeface="Nirmala Text" panose="020B0502040204020203" pitchFamily="34" charset="0"/>
                <a:sym typeface="Helvetica Now"/>
              </a:rPr>
              <a:t> platform, we set out to achieve four critical things:</a:t>
            </a:r>
          </a:p>
          <a:p>
            <a:pPr marL="800100" lvl="1" indent="-342900">
              <a:lnSpc>
                <a:spcPts val="2660"/>
              </a:lnSpc>
              <a:buFont typeface="Arial" panose="020B0604020202020204" pitchFamily="34" charset="0"/>
              <a:buChar char="•"/>
            </a:pPr>
            <a:r>
              <a:rPr lang="en-US" sz="2000" b="1" dirty="0">
                <a:solidFill>
                  <a:srgbClr val="242424"/>
                </a:solidFill>
                <a:latin typeface="Nirmala Text" panose="020B0502040204020203" pitchFamily="34" charset="0"/>
                <a:ea typeface="Nirmala Text" panose="020B0502040204020203" pitchFamily="34" charset="0"/>
                <a:cs typeface="Nirmala Text" panose="020B0502040204020203" pitchFamily="34" charset="0"/>
                <a:sym typeface="Helvetica Now"/>
              </a:rPr>
              <a:t>Digitize operations </a:t>
            </a:r>
            <a:r>
              <a:rPr lang="en-US" sz="2000" dirty="0">
                <a:solidFill>
                  <a:srgbClr val="242424"/>
                </a:solidFill>
                <a:latin typeface="Nirmala Text" panose="020B0502040204020203" pitchFamily="34" charset="0"/>
                <a:ea typeface="Nirmala Text" panose="020B0502040204020203" pitchFamily="34" charset="0"/>
                <a:cs typeface="Nirmala Text" panose="020B0502040204020203" pitchFamily="34" charset="0"/>
                <a:sym typeface="Helvetica Now"/>
              </a:rPr>
              <a:t>– replacing manual processes with automated, standardized and secure digital systems.</a:t>
            </a:r>
          </a:p>
          <a:p>
            <a:pPr marL="800100" lvl="1" indent="-342900">
              <a:lnSpc>
                <a:spcPts val="2660"/>
              </a:lnSpc>
              <a:buFont typeface="Arial" panose="020B0604020202020204" pitchFamily="34" charset="0"/>
              <a:buChar char="•"/>
            </a:pPr>
            <a:r>
              <a:rPr lang="en-US" sz="2000" b="1" dirty="0">
                <a:solidFill>
                  <a:srgbClr val="242424"/>
                </a:solidFill>
                <a:latin typeface="Nirmala Text" panose="020B0502040204020203" pitchFamily="34" charset="0"/>
                <a:ea typeface="Nirmala Text" panose="020B0502040204020203" pitchFamily="34" charset="0"/>
                <a:cs typeface="Nirmala Text" panose="020B0502040204020203" pitchFamily="34" charset="0"/>
                <a:sym typeface="Helvetica Now"/>
              </a:rPr>
              <a:t>Enhance connectivity </a:t>
            </a:r>
            <a:r>
              <a:rPr lang="en-US" sz="2000" dirty="0">
                <a:solidFill>
                  <a:srgbClr val="242424"/>
                </a:solidFill>
                <a:latin typeface="Nirmala Text" panose="020B0502040204020203" pitchFamily="34" charset="0"/>
                <a:ea typeface="Nirmala Text" panose="020B0502040204020203" pitchFamily="34" charset="0"/>
                <a:cs typeface="Nirmala Text" panose="020B0502040204020203" pitchFamily="34" charset="0"/>
                <a:sym typeface="Helvetica Now"/>
              </a:rPr>
              <a:t>– linking SACCOs, their members, and the bank in real time.</a:t>
            </a:r>
          </a:p>
          <a:p>
            <a:pPr marL="800100" lvl="1" indent="-342900">
              <a:lnSpc>
                <a:spcPts val="2660"/>
              </a:lnSpc>
              <a:buFont typeface="Arial" panose="020B0604020202020204" pitchFamily="34" charset="0"/>
              <a:buChar char="•"/>
            </a:pPr>
            <a:r>
              <a:rPr lang="en-US" sz="2000" b="1" dirty="0">
                <a:solidFill>
                  <a:srgbClr val="242424"/>
                </a:solidFill>
                <a:latin typeface="Nirmala Text" panose="020B0502040204020203" pitchFamily="34" charset="0"/>
                <a:ea typeface="Nirmala Text" panose="020B0502040204020203" pitchFamily="34" charset="0"/>
                <a:cs typeface="Nirmala Text" panose="020B0502040204020203" pitchFamily="34" charset="0"/>
                <a:sym typeface="Helvetica Now"/>
              </a:rPr>
              <a:t>Drive growth and competitiveness </a:t>
            </a:r>
            <a:r>
              <a:rPr lang="en-US" sz="2000" dirty="0">
                <a:solidFill>
                  <a:srgbClr val="242424"/>
                </a:solidFill>
                <a:latin typeface="Nirmala Text" panose="020B0502040204020203" pitchFamily="34" charset="0"/>
                <a:ea typeface="Nirmala Text" panose="020B0502040204020203" pitchFamily="34" charset="0"/>
                <a:cs typeface="Nirmala Text" panose="020B0502040204020203" pitchFamily="34" charset="0"/>
                <a:sym typeface="Helvetica Now"/>
              </a:rPr>
              <a:t>– enabling cooperatives to efficiently manage a growing membership while delivering standardized, scalable, and flexible financial products and services that adapt to evolving member needs and future growth.</a:t>
            </a:r>
          </a:p>
          <a:p>
            <a:pPr marL="800100" lvl="1" indent="-342900">
              <a:lnSpc>
                <a:spcPts val="2660"/>
              </a:lnSpc>
              <a:buFont typeface="Arial" panose="020B0604020202020204" pitchFamily="34" charset="0"/>
              <a:buChar char="•"/>
            </a:pPr>
            <a:r>
              <a:rPr lang="en-US" sz="2000" b="1" dirty="0">
                <a:solidFill>
                  <a:srgbClr val="242424"/>
                </a:solidFill>
                <a:latin typeface="Nirmala Text" panose="020B0502040204020203" pitchFamily="34" charset="0"/>
                <a:ea typeface="Nirmala Text" panose="020B0502040204020203" pitchFamily="34" charset="0"/>
                <a:cs typeface="Nirmala Text" panose="020B0502040204020203" pitchFamily="34" charset="0"/>
                <a:sym typeface="Helvetica Now"/>
              </a:rPr>
              <a:t>Power better decisions </a:t>
            </a:r>
            <a:r>
              <a:rPr lang="en-US" sz="2000" dirty="0">
                <a:solidFill>
                  <a:srgbClr val="242424"/>
                </a:solidFill>
                <a:latin typeface="Nirmala Text" panose="020B0502040204020203" pitchFamily="34" charset="0"/>
                <a:ea typeface="Nirmala Text" panose="020B0502040204020203" pitchFamily="34" charset="0"/>
                <a:cs typeface="Nirmala Text" panose="020B0502040204020203" pitchFamily="34" charset="0"/>
                <a:sym typeface="Helvetica Now"/>
              </a:rPr>
              <a:t>– providing leaders real-time insights to make informed decisions, to manage risk, grow portfolios, and serve members better.</a:t>
            </a:r>
          </a:p>
        </p:txBody>
      </p:sp>
      <p:grpSp>
        <p:nvGrpSpPr>
          <p:cNvPr id="15" name="Group 17">
            <a:extLst>
              <a:ext uri="{FF2B5EF4-FFF2-40B4-BE49-F238E27FC236}">
                <a16:creationId xmlns:a16="http://schemas.microsoft.com/office/drawing/2014/main" id="{BEC56D29-3E11-A841-1FFC-75A88550F823}"/>
              </a:ext>
            </a:extLst>
          </p:cNvPr>
          <p:cNvGrpSpPr/>
          <p:nvPr/>
        </p:nvGrpSpPr>
        <p:grpSpPr>
          <a:xfrm>
            <a:off x="447975" y="342900"/>
            <a:ext cx="1161450" cy="463162"/>
            <a:chOff x="0" y="0"/>
            <a:chExt cx="1548600" cy="617549"/>
          </a:xfrm>
        </p:grpSpPr>
        <p:sp>
          <p:nvSpPr>
            <p:cNvPr id="16" name="Freeform 18">
              <a:extLst>
                <a:ext uri="{FF2B5EF4-FFF2-40B4-BE49-F238E27FC236}">
                  <a16:creationId xmlns:a16="http://schemas.microsoft.com/office/drawing/2014/main" id="{0362D5A8-9231-276F-D929-B3154A24B2D5}"/>
                </a:ext>
              </a:extLst>
            </p:cNvPr>
            <p:cNvSpPr/>
            <p:nvPr/>
          </p:nvSpPr>
          <p:spPr>
            <a:xfrm>
              <a:off x="0" y="0"/>
              <a:ext cx="1548638" cy="617601"/>
            </a:xfrm>
            <a:custGeom>
              <a:avLst/>
              <a:gdLst/>
              <a:ahLst/>
              <a:cxnLst/>
              <a:rect l="l" t="t" r="r" b="b"/>
              <a:pathLst>
                <a:path w="1548638" h="617601">
                  <a:moveTo>
                    <a:pt x="0" y="0"/>
                  </a:moveTo>
                  <a:lnTo>
                    <a:pt x="1548638" y="0"/>
                  </a:lnTo>
                  <a:lnTo>
                    <a:pt x="1548638" y="617601"/>
                  </a:lnTo>
                  <a:lnTo>
                    <a:pt x="0" y="617601"/>
                  </a:lnTo>
                  <a:lnTo>
                    <a:pt x="0" y="0"/>
                  </a:lnTo>
                  <a:close/>
                </a:path>
              </a:pathLst>
            </a:custGeom>
            <a:blipFill>
              <a:blip r:embed="rId4"/>
              <a:stretch>
                <a:fillRect t="-3" r="2" b="4"/>
              </a:stretch>
            </a:blipFill>
          </p:spPr>
        </p:sp>
      </p:grpSp>
    </p:spTree>
    <p:extLst>
      <p:ext uri="{BB962C8B-B14F-4D97-AF65-F5344CB8AC3E}">
        <p14:creationId xmlns:p14="http://schemas.microsoft.com/office/powerpoint/2010/main" val="2927941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6186311" cy="3479800"/>
          </a:xfrm>
        </p:grpSpPr>
        <p:sp>
          <p:nvSpPr>
            <p:cNvPr id="3" name="Freeform 3"/>
            <p:cNvSpPr/>
            <p:nvPr/>
          </p:nvSpPr>
          <p:spPr>
            <a:xfrm>
              <a:off x="0" y="0"/>
              <a:ext cx="6186311" cy="3479800"/>
            </a:xfrm>
            <a:custGeom>
              <a:avLst/>
              <a:gdLst/>
              <a:ahLst/>
              <a:cxnLst/>
              <a:rect l="l" t="t" r="r" b="b"/>
              <a:pathLst>
                <a:path w="6186311" h="3479800">
                  <a:moveTo>
                    <a:pt x="0" y="0"/>
                  </a:moveTo>
                  <a:lnTo>
                    <a:pt x="0" y="3479800"/>
                  </a:lnTo>
                  <a:lnTo>
                    <a:pt x="6186311" y="3479800"/>
                  </a:lnTo>
                  <a:lnTo>
                    <a:pt x="6186311" y="0"/>
                  </a:lnTo>
                  <a:lnTo>
                    <a:pt x="0" y="0"/>
                  </a:lnTo>
                  <a:close/>
                  <a:moveTo>
                    <a:pt x="6125351" y="3418840"/>
                  </a:moveTo>
                  <a:lnTo>
                    <a:pt x="59690" y="3418840"/>
                  </a:lnTo>
                  <a:lnTo>
                    <a:pt x="59690" y="59690"/>
                  </a:lnTo>
                  <a:lnTo>
                    <a:pt x="6125351" y="59690"/>
                  </a:lnTo>
                  <a:lnTo>
                    <a:pt x="6125351" y="3418840"/>
                  </a:lnTo>
                  <a:close/>
                </a:path>
              </a:pathLst>
            </a:custGeom>
            <a:solidFill>
              <a:srgbClr val="FFFFFF"/>
            </a:solidFill>
          </p:spPr>
        </p:sp>
      </p:grpSp>
      <p:sp>
        <p:nvSpPr>
          <p:cNvPr id="4" name="Freeform 4"/>
          <p:cNvSpPr/>
          <p:nvPr/>
        </p:nvSpPr>
        <p:spPr>
          <a:xfrm>
            <a:off x="4938988" y="3592652"/>
            <a:ext cx="8410024" cy="7037248"/>
          </a:xfrm>
          <a:custGeom>
            <a:avLst/>
            <a:gdLst/>
            <a:ahLst/>
            <a:cxnLst/>
            <a:rect l="l" t="t" r="r" b="b"/>
            <a:pathLst>
              <a:path w="8410024" h="7081941">
                <a:moveTo>
                  <a:pt x="0" y="0"/>
                </a:moveTo>
                <a:lnTo>
                  <a:pt x="8410024" y="0"/>
                </a:lnTo>
                <a:lnTo>
                  <a:pt x="8410024" y="7081941"/>
                </a:lnTo>
                <a:lnTo>
                  <a:pt x="0" y="7081941"/>
                </a:lnTo>
                <a:lnTo>
                  <a:pt x="0" y="0"/>
                </a:lnTo>
                <a:close/>
              </a:path>
            </a:pathLst>
          </a:custGeom>
          <a:blipFill>
            <a:blip r:embed="rId3"/>
            <a:stretch>
              <a:fillRect/>
            </a:stretch>
          </a:blipFill>
        </p:spPr>
      </p:sp>
      <p:grpSp>
        <p:nvGrpSpPr>
          <p:cNvPr id="5" name="Group 5"/>
          <p:cNvGrpSpPr/>
          <p:nvPr/>
        </p:nvGrpSpPr>
        <p:grpSpPr>
          <a:xfrm>
            <a:off x="5152457" y="3803184"/>
            <a:ext cx="7982971" cy="4487391"/>
            <a:chOff x="0" y="0"/>
            <a:chExt cx="10643961" cy="5983187"/>
          </a:xfrm>
        </p:grpSpPr>
        <p:pic>
          <p:nvPicPr>
            <p:cNvPr id="6" name="Picture 6"/>
            <p:cNvPicPr>
              <a:picLocks noChangeAspect="1"/>
            </p:cNvPicPr>
            <p:nvPr/>
          </p:nvPicPr>
          <p:blipFill>
            <a:blip r:embed="rId4"/>
            <a:srcRect b="13640"/>
            <a:stretch>
              <a:fillRect/>
            </a:stretch>
          </p:blipFill>
          <p:spPr>
            <a:xfrm>
              <a:off x="0" y="0"/>
              <a:ext cx="10643961" cy="5983187"/>
            </a:xfrm>
            <a:prstGeom prst="rect">
              <a:avLst/>
            </a:prstGeom>
          </p:spPr>
        </p:pic>
      </p:grpSp>
      <p:sp>
        <p:nvSpPr>
          <p:cNvPr id="7" name="AutoShape 7"/>
          <p:cNvSpPr/>
          <p:nvPr/>
        </p:nvSpPr>
        <p:spPr>
          <a:xfrm>
            <a:off x="4250615" y="4603432"/>
            <a:ext cx="972579" cy="9525"/>
          </a:xfrm>
          <a:prstGeom prst="line">
            <a:avLst/>
          </a:prstGeom>
          <a:ln w="19050" cap="rnd">
            <a:solidFill>
              <a:srgbClr val="A4A8CA"/>
            </a:solidFill>
            <a:prstDash val="solid"/>
            <a:headEnd type="none" w="sm" len="sm"/>
            <a:tailEnd type="oval" w="lg" len="lg"/>
          </a:ln>
        </p:spPr>
      </p:sp>
      <p:sp>
        <p:nvSpPr>
          <p:cNvPr id="8" name="AutoShape 8"/>
          <p:cNvSpPr/>
          <p:nvPr/>
        </p:nvSpPr>
        <p:spPr>
          <a:xfrm>
            <a:off x="4250615" y="7186140"/>
            <a:ext cx="1025376" cy="0"/>
          </a:xfrm>
          <a:prstGeom prst="line">
            <a:avLst/>
          </a:prstGeom>
          <a:ln w="19050" cap="rnd">
            <a:solidFill>
              <a:srgbClr val="A4A8CA"/>
            </a:solidFill>
            <a:prstDash val="solid"/>
            <a:headEnd type="none" w="sm" len="sm"/>
            <a:tailEnd type="oval" w="lg" len="lg"/>
          </a:ln>
        </p:spPr>
      </p:sp>
      <p:sp>
        <p:nvSpPr>
          <p:cNvPr id="9" name="AutoShape 9"/>
          <p:cNvSpPr/>
          <p:nvPr/>
        </p:nvSpPr>
        <p:spPr>
          <a:xfrm flipH="1">
            <a:off x="13083540" y="5381625"/>
            <a:ext cx="1003268" cy="24777"/>
          </a:xfrm>
          <a:prstGeom prst="line">
            <a:avLst/>
          </a:prstGeom>
          <a:ln w="19050" cap="rnd">
            <a:solidFill>
              <a:srgbClr val="A4A8CA"/>
            </a:solidFill>
            <a:prstDash val="solid"/>
            <a:headEnd type="none" w="sm" len="sm"/>
            <a:tailEnd type="oval" w="lg" len="lg"/>
          </a:ln>
        </p:spPr>
      </p:sp>
      <p:sp>
        <p:nvSpPr>
          <p:cNvPr id="10" name="AutoShape 10"/>
          <p:cNvSpPr/>
          <p:nvPr/>
        </p:nvSpPr>
        <p:spPr>
          <a:xfrm flipH="1">
            <a:off x="13091722" y="7186140"/>
            <a:ext cx="995086" cy="0"/>
          </a:xfrm>
          <a:prstGeom prst="line">
            <a:avLst/>
          </a:prstGeom>
          <a:ln w="19050" cap="rnd">
            <a:solidFill>
              <a:srgbClr val="A4A8CA"/>
            </a:solidFill>
            <a:prstDash val="solid"/>
            <a:headEnd type="none" w="sm" len="sm"/>
            <a:tailEnd type="oval" w="lg" len="lg"/>
          </a:ln>
        </p:spPr>
      </p:sp>
      <p:sp>
        <p:nvSpPr>
          <p:cNvPr id="11" name="TextBox 11"/>
          <p:cNvSpPr txBox="1"/>
          <p:nvPr/>
        </p:nvSpPr>
        <p:spPr>
          <a:xfrm>
            <a:off x="3764011" y="2248672"/>
            <a:ext cx="10759977" cy="769441"/>
          </a:xfrm>
          <a:prstGeom prst="rect">
            <a:avLst/>
          </a:prstGeom>
        </p:spPr>
        <p:txBody>
          <a:bodyPr lIns="0" tIns="0" rIns="0" bIns="0" rtlCol="0" anchor="t">
            <a:spAutoFit/>
          </a:bodyPr>
          <a:lstStyle/>
          <a:p>
            <a:pPr marL="0" lvl="0" indent="0" algn="ctr">
              <a:lnSpc>
                <a:spcPts val="6000"/>
              </a:lnSpc>
              <a:spcBef>
                <a:spcPct val="0"/>
              </a:spcBef>
            </a:pPr>
            <a:r>
              <a:rPr lang="en-US" sz="6000" b="1" spc="-300" dirty="0">
                <a:solidFill>
                  <a:srgbClr val="41A7EF"/>
                </a:solidFill>
                <a:latin typeface="Proxima Nova Bold"/>
                <a:ea typeface="Proxima Nova Bold"/>
                <a:cs typeface="Proxima Nova Bold"/>
                <a:sym typeface="Proxima Nova Bold"/>
              </a:rPr>
              <a:t>SACCO-Link Features</a:t>
            </a:r>
          </a:p>
        </p:txBody>
      </p:sp>
      <p:sp>
        <p:nvSpPr>
          <p:cNvPr id="12" name="TextBox 12"/>
          <p:cNvSpPr txBox="1"/>
          <p:nvPr/>
        </p:nvSpPr>
        <p:spPr>
          <a:xfrm>
            <a:off x="14241273" y="3976013"/>
            <a:ext cx="3018027" cy="356234"/>
          </a:xfrm>
          <a:prstGeom prst="rect">
            <a:avLst/>
          </a:prstGeom>
        </p:spPr>
        <p:txBody>
          <a:bodyPr lIns="0" tIns="0" rIns="0" bIns="0" rtlCol="0" anchor="t">
            <a:spAutoFit/>
          </a:bodyPr>
          <a:lstStyle/>
          <a:p>
            <a:pPr algn="l">
              <a:lnSpc>
                <a:spcPts val="2940"/>
              </a:lnSpc>
            </a:pPr>
            <a:r>
              <a:rPr lang="en-US" sz="2100" b="1" spc="-42">
                <a:solidFill>
                  <a:srgbClr val="000000"/>
                </a:solidFill>
                <a:latin typeface="Proxima Nova Bold"/>
                <a:ea typeface="Proxima Nova Bold"/>
                <a:cs typeface="Proxima Nova Bold"/>
                <a:sym typeface="Proxima Nova Bold"/>
              </a:rPr>
              <a:t>Loan Management</a:t>
            </a:r>
          </a:p>
        </p:txBody>
      </p:sp>
      <p:sp>
        <p:nvSpPr>
          <p:cNvPr id="13" name="TextBox 13"/>
          <p:cNvSpPr txBox="1"/>
          <p:nvPr/>
        </p:nvSpPr>
        <p:spPr>
          <a:xfrm>
            <a:off x="14241273" y="4760872"/>
            <a:ext cx="3216246" cy="1099185"/>
          </a:xfrm>
          <a:prstGeom prst="rect">
            <a:avLst/>
          </a:prstGeom>
        </p:spPr>
        <p:txBody>
          <a:bodyPr lIns="0" tIns="0" rIns="0" bIns="0" rtlCol="0" anchor="t">
            <a:spAutoFit/>
          </a:bodyPr>
          <a:lstStyle/>
          <a:p>
            <a:pPr algn="l">
              <a:lnSpc>
                <a:spcPts val="2940"/>
              </a:lnSpc>
            </a:pPr>
            <a:r>
              <a:rPr lang="en-US" sz="2100" dirty="0">
                <a:solidFill>
                  <a:srgbClr val="545454"/>
                </a:solidFill>
                <a:latin typeface="Proxima Nova"/>
                <a:ea typeface="Proxima Nova"/>
                <a:cs typeface="Proxima Nova"/>
                <a:sym typeface="Proxima Nova"/>
              </a:rPr>
              <a:t>Account based Principal, interest and penalty calculation automations</a:t>
            </a:r>
          </a:p>
        </p:txBody>
      </p:sp>
      <p:sp>
        <p:nvSpPr>
          <p:cNvPr id="14" name="TextBox 14"/>
          <p:cNvSpPr txBox="1"/>
          <p:nvPr/>
        </p:nvSpPr>
        <p:spPr>
          <a:xfrm>
            <a:off x="1028700" y="3976013"/>
            <a:ext cx="3018027" cy="356234"/>
          </a:xfrm>
          <a:prstGeom prst="rect">
            <a:avLst/>
          </a:prstGeom>
        </p:spPr>
        <p:txBody>
          <a:bodyPr lIns="0" tIns="0" rIns="0" bIns="0" rtlCol="0" anchor="t">
            <a:spAutoFit/>
          </a:bodyPr>
          <a:lstStyle/>
          <a:p>
            <a:pPr algn="r">
              <a:lnSpc>
                <a:spcPts val="2940"/>
              </a:lnSpc>
            </a:pPr>
            <a:r>
              <a:rPr lang="en-US" sz="2100" b="1" spc="-42">
                <a:solidFill>
                  <a:srgbClr val="000000"/>
                </a:solidFill>
                <a:latin typeface="Proxima Nova Bold"/>
                <a:ea typeface="Proxima Nova Bold"/>
                <a:cs typeface="Proxima Nova Bold"/>
                <a:sym typeface="Proxima Nova Bold"/>
              </a:rPr>
              <a:t>Digital KYC</a:t>
            </a:r>
          </a:p>
        </p:txBody>
      </p:sp>
      <p:sp>
        <p:nvSpPr>
          <p:cNvPr id="15" name="TextBox 15"/>
          <p:cNvSpPr txBox="1"/>
          <p:nvPr/>
        </p:nvSpPr>
        <p:spPr>
          <a:xfrm>
            <a:off x="1232588" y="4574858"/>
            <a:ext cx="3018027" cy="1099185"/>
          </a:xfrm>
          <a:prstGeom prst="rect">
            <a:avLst/>
          </a:prstGeom>
        </p:spPr>
        <p:txBody>
          <a:bodyPr lIns="0" tIns="0" rIns="0" bIns="0" rtlCol="0" anchor="t">
            <a:spAutoFit/>
          </a:bodyPr>
          <a:lstStyle/>
          <a:p>
            <a:pPr algn="r">
              <a:lnSpc>
                <a:spcPts val="2940"/>
              </a:lnSpc>
            </a:pPr>
            <a:r>
              <a:rPr lang="en-US" sz="2100">
                <a:solidFill>
                  <a:srgbClr val="545454"/>
                </a:solidFill>
                <a:latin typeface="Proxima Nova"/>
                <a:ea typeface="Proxima Nova"/>
                <a:cs typeface="Proxima Nova"/>
                <a:sym typeface="Proxima Nova"/>
              </a:rPr>
              <a:t>Clean, and  complete members profile management</a:t>
            </a:r>
          </a:p>
        </p:txBody>
      </p:sp>
      <p:sp>
        <p:nvSpPr>
          <p:cNvPr id="16" name="TextBox 16"/>
          <p:cNvSpPr txBox="1"/>
          <p:nvPr/>
        </p:nvSpPr>
        <p:spPr>
          <a:xfrm>
            <a:off x="1028700" y="6961426"/>
            <a:ext cx="3018027" cy="339004"/>
          </a:xfrm>
          <a:prstGeom prst="rect">
            <a:avLst/>
          </a:prstGeom>
        </p:spPr>
        <p:txBody>
          <a:bodyPr lIns="0" tIns="0" rIns="0" bIns="0" rtlCol="0" anchor="t">
            <a:spAutoFit/>
          </a:bodyPr>
          <a:lstStyle/>
          <a:p>
            <a:pPr algn="r">
              <a:lnSpc>
                <a:spcPts val="2940"/>
              </a:lnSpc>
            </a:pPr>
            <a:r>
              <a:rPr lang="en-US" sz="2100" b="1" spc="-42" dirty="0">
                <a:solidFill>
                  <a:srgbClr val="000000"/>
                </a:solidFill>
                <a:latin typeface="Proxima Nova Bold"/>
                <a:ea typeface="Proxima Nova Bold"/>
                <a:cs typeface="Proxima Nova Bold"/>
                <a:sym typeface="Proxima Nova Bold"/>
              </a:rPr>
              <a:t>Savings &amp; Share</a:t>
            </a:r>
          </a:p>
        </p:txBody>
      </p:sp>
      <p:sp>
        <p:nvSpPr>
          <p:cNvPr id="17" name="TextBox 17"/>
          <p:cNvSpPr txBox="1"/>
          <p:nvPr/>
        </p:nvSpPr>
        <p:spPr>
          <a:xfrm>
            <a:off x="1028700" y="7374810"/>
            <a:ext cx="3018027" cy="1099185"/>
          </a:xfrm>
          <a:prstGeom prst="rect">
            <a:avLst/>
          </a:prstGeom>
        </p:spPr>
        <p:txBody>
          <a:bodyPr lIns="0" tIns="0" rIns="0" bIns="0" rtlCol="0" anchor="t">
            <a:spAutoFit/>
          </a:bodyPr>
          <a:lstStyle/>
          <a:p>
            <a:pPr algn="r">
              <a:lnSpc>
                <a:spcPts val="2940"/>
              </a:lnSpc>
            </a:pPr>
            <a:r>
              <a:rPr lang="en-US" sz="2100" dirty="0">
                <a:solidFill>
                  <a:srgbClr val="545454"/>
                </a:solidFill>
                <a:latin typeface="Proxima Nova"/>
                <a:ea typeface="Proxima Nova"/>
                <a:cs typeface="Proxima Nova"/>
                <a:sym typeface="Proxima Nova"/>
              </a:rPr>
              <a:t>Secure and transparent Savings, Share and Asset Management Module</a:t>
            </a:r>
          </a:p>
        </p:txBody>
      </p:sp>
      <p:sp>
        <p:nvSpPr>
          <p:cNvPr id="18" name="TextBox 18"/>
          <p:cNvSpPr txBox="1"/>
          <p:nvPr/>
        </p:nvSpPr>
        <p:spPr>
          <a:xfrm>
            <a:off x="14241273" y="6961426"/>
            <a:ext cx="3018027" cy="727709"/>
          </a:xfrm>
          <a:prstGeom prst="rect">
            <a:avLst/>
          </a:prstGeom>
        </p:spPr>
        <p:txBody>
          <a:bodyPr lIns="0" tIns="0" rIns="0" bIns="0" rtlCol="0" anchor="t">
            <a:spAutoFit/>
          </a:bodyPr>
          <a:lstStyle/>
          <a:p>
            <a:pPr algn="l">
              <a:lnSpc>
                <a:spcPts val="2940"/>
              </a:lnSpc>
            </a:pPr>
            <a:r>
              <a:rPr lang="en-US" sz="2100" b="1" spc="-42">
                <a:solidFill>
                  <a:srgbClr val="000000"/>
                </a:solidFill>
                <a:latin typeface="Proxima Nova Bold"/>
                <a:ea typeface="Proxima Nova Bold"/>
                <a:cs typeface="Proxima Nova Bold"/>
                <a:sym typeface="Proxima Nova Bold"/>
              </a:rPr>
              <a:t>Seamless Financial Reports</a:t>
            </a:r>
          </a:p>
        </p:txBody>
      </p:sp>
      <p:sp>
        <p:nvSpPr>
          <p:cNvPr id="19" name="TextBox 19"/>
          <p:cNvSpPr txBox="1"/>
          <p:nvPr/>
        </p:nvSpPr>
        <p:spPr>
          <a:xfrm>
            <a:off x="14241273" y="7746285"/>
            <a:ext cx="3216246" cy="1099185"/>
          </a:xfrm>
          <a:prstGeom prst="rect">
            <a:avLst/>
          </a:prstGeom>
        </p:spPr>
        <p:txBody>
          <a:bodyPr lIns="0" tIns="0" rIns="0" bIns="0" rtlCol="0" anchor="t">
            <a:spAutoFit/>
          </a:bodyPr>
          <a:lstStyle/>
          <a:p>
            <a:pPr algn="l">
              <a:lnSpc>
                <a:spcPts val="2940"/>
              </a:lnSpc>
            </a:pPr>
            <a:r>
              <a:rPr lang="en-US" sz="2100">
                <a:solidFill>
                  <a:srgbClr val="545454"/>
                </a:solidFill>
                <a:latin typeface="Proxima Nova"/>
                <a:ea typeface="Proxima Nova"/>
                <a:cs typeface="Proxima Nova"/>
                <a:sym typeface="Proxima Nova"/>
              </a:rPr>
              <a:t>Real-time Balance Sheets, Income Statements and TB Reports</a:t>
            </a:r>
          </a:p>
        </p:txBody>
      </p:sp>
      <p:sp>
        <p:nvSpPr>
          <p:cNvPr id="20" name="TextBox 20"/>
          <p:cNvSpPr txBox="1"/>
          <p:nvPr/>
        </p:nvSpPr>
        <p:spPr>
          <a:xfrm>
            <a:off x="5840833" y="1335859"/>
            <a:ext cx="6606335" cy="257378"/>
          </a:xfrm>
          <a:prstGeom prst="rect">
            <a:avLst/>
          </a:prstGeom>
        </p:spPr>
        <p:txBody>
          <a:bodyPr lIns="0" tIns="0" rIns="0" bIns="0" rtlCol="0" anchor="t">
            <a:spAutoFit/>
          </a:bodyPr>
          <a:lstStyle/>
          <a:p>
            <a:pPr algn="ctr">
              <a:lnSpc>
                <a:spcPts val="2240"/>
              </a:lnSpc>
            </a:pPr>
            <a:r>
              <a:rPr lang="en-US" sz="1600" b="1" spc="80" dirty="0">
                <a:solidFill>
                  <a:srgbClr val="000000"/>
                </a:solidFill>
                <a:latin typeface="Proxima Nova Bold"/>
                <a:ea typeface="Proxima Nova Bold"/>
                <a:cs typeface="Proxima Nova Bold"/>
                <a:sym typeface="Proxima Nova Bold"/>
              </a:rPr>
              <a:t>KEY Modules</a:t>
            </a:r>
          </a:p>
        </p:txBody>
      </p:sp>
      <p:pic>
        <p:nvPicPr>
          <p:cNvPr id="21" name="Picture 20">
            <a:extLst>
              <a:ext uri="{FF2B5EF4-FFF2-40B4-BE49-F238E27FC236}">
                <a16:creationId xmlns:a16="http://schemas.microsoft.com/office/drawing/2014/main" id="{23221BA3-49B5-F20E-3C2B-AD010089A6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p:blipFill>
        <p:spPr bwMode="auto">
          <a:xfrm>
            <a:off x="2767571" y="2758717"/>
            <a:ext cx="1218154" cy="1218154"/>
          </a:xfrm>
          <a:prstGeom prst="rect">
            <a:avLst/>
          </a:prstGeom>
          <a:noFill/>
          <a:effectLst>
            <a:outerShdw dir="21540000" sx="1000" sy="1000" algn="ctr" rotWithShape="0">
              <a:srgbClr val="000000">
                <a:alpha val="99000"/>
              </a:srgbClr>
            </a:outerShdw>
          </a:effectLst>
          <a:extLst>
            <a:ext uri="{909E8E84-426E-40DD-AFC4-6F175D3DCCD1}">
              <a14:hiddenFill xmlns:a14="http://schemas.microsoft.com/office/drawing/2010/main">
                <a:solidFill>
                  <a:srgbClr val="FFFFFF"/>
                </a:solidFill>
              </a14:hiddenFill>
            </a:ext>
          </a:extLst>
        </p:spPr>
      </p:pic>
      <p:sp>
        <p:nvSpPr>
          <p:cNvPr id="22" name="Freeform 6">
            <a:extLst>
              <a:ext uri="{FF2B5EF4-FFF2-40B4-BE49-F238E27FC236}">
                <a16:creationId xmlns:a16="http://schemas.microsoft.com/office/drawing/2014/main" id="{F254ADED-A12E-9BB9-08D5-D7C779A3E498}"/>
              </a:ext>
            </a:extLst>
          </p:cNvPr>
          <p:cNvSpPr/>
          <p:nvPr/>
        </p:nvSpPr>
        <p:spPr>
          <a:xfrm>
            <a:off x="2494456" y="5888143"/>
            <a:ext cx="1491269" cy="1073283"/>
          </a:xfrm>
          <a:custGeom>
            <a:avLst/>
            <a:gdLst/>
            <a:ahLst/>
            <a:cxnLst/>
            <a:rect l="l" t="t" r="r" b="b"/>
            <a:pathLst>
              <a:path w="1922733" h="2288968">
                <a:moveTo>
                  <a:pt x="0" y="0"/>
                </a:moveTo>
                <a:lnTo>
                  <a:pt x="1922733" y="0"/>
                </a:lnTo>
                <a:lnTo>
                  <a:pt x="1922733" y="2288968"/>
                </a:lnTo>
                <a:lnTo>
                  <a:pt x="0" y="2288968"/>
                </a:lnTo>
                <a:lnTo>
                  <a:pt x="0" y="0"/>
                </a:lnTo>
                <a:close/>
              </a:path>
            </a:pathLst>
          </a:custGeom>
          <a:blipFill>
            <a:blip r:embed="rId6"/>
            <a:stretch>
              <a:fillRect/>
            </a:stretch>
          </a:blipFill>
        </p:spPr>
        <p:txBody>
          <a:bodyPr/>
          <a:lstStyle/>
          <a:p>
            <a:endParaRPr lang="en-US" dirty="0"/>
          </a:p>
        </p:txBody>
      </p:sp>
      <p:sp>
        <p:nvSpPr>
          <p:cNvPr id="24" name="Freeform 7">
            <a:extLst>
              <a:ext uri="{FF2B5EF4-FFF2-40B4-BE49-F238E27FC236}">
                <a16:creationId xmlns:a16="http://schemas.microsoft.com/office/drawing/2014/main" id="{3E3426DE-B178-7CA5-2E00-1DDBEF86A90E}"/>
              </a:ext>
            </a:extLst>
          </p:cNvPr>
          <p:cNvSpPr/>
          <p:nvPr/>
        </p:nvSpPr>
        <p:spPr>
          <a:xfrm>
            <a:off x="14708554" y="2810879"/>
            <a:ext cx="1379727" cy="1165134"/>
          </a:xfrm>
          <a:custGeom>
            <a:avLst/>
            <a:gdLst/>
            <a:ahLst/>
            <a:cxnLst/>
            <a:rect l="l" t="t" r="r" b="b"/>
            <a:pathLst>
              <a:path w="2098023" h="1694154">
                <a:moveTo>
                  <a:pt x="0" y="0"/>
                </a:moveTo>
                <a:lnTo>
                  <a:pt x="2098023" y="0"/>
                </a:lnTo>
                <a:lnTo>
                  <a:pt x="2098023" y="1694154"/>
                </a:lnTo>
                <a:lnTo>
                  <a:pt x="0" y="1694154"/>
                </a:lnTo>
                <a:lnTo>
                  <a:pt x="0" y="0"/>
                </a:lnTo>
                <a:close/>
              </a:path>
            </a:pathLst>
          </a:custGeom>
          <a:blipFill>
            <a:blip r:embed="rId7"/>
            <a:stretch>
              <a:fillRect/>
            </a:stretch>
          </a:blipFill>
        </p:spPr>
        <p:txBody>
          <a:bodyPr/>
          <a:lstStyle/>
          <a:p>
            <a:endParaRPr lang="en-US" dirty="0"/>
          </a:p>
        </p:txBody>
      </p:sp>
      <p:pic>
        <p:nvPicPr>
          <p:cNvPr id="25" name="Picture 24">
            <a:extLst>
              <a:ext uri="{FF2B5EF4-FFF2-40B4-BE49-F238E27FC236}">
                <a16:creationId xmlns:a16="http://schemas.microsoft.com/office/drawing/2014/main" id="{90D426A7-2FB2-C34F-9E2A-CD87F2419ECD}"/>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4323042" y="6009207"/>
            <a:ext cx="1526354" cy="923644"/>
          </a:xfrm>
          <a:prstGeom prst="rect">
            <a:avLst/>
          </a:prstGeom>
        </p:spPr>
      </p:pic>
      <p:grpSp>
        <p:nvGrpSpPr>
          <p:cNvPr id="26" name="Group 17">
            <a:extLst>
              <a:ext uri="{FF2B5EF4-FFF2-40B4-BE49-F238E27FC236}">
                <a16:creationId xmlns:a16="http://schemas.microsoft.com/office/drawing/2014/main" id="{014169B2-4D19-BAA2-36AE-2FA765B98756}"/>
              </a:ext>
            </a:extLst>
          </p:cNvPr>
          <p:cNvGrpSpPr/>
          <p:nvPr/>
        </p:nvGrpSpPr>
        <p:grpSpPr>
          <a:xfrm>
            <a:off x="447975" y="342900"/>
            <a:ext cx="1161450" cy="463162"/>
            <a:chOff x="0" y="0"/>
            <a:chExt cx="1548600" cy="617549"/>
          </a:xfrm>
        </p:grpSpPr>
        <p:sp>
          <p:nvSpPr>
            <p:cNvPr id="27" name="Freeform 18">
              <a:extLst>
                <a:ext uri="{FF2B5EF4-FFF2-40B4-BE49-F238E27FC236}">
                  <a16:creationId xmlns:a16="http://schemas.microsoft.com/office/drawing/2014/main" id="{B3FAC34C-60FF-2E44-D3BA-1362D01817F9}"/>
                </a:ext>
              </a:extLst>
            </p:cNvPr>
            <p:cNvSpPr/>
            <p:nvPr/>
          </p:nvSpPr>
          <p:spPr>
            <a:xfrm>
              <a:off x="0" y="0"/>
              <a:ext cx="1548638" cy="617601"/>
            </a:xfrm>
            <a:custGeom>
              <a:avLst/>
              <a:gdLst/>
              <a:ahLst/>
              <a:cxnLst/>
              <a:rect l="l" t="t" r="r" b="b"/>
              <a:pathLst>
                <a:path w="1548638" h="617601">
                  <a:moveTo>
                    <a:pt x="0" y="0"/>
                  </a:moveTo>
                  <a:lnTo>
                    <a:pt x="1548638" y="0"/>
                  </a:lnTo>
                  <a:lnTo>
                    <a:pt x="1548638" y="617601"/>
                  </a:lnTo>
                  <a:lnTo>
                    <a:pt x="0" y="617601"/>
                  </a:lnTo>
                  <a:lnTo>
                    <a:pt x="0" y="0"/>
                  </a:lnTo>
                  <a:close/>
                </a:path>
              </a:pathLst>
            </a:custGeom>
            <a:blipFill>
              <a:blip r:embed="rId9"/>
              <a:stretch>
                <a:fillRect t="-3" r="2" b="4"/>
              </a:stretch>
            </a:blipFill>
          </p:spPr>
        </p:sp>
      </p:grpSp>
      <p:pic>
        <p:nvPicPr>
          <p:cNvPr id="28" name="Picture 27">
            <a:extLst>
              <a:ext uri="{FF2B5EF4-FFF2-40B4-BE49-F238E27FC236}">
                <a16:creationId xmlns:a16="http://schemas.microsoft.com/office/drawing/2014/main" id="{4541EF47-E595-76BB-69D1-CA30462AEF56}"/>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4928500" y="146130"/>
            <a:ext cx="2140667" cy="118972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10"/>
          <p:cNvSpPr txBox="1"/>
          <p:nvPr/>
        </p:nvSpPr>
        <p:spPr>
          <a:xfrm>
            <a:off x="7821385" y="2804143"/>
            <a:ext cx="6077513" cy="344710"/>
          </a:xfrm>
          <a:prstGeom prst="rect">
            <a:avLst/>
          </a:prstGeom>
        </p:spPr>
        <p:txBody>
          <a:bodyPr wrap="square" lIns="0" tIns="0" rIns="0" bIns="0" rtlCol="0" anchor="t">
            <a:spAutoFit/>
          </a:bodyPr>
          <a:lstStyle/>
          <a:p>
            <a:pPr algn="l">
              <a:lnSpc>
                <a:spcPts val="2800"/>
              </a:lnSpc>
            </a:pPr>
            <a:r>
              <a:rPr lang="en-US" sz="2000" dirty="0" err="1">
                <a:solidFill>
                  <a:srgbClr val="242424"/>
                </a:solidFill>
                <a:latin typeface="Helvetica Now"/>
                <a:ea typeface="Helvetica Now"/>
                <a:cs typeface="Helvetica Now"/>
                <a:sym typeface="Helvetica Now"/>
              </a:rPr>
              <a:t>SACCOPay</a:t>
            </a:r>
            <a:r>
              <a:rPr lang="en-US" sz="2000" dirty="0">
                <a:solidFill>
                  <a:srgbClr val="242424"/>
                </a:solidFill>
                <a:latin typeface="Helvetica Now"/>
                <a:ea typeface="Helvetica Now"/>
                <a:cs typeface="Helvetica Now"/>
                <a:sym typeface="Helvetica Now"/>
              </a:rPr>
              <a:t> as a driver of SACCOs Expansion</a:t>
            </a:r>
          </a:p>
        </p:txBody>
      </p:sp>
      <p:sp>
        <p:nvSpPr>
          <p:cNvPr id="11" name="TextBox 11"/>
          <p:cNvSpPr txBox="1"/>
          <p:nvPr/>
        </p:nvSpPr>
        <p:spPr>
          <a:xfrm>
            <a:off x="7761513" y="1751891"/>
            <a:ext cx="8545285" cy="1004378"/>
          </a:xfrm>
          <a:prstGeom prst="rect">
            <a:avLst/>
          </a:prstGeom>
        </p:spPr>
        <p:txBody>
          <a:bodyPr wrap="square" lIns="0" tIns="0" rIns="0" bIns="0" rtlCol="0" anchor="t">
            <a:spAutoFit/>
          </a:bodyPr>
          <a:lstStyle/>
          <a:p>
            <a:pPr algn="l">
              <a:lnSpc>
                <a:spcPts val="7699"/>
              </a:lnSpc>
            </a:pPr>
            <a:r>
              <a:rPr lang="en-US" sz="6999" b="1" spc="-349" dirty="0">
                <a:latin typeface="Helvetica Now Bold"/>
                <a:ea typeface="Helvetica Now Bold"/>
                <a:cs typeface="Helvetica Now Bold"/>
                <a:sym typeface="Helvetica Now Bold"/>
              </a:rPr>
              <a:t>Brief Context</a:t>
            </a:r>
          </a:p>
        </p:txBody>
      </p:sp>
      <p:sp>
        <p:nvSpPr>
          <p:cNvPr id="13" name="TextBox 13"/>
          <p:cNvSpPr txBox="1"/>
          <p:nvPr/>
        </p:nvSpPr>
        <p:spPr>
          <a:xfrm>
            <a:off x="10281357" y="3845951"/>
            <a:ext cx="7886612" cy="5490157"/>
          </a:xfrm>
          <a:prstGeom prst="rect">
            <a:avLst/>
          </a:prstGeom>
        </p:spPr>
        <p:txBody>
          <a:bodyPr wrap="square" lIns="0" tIns="0" rIns="0" bIns="0" rtlCol="0" anchor="t">
            <a:spAutoFit/>
          </a:bodyPr>
          <a:lstStyle/>
          <a:p>
            <a:pPr>
              <a:lnSpc>
                <a:spcPts val="2660"/>
              </a:lnSpc>
            </a:pPr>
            <a:r>
              <a:rPr lang="en-US" sz="2200" b="1" dirty="0">
                <a:solidFill>
                  <a:srgbClr val="242424"/>
                </a:solidFill>
                <a:latin typeface="Nirmala UI Semilight" panose="020B0402040204020203" pitchFamily="34" charset="0"/>
                <a:ea typeface="Nirmala UI Semilight" panose="020B0402040204020203" pitchFamily="34" charset="0"/>
                <a:cs typeface="Nirmala UI Semilight" panose="020B0402040204020203" pitchFamily="34" charset="0"/>
                <a:sym typeface="Helvetica Now"/>
              </a:rPr>
              <a:t>SACCO-Link</a:t>
            </a:r>
            <a:r>
              <a:rPr lang="en-US" sz="2200" dirty="0">
                <a:solidFill>
                  <a:srgbClr val="242424"/>
                </a:solidFill>
                <a:latin typeface="Nirmala UI Semilight" panose="020B0402040204020203" pitchFamily="34" charset="0"/>
                <a:ea typeface="Nirmala UI Semilight" panose="020B0402040204020203" pitchFamily="34" charset="0"/>
                <a:cs typeface="Nirmala UI Semilight" panose="020B0402040204020203" pitchFamily="34" charset="0"/>
                <a:sym typeface="Helvetica Now"/>
              </a:rPr>
              <a:t> serves as a core banking solution digitizing SACCOs operations, while </a:t>
            </a:r>
            <a:r>
              <a:rPr lang="en-US" sz="2200" b="1" dirty="0" err="1">
                <a:solidFill>
                  <a:srgbClr val="00B0F0"/>
                </a:solidFill>
                <a:latin typeface="Nirmala UI Semilight" panose="020B0402040204020203" pitchFamily="34" charset="0"/>
                <a:ea typeface="Nirmala UI Semilight" panose="020B0402040204020203" pitchFamily="34" charset="0"/>
                <a:cs typeface="Nirmala UI Semilight" panose="020B0402040204020203" pitchFamily="34" charset="0"/>
                <a:sym typeface="Helvetica Now"/>
              </a:rPr>
              <a:t>SACCOPay</a:t>
            </a:r>
            <a:r>
              <a:rPr lang="en-US" sz="2200" dirty="0">
                <a:solidFill>
                  <a:srgbClr val="242424"/>
                </a:solidFill>
                <a:latin typeface="Nirmala UI Semilight" panose="020B0402040204020203" pitchFamily="34" charset="0"/>
                <a:ea typeface="Nirmala UI Semilight" panose="020B0402040204020203" pitchFamily="34" charset="0"/>
                <a:cs typeface="Nirmala UI Semilight" panose="020B0402040204020203" pitchFamily="34" charset="0"/>
                <a:sym typeface="Helvetica Now"/>
              </a:rPr>
              <a:t> is a mobile banking app built on top of </a:t>
            </a:r>
            <a:r>
              <a:rPr lang="en-US" sz="2200" dirty="0" err="1">
                <a:solidFill>
                  <a:srgbClr val="242424"/>
                </a:solidFill>
                <a:latin typeface="Nirmala UI Semilight" panose="020B0402040204020203" pitchFamily="34" charset="0"/>
                <a:ea typeface="Nirmala UI Semilight" panose="020B0402040204020203" pitchFamily="34" charset="0"/>
                <a:cs typeface="Nirmala UI Semilight" panose="020B0402040204020203" pitchFamily="34" charset="0"/>
                <a:sym typeface="Helvetica Now"/>
              </a:rPr>
              <a:t>SACCOLink</a:t>
            </a:r>
            <a:r>
              <a:rPr lang="en-US" sz="2200" dirty="0">
                <a:solidFill>
                  <a:srgbClr val="242424"/>
                </a:solidFill>
                <a:latin typeface="Nirmala UI Semilight" panose="020B0402040204020203" pitchFamily="34" charset="0"/>
                <a:ea typeface="Nirmala UI Semilight" panose="020B0402040204020203" pitchFamily="34" charset="0"/>
                <a:cs typeface="Nirmala UI Semilight" panose="020B0402040204020203" pitchFamily="34" charset="0"/>
                <a:sym typeface="Helvetica Now"/>
              </a:rPr>
              <a:t>, to connect members to their SACCOs and enable SACCOs to deliver their financial services with ease.</a:t>
            </a:r>
          </a:p>
          <a:p>
            <a:pPr>
              <a:lnSpc>
                <a:spcPts val="2660"/>
              </a:lnSpc>
            </a:pPr>
            <a:endParaRPr lang="en-US" sz="2200" dirty="0">
              <a:solidFill>
                <a:srgbClr val="242424"/>
              </a:solidFill>
              <a:latin typeface="Nirmala UI Semilight" panose="020B0402040204020203" pitchFamily="34" charset="0"/>
              <a:ea typeface="Nirmala UI Semilight" panose="020B0402040204020203" pitchFamily="34" charset="0"/>
              <a:cs typeface="Nirmala UI Semilight" panose="020B0402040204020203" pitchFamily="34" charset="0"/>
              <a:sym typeface="Helvetica Now"/>
            </a:endParaRPr>
          </a:p>
          <a:p>
            <a:pPr>
              <a:lnSpc>
                <a:spcPts val="2660"/>
              </a:lnSpc>
            </a:pPr>
            <a:r>
              <a:rPr lang="en-US" sz="2200" dirty="0">
                <a:solidFill>
                  <a:srgbClr val="242424"/>
                </a:solidFill>
                <a:latin typeface="Nirmala UI Semilight" panose="020B0402040204020203" pitchFamily="34" charset="0"/>
                <a:ea typeface="Nirmala UI Semilight" panose="020B0402040204020203" pitchFamily="34" charset="0"/>
                <a:cs typeface="Nirmala UI Semilight" panose="020B0402040204020203" pitchFamily="34" charset="0"/>
                <a:sym typeface="Helvetica Now"/>
              </a:rPr>
              <a:t>As SACCOs expand and reach more members,</a:t>
            </a:r>
          </a:p>
          <a:p>
            <a:pPr>
              <a:lnSpc>
                <a:spcPts val="2660"/>
              </a:lnSpc>
            </a:pPr>
            <a:endParaRPr lang="en-US" sz="2200" dirty="0">
              <a:solidFill>
                <a:srgbClr val="242424"/>
              </a:solidFill>
              <a:latin typeface="Nirmala UI" panose="020B0502040204020203" pitchFamily="34" charset="0"/>
              <a:ea typeface="Nirmala UI" panose="020B0502040204020203" pitchFamily="34" charset="0"/>
              <a:cs typeface="Nirmala UI" panose="020B0502040204020203" pitchFamily="34" charset="0"/>
              <a:sym typeface="Helvetica Now"/>
            </a:endParaRPr>
          </a:p>
          <a:p>
            <a:pPr marL="342900" indent="-342900">
              <a:buFont typeface="Arial" panose="020B0604020202020204" pitchFamily="34" charset="0"/>
              <a:buChar char="•"/>
            </a:pPr>
            <a:r>
              <a:rPr lang="en-US" sz="2200" dirty="0">
                <a:latin typeface="Nirmala UI Semilight" panose="020B0402040204020203" pitchFamily="34" charset="0"/>
                <a:ea typeface="Nirmala UI Semilight" panose="020B0402040204020203" pitchFamily="34" charset="0"/>
                <a:cs typeface="Nirmala UI Semilight" panose="020B0402040204020203" pitchFamily="34" charset="0"/>
              </a:rPr>
              <a:t>It helps members to access SACCO services anytime, anywhere, without visiting the SACCO or bank.</a:t>
            </a:r>
          </a:p>
          <a:p>
            <a:pPr marL="342900" indent="-342900">
              <a:buFont typeface="Arial" panose="020B0604020202020204" pitchFamily="34" charset="0"/>
              <a:buChar char="•"/>
            </a:pPr>
            <a:r>
              <a:rPr lang="en-US" sz="2200" dirty="0">
                <a:latin typeface="Nirmala UI Semilight" panose="020B0402040204020203" pitchFamily="34" charset="0"/>
                <a:ea typeface="Nirmala UI Semilight" panose="020B0402040204020203" pitchFamily="34" charset="0"/>
                <a:cs typeface="Nirmala UI Semilight" panose="020B0402040204020203" pitchFamily="34" charset="0"/>
              </a:rPr>
              <a:t>Seamlessly connects members with their SACCOs through a single digital platform.</a:t>
            </a:r>
          </a:p>
          <a:p>
            <a:pPr marL="342900" indent="-342900">
              <a:buFont typeface="Arial" panose="020B0604020202020204" pitchFamily="34" charset="0"/>
              <a:buChar char="•"/>
            </a:pPr>
            <a:r>
              <a:rPr lang="en-US" sz="2200" dirty="0">
                <a:latin typeface="Nirmala UI Semilight" panose="020B0402040204020203" pitchFamily="34" charset="0"/>
                <a:ea typeface="Nirmala UI Semilight" panose="020B0402040204020203" pitchFamily="34" charset="0"/>
                <a:cs typeface="Nirmala UI Semilight" panose="020B0402040204020203" pitchFamily="34" charset="0"/>
              </a:rPr>
              <a:t>Keeps member accounts, transactions, and balances synchronized in real time.</a:t>
            </a:r>
          </a:p>
          <a:p>
            <a:pPr marL="342900" indent="-342900">
              <a:lnSpc>
                <a:spcPts val="2660"/>
              </a:lnSpc>
              <a:buFont typeface="Arial" panose="020B0604020202020204" pitchFamily="34" charset="0"/>
              <a:buChar char="•"/>
            </a:pPr>
            <a:endParaRPr lang="en-US" sz="2200" dirty="0">
              <a:solidFill>
                <a:srgbClr val="242424"/>
              </a:solidFill>
              <a:latin typeface="Helvetica Now"/>
              <a:ea typeface="Helvetica Now"/>
              <a:cs typeface="Helvetica Now"/>
              <a:sym typeface="Helvetica Now"/>
            </a:endParaRPr>
          </a:p>
          <a:p>
            <a:pPr marL="342900" indent="-342900">
              <a:lnSpc>
                <a:spcPts val="2660"/>
              </a:lnSpc>
              <a:buFont typeface="Arial" panose="020B0604020202020204" pitchFamily="34" charset="0"/>
              <a:buChar char="•"/>
            </a:pPr>
            <a:endParaRPr lang="en-US" sz="2200" dirty="0">
              <a:solidFill>
                <a:srgbClr val="242424"/>
              </a:solidFill>
              <a:latin typeface="Helvetica Now"/>
              <a:ea typeface="Helvetica Now"/>
              <a:cs typeface="Helvetica Now"/>
              <a:sym typeface="Helvetica Now"/>
            </a:endParaRPr>
          </a:p>
          <a:p>
            <a:pPr marL="342900" indent="-342900">
              <a:lnSpc>
                <a:spcPts val="2660"/>
              </a:lnSpc>
              <a:buFont typeface="Arial" panose="020B0604020202020204" pitchFamily="34" charset="0"/>
              <a:buChar char="•"/>
            </a:pPr>
            <a:endParaRPr lang="en-US" sz="2200" dirty="0">
              <a:solidFill>
                <a:srgbClr val="242424"/>
              </a:solidFill>
              <a:latin typeface="Helvetica Now"/>
              <a:ea typeface="Helvetica Now"/>
              <a:cs typeface="Helvetica Now"/>
              <a:sym typeface="Helvetica Now"/>
            </a:endParaRPr>
          </a:p>
        </p:txBody>
      </p:sp>
      <p:grpSp>
        <p:nvGrpSpPr>
          <p:cNvPr id="15" name="Group 17">
            <a:extLst>
              <a:ext uri="{FF2B5EF4-FFF2-40B4-BE49-F238E27FC236}">
                <a16:creationId xmlns:a16="http://schemas.microsoft.com/office/drawing/2014/main" id="{822E2F30-14BE-5F72-2085-12D764B81855}"/>
              </a:ext>
            </a:extLst>
          </p:cNvPr>
          <p:cNvGrpSpPr/>
          <p:nvPr/>
        </p:nvGrpSpPr>
        <p:grpSpPr>
          <a:xfrm>
            <a:off x="447975" y="342900"/>
            <a:ext cx="1161450" cy="463162"/>
            <a:chOff x="0" y="0"/>
            <a:chExt cx="1548600" cy="617549"/>
          </a:xfrm>
        </p:grpSpPr>
        <p:sp>
          <p:nvSpPr>
            <p:cNvPr id="16" name="Freeform 18">
              <a:extLst>
                <a:ext uri="{FF2B5EF4-FFF2-40B4-BE49-F238E27FC236}">
                  <a16:creationId xmlns:a16="http://schemas.microsoft.com/office/drawing/2014/main" id="{36D0ED6B-8568-8217-BF29-750EC1708353}"/>
                </a:ext>
              </a:extLst>
            </p:cNvPr>
            <p:cNvSpPr/>
            <p:nvPr/>
          </p:nvSpPr>
          <p:spPr>
            <a:xfrm>
              <a:off x="0" y="0"/>
              <a:ext cx="1548638" cy="617601"/>
            </a:xfrm>
            <a:custGeom>
              <a:avLst/>
              <a:gdLst/>
              <a:ahLst/>
              <a:cxnLst/>
              <a:rect l="l" t="t" r="r" b="b"/>
              <a:pathLst>
                <a:path w="1548638" h="617601">
                  <a:moveTo>
                    <a:pt x="0" y="0"/>
                  </a:moveTo>
                  <a:lnTo>
                    <a:pt x="1548638" y="0"/>
                  </a:lnTo>
                  <a:lnTo>
                    <a:pt x="1548638" y="617601"/>
                  </a:lnTo>
                  <a:lnTo>
                    <a:pt x="0" y="617601"/>
                  </a:lnTo>
                  <a:lnTo>
                    <a:pt x="0" y="0"/>
                  </a:lnTo>
                  <a:close/>
                </a:path>
              </a:pathLst>
            </a:custGeom>
            <a:blipFill>
              <a:blip r:embed="rId2"/>
              <a:stretch>
                <a:fillRect t="-3" r="2" b="4"/>
              </a:stretch>
            </a:blipFill>
          </p:spPr>
        </p:sp>
      </p:grpSp>
      <p:pic>
        <p:nvPicPr>
          <p:cNvPr id="14" name="object 13" descr="object 13">
            <a:extLst>
              <a:ext uri="{FF2B5EF4-FFF2-40B4-BE49-F238E27FC236}">
                <a16:creationId xmlns:a16="http://schemas.microsoft.com/office/drawing/2014/main" id="{E9D7E86A-F731-8742-985B-65FD5A391F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6226"/>
          <a:stretch>
            <a:fillRect/>
          </a:stretch>
        </p:blipFill>
        <p:spPr bwMode="auto">
          <a:xfrm>
            <a:off x="-1752600" y="1423418"/>
            <a:ext cx="10082582" cy="744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17" name="Freeform 9">
            <a:extLst>
              <a:ext uri="{FF2B5EF4-FFF2-40B4-BE49-F238E27FC236}">
                <a16:creationId xmlns:a16="http://schemas.microsoft.com/office/drawing/2014/main" id="{CCB0FC60-4369-AEF3-2BDC-349424532C00}"/>
              </a:ext>
            </a:extLst>
          </p:cNvPr>
          <p:cNvSpPr/>
          <p:nvPr/>
        </p:nvSpPr>
        <p:spPr>
          <a:xfrm>
            <a:off x="1785945" y="4606767"/>
            <a:ext cx="5168523" cy="271347"/>
          </a:xfrm>
          <a:custGeom>
            <a:avLst/>
            <a:gdLst/>
            <a:ahLst/>
            <a:cxnLst/>
            <a:rect l="l" t="t" r="r" b="b"/>
            <a:pathLst>
              <a:path w="5168523" h="271347">
                <a:moveTo>
                  <a:pt x="0" y="0"/>
                </a:moveTo>
                <a:lnTo>
                  <a:pt x="5168524" y="0"/>
                </a:lnTo>
                <a:lnTo>
                  <a:pt x="5168524" y="271348"/>
                </a:lnTo>
                <a:lnTo>
                  <a:pt x="0" y="271348"/>
                </a:lnTo>
                <a:lnTo>
                  <a:pt x="0" y="0"/>
                </a:lnTo>
                <a:close/>
              </a:path>
            </a:pathLst>
          </a:custGeom>
          <a:blipFill>
            <a:blip r:embed="rId4"/>
            <a:stretch>
              <a:fillRect/>
            </a:stretch>
          </a:blipFill>
        </p:spPr>
      </p:sp>
      <p:sp>
        <p:nvSpPr>
          <p:cNvPr id="18" name="TextBox 16">
            <a:extLst>
              <a:ext uri="{FF2B5EF4-FFF2-40B4-BE49-F238E27FC236}">
                <a16:creationId xmlns:a16="http://schemas.microsoft.com/office/drawing/2014/main" id="{6919D7D0-FF8C-8EC2-BABB-F79A3453D227}"/>
              </a:ext>
            </a:extLst>
          </p:cNvPr>
          <p:cNvSpPr txBox="1"/>
          <p:nvPr/>
        </p:nvSpPr>
        <p:spPr>
          <a:xfrm>
            <a:off x="2459086" y="3569750"/>
            <a:ext cx="4495383" cy="718145"/>
          </a:xfrm>
          <a:prstGeom prst="rect">
            <a:avLst/>
          </a:prstGeom>
        </p:spPr>
        <p:txBody>
          <a:bodyPr wrap="square" lIns="0" tIns="0" rIns="0" bIns="0" rtlCol="0" anchor="t">
            <a:spAutoFit/>
          </a:bodyPr>
          <a:lstStyle/>
          <a:p>
            <a:pPr algn="l">
              <a:lnSpc>
                <a:spcPts val="5565"/>
              </a:lnSpc>
            </a:pPr>
            <a:r>
              <a:rPr lang="en-US" sz="5300" b="1" dirty="0">
                <a:solidFill>
                  <a:srgbClr val="00ADEF"/>
                </a:solidFill>
                <a:latin typeface="Nirmala UI Semilight" panose="020B0402040204020203" pitchFamily="34" charset="0"/>
                <a:ea typeface="Nirmala UI Semilight" panose="020B0402040204020203" pitchFamily="34" charset="0"/>
                <a:cs typeface="Nirmala UI Semilight" panose="020B0402040204020203" pitchFamily="34" charset="0"/>
                <a:sym typeface="Inter Bold"/>
              </a:rPr>
              <a:t>SACCO-Pay</a:t>
            </a:r>
          </a:p>
        </p:txBody>
      </p:sp>
      <p:sp>
        <p:nvSpPr>
          <p:cNvPr id="19" name="TextBox 15">
            <a:extLst>
              <a:ext uri="{FF2B5EF4-FFF2-40B4-BE49-F238E27FC236}">
                <a16:creationId xmlns:a16="http://schemas.microsoft.com/office/drawing/2014/main" id="{1DAA2505-CDAE-2A69-F1EE-6A675C76CB92}"/>
              </a:ext>
            </a:extLst>
          </p:cNvPr>
          <p:cNvSpPr txBox="1"/>
          <p:nvPr/>
        </p:nvSpPr>
        <p:spPr>
          <a:xfrm>
            <a:off x="1804281" y="4944016"/>
            <a:ext cx="5168515" cy="464871"/>
          </a:xfrm>
          <a:prstGeom prst="rect">
            <a:avLst/>
          </a:prstGeom>
        </p:spPr>
        <p:txBody>
          <a:bodyPr wrap="square" lIns="0" tIns="0" rIns="0" bIns="0" rtlCol="0" anchor="t">
            <a:spAutoFit/>
          </a:bodyPr>
          <a:lstStyle/>
          <a:p>
            <a:pPr algn="l">
              <a:lnSpc>
                <a:spcPts val="3919"/>
              </a:lnSpc>
              <a:spcBef>
                <a:spcPct val="0"/>
              </a:spcBef>
            </a:pPr>
            <a:r>
              <a:rPr lang="en-US" sz="2799" dirty="0">
                <a:solidFill>
                  <a:srgbClr val="E48525"/>
                </a:solidFill>
                <a:latin typeface="Nirmala UI Semilight" panose="020B0402040204020203" pitchFamily="34" charset="0"/>
                <a:ea typeface="Nirmala UI Semilight" panose="020B0402040204020203" pitchFamily="34" charset="0"/>
                <a:cs typeface="Nirmala UI Semilight" panose="020B0402040204020203" pitchFamily="34" charset="0"/>
                <a:sym typeface="Roboto"/>
              </a:rPr>
              <a:t>SACCOs Mobile Banking Solution</a:t>
            </a:r>
          </a:p>
        </p:txBody>
      </p:sp>
      <p:sp>
        <p:nvSpPr>
          <p:cNvPr id="20" name="AutoShape 2">
            <a:extLst>
              <a:ext uri="{FF2B5EF4-FFF2-40B4-BE49-F238E27FC236}">
                <a16:creationId xmlns:a16="http://schemas.microsoft.com/office/drawing/2014/main" id="{B4773B96-50FE-0503-2985-499AB7BE031B}"/>
              </a:ext>
            </a:extLst>
          </p:cNvPr>
          <p:cNvSpPr/>
          <p:nvPr/>
        </p:nvSpPr>
        <p:spPr>
          <a:xfrm rot="5400000">
            <a:off x="2271641" y="5200650"/>
            <a:ext cx="10172700" cy="0"/>
          </a:xfrm>
          <a:prstGeom prst="line">
            <a:avLst/>
          </a:prstGeom>
          <a:ln w="9525" cap="rnd">
            <a:solidFill>
              <a:srgbClr val="C8C8C8"/>
            </a:solidFill>
            <a:prstDash val="solid"/>
            <a:headEnd type="none" w="sm" len="sm"/>
            <a:tailEnd type="none" w="sm" len="sm"/>
          </a:ln>
        </p:spPr>
      </p:sp>
      <p:sp>
        <p:nvSpPr>
          <p:cNvPr id="2" name="Freeform 35">
            <a:extLst>
              <a:ext uri="{FF2B5EF4-FFF2-40B4-BE49-F238E27FC236}">
                <a16:creationId xmlns:a16="http://schemas.microsoft.com/office/drawing/2014/main" id="{7D8BBD8D-92AF-CEDC-1136-51885253CAB7}"/>
              </a:ext>
            </a:extLst>
          </p:cNvPr>
          <p:cNvSpPr/>
          <p:nvPr/>
        </p:nvSpPr>
        <p:spPr>
          <a:xfrm>
            <a:off x="7101233" y="3730638"/>
            <a:ext cx="3033360" cy="5426483"/>
          </a:xfrm>
          <a:custGeom>
            <a:avLst/>
            <a:gdLst/>
            <a:ahLst/>
            <a:cxnLst/>
            <a:rect l="l" t="t" r="r" b="b"/>
            <a:pathLst>
              <a:path w="3938147" h="8423844">
                <a:moveTo>
                  <a:pt x="0" y="0"/>
                </a:moveTo>
                <a:lnTo>
                  <a:pt x="3938147" y="0"/>
                </a:lnTo>
                <a:lnTo>
                  <a:pt x="3938147" y="8423844"/>
                </a:lnTo>
                <a:lnTo>
                  <a:pt x="0" y="8423844"/>
                </a:lnTo>
                <a:lnTo>
                  <a:pt x="0" y="0"/>
                </a:lnTo>
                <a:close/>
              </a:path>
            </a:pathLst>
          </a:custGeom>
          <a:blipFill>
            <a:blip r:embed="rId5"/>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 name="AutoShape 2"/>
          <p:cNvSpPr/>
          <p:nvPr/>
        </p:nvSpPr>
        <p:spPr>
          <a:xfrm>
            <a:off x="9771641" y="7222855"/>
            <a:ext cx="7487659" cy="0"/>
          </a:xfrm>
          <a:prstGeom prst="line">
            <a:avLst/>
          </a:prstGeom>
          <a:ln w="9525" cap="flat">
            <a:solidFill>
              <a:srgbClr val="000000"/>
            </a:solidFill>
            <a:prstDash val="solid"/>
            <a:headEnd type="none" w="sm" len="sm"/>
            <a:tailEnd type="none" w="sm" len="sm"/>
          </a:ln>
        </p:spPr>
      </p:sp>
      <p:sp>
        <p:nvSpPr>
          <p:cNvPr id="3" name="AutoShape 3"/>
          <p:cNvSpPr/>
          <p:nvPr/>
        </p:nvSpPr>
        <p:spPr>
          <a:xfrm>
            <a:off x="9771641" y="4763929"/>
            <a:ext cx="7487659" cy="0"/>
          </a:xfrm>
          <a:prstGeom prst="line">
            <a:avLst/>
          </a:prstGeom>
          <a:ln w="9525" cap="flat">
            <a:solidFill>
              <a:srgbClr val="000000"/>
            </a:solidFill>
            <a:prstDash val="solid"/>
            <a:headEnd type="none" w="sm" len="sm"/>
            <a:tailEnd type="none" w="sm" len="sm"/>
          </a:ln>
        </p:spPr>
      </p:sp>
      <p:sp>
        <p:nvSpPr>
          <p:cNvPr id="4" name="AutoShape 4"/>
          <p:cNvSpPr/>
          <p:nvPr/>
        </p:nvSpPr>
        <p:spPr>
          <a:xfrm>
            <a:off x="9771641" y="2303623"/>
            <a:ext cx="7487659" cy="0"/>
          </a:xfrm>
          <a:prstGeom prst="line">
            <a:avLst/>
          </a:prstGeom>
          <a:ln w="9525" cap="flat">
            <a:solidFill>
              <a:srgbClr val="000000"/>
            </a:solidFill>
            <a:prstDash val="solid"/>
            <a:headEnd type="none" w="sm" len="sm"/>
            <a:tailEnd type="none" w="sm" len="sm"/>
          </a:ln>
        </p:spPr>
      </p:sp>
      <p:grpSp>
        <p:nvGrpSpPr>
          <p:cNvPr id="5" name="Group 5"/>
          <p:cNvGrpSpPr/>
          <p:nvPr/>
        </p:nvGrpSpPr>
        <p:grpSpPr>
          <a:xfrm>
            <a:off x="11822818" y="1835946"/>
            <a:ext cx="238125" cy="238125"/>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a:solidFill>
                <a:srgbClr val="FFBD59"/>
              </a:solidFill>
              <a:prstDash val="solid"/>
              <a:miter/>
            </a:ln>
          </p:spPr>
        </p:sp>
        <p:sp>
          <p:nvSpPr>
            <p:cNvPr id="7" name="TextBox 7"/>
            <p:cNvSpPr txBox="1"/>
            <p:nvPr/>
          </p:nvSpPr>
          <p:spPr>
            <a:xfrm>
              <a:off x="76200" y="76200"/>
              <a:ext cx="660400" cy="660400"/>
            </a:xfrm>
            <a:prstGeom prst="rect">
              <a:avLst/>
            </a:prstGeom>
          </p:spPr>
          <p:txBody>
            <a:bodyPr lIns="50800" tIns="50800" rIns="50800" bIns="50800" rtlCol="0" anchor="ctr"/>
            <a:lstStyle/>
            <a:p>
              <a:pPr algn="ctr">
                <a:lnSpc>
                  <a:spcPts val="139"/>
                </a:lnSpc>
              </a:pPr>
              <a:endParaRPr/>
            </a:p>
          </p:txBody>
        </p:sp>
      </p:grpSp>
      <p:grpSp>
        <p:nvGrpSpPr>
          <p:cNvPr id="8" name="Group 8"/>
          <p:cNvGrpSpPr/>
          <p:nvPr/>
        </p:nvGrpSpPr>
        <p:grpSpPr>
          <a:xfrm>
            <a:off x="11822818" y="4296252"/>
            <a:ext cx="238125" cy="238125"/>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a:solidFill>
                <a:srgbClr val="008037"/>
              </a:solidFill>
              <a:prstDash val="solid"/>
              <a:miter/>
            </a:ln>
          </p:spPr>
        </p:sp>
        <p:sp>
          <p:nvSpPr>
            <p:cNvPr id="10" name="TextBox 10"/>
            <p:cNvSpPr txBox="1"/>
            <p:nvPr/>
          </p:nvSpPr>
          <p:spPr>
            <a:xfrm>
              <a:off x="76200" y="76200"/>
              <a:ext cx="660400" cy="660400"/>
            </a:xfrm>
            <a:prstGeom prst="rect">
              <a:avLst/>
            </a:prstGeom>
          </p:spPr>
          <p:txBody>
            <a:bodyPr lIns="50800" tIns="50800" rIns="50800" bIns="50800" rtlCol="0" anchor="ctr"/>
            <a:lstStyle/>
            <a:p>
              <a:pPr algn="ctr">
                <a:lnSpc>
                  <a:spcPts val="139"/>
                </a:lnSpc>
              </a:pPr>
              <a:endParaRPr/>
            </a:p>
          </p:txBody>
        </p:sp>
      </p:grpSp>
      <p:grpSp>
        <p:nvGrpSpPr>
          <p:cNvPr id="11" name="Group 11"/>
          <p:cNvGrpSpPr/>
          <p:nvPr/>
        </p:nvGrpSpPr>
        <p:grpSpPr>
          <a:xfrm>
            <a:off x="11822818" y="6756557"/>
            <a:ext cx="238125" cy="238125"/>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5757"/>
            </a:solidFill>
            <a:ln w="28575" cap="sq">
              <a:solidFill>
                <a:srgbClr val="FF1616"/>
              </a:solidFill>
              <a:prstDash val="solid"/>
              <a:miter/>
            </a:ln>
          </p:spPr>
        </p:sp>
        <p:sp>
          <p:nvSpPr>
            <p:cNvPr id="13" name="TextBox 13"/>
            <p:cNvSpPr txBox="1"/>
            <p:nvPr/>
          </p:nvSpPr>
          <p:spPr>
            <a:xfrm>
              <a:off x="76200" y="76200"/>
              <a:ext cx="660400" cy="660400"/>
            </a:xfrm>
            <a:prstGeom prst="rect">
              <a:avLst/>
            </a:prstGeom>
          </p:spPr>
          <p:txBody>
            <a:bodyPr lIns="50800" tIns="50800" rIns="50800" bIns="50800" rtlCol="0" anchor="ctr"/>
            <a:lstStyle/>
            <a:p>
              <a:pPr algn="ctr">
                <a:lnSpc>
                  <a:spcPts val="139"/>
                </a:lnSpc>
              </a:pPr>
              <a:endParaRPr/>
            </a:p>
          </p:txBody>
        </p:sp>
      </p:grpSp>
      <p:grpSp>
        <p:nvGrpSpPr>
          <p:cNvPr id="14" name="Group 14"/>
          <p:cNvGrpSpPr/>
          <p:nvPr/>
        </p:nvGrpSpPr>
        <p:grpSpPr>
          <a:xfrm>
            <a:off x="1028700" y="5073633"/>
            <a:ext cx="186732" cy="186732"/>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a:ln w="28575" cap="sq">
              <a:solidFill>
                <a:srgbClr val="FFBD59"/>
              </a:solidFill>
              <a:prstDash val="solid"/>
              <a:miter/>
            </a:ln>
          </p:spPr>
        </p:sp>
        <p:sp>
          <p:nvSpPr>
            <p:cNvPr id="16" name="TextBox 16"/>
            <p:cNvSpPr txBox="1"/>
            <p:nvPr/>
          </p:nvSpPr>
          <p:spPr>
            <a:xfrm>
              <a:off x="76200" y="76200"/>
              <a:ext cx="660400" cy="660400"/>
            </a:xfrm>
            <a:prstGeom prst="rect">
              <a:avLst/>
            </a:prstGeom>
          </p:spPr>
          <p:txBody>
            <a:bodyPr lIns="50800" tIns="50800" rIns="50800" bIns="50800" rtlCol="0" anchor="ctr"/>
            <a:lstStyle/>
            <a:p>
              <a:pPr algn="ctr">
                <a:lnSpc>
                  <a:spcPts val="139"/>
                </a:lnSpc>
              </a:pPr>
              <a:endParaRPr/>
            </a:p>
          </p:txBody>
        </p:sp>
      </p:grpSp>
      <p:grpSp>
        <p:nvGrpSpPr>
          <p:cNvPr id="17" name="Group 17"/>
          <p:cNvGrpSpPr/>
          <p:nvPr/>
        </p:nvGrpSpPr>
        <p:grpSpPr>
          <a:xfrm>
            <a:off x="1028700" y="4675326"/>
            <a:ext cx="186732" cy="186732"/>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a:solidFill>
                <a:srgbClr val="008037"/>
              </a:solidFill>
              <a:prstDash val="solid"/>
              <a:miter/>
            </a:ln>
          </p:spPr>
        </p:sp>
        <p:sp>
          <p:nvSpPr>
            <p:cNvPr id="19" name="TextBox 19"/>
            <p:cNvSpPr txBox="1"/>
            <p:nvPr/>
          </p:nvSpPr>
          <p:spPr>
            <a:xfrm>
              <a:off x="76200" y="76200"/>
              <a:ext cx="660400" cy="660400"/>
            </a:xfrm>
            <a:prstGeom prst="rect">
              <a:avLst/>
            </a:prstGeom>
          </p:spPr>
          <p:txBody>
            <a:bodyPr lIns="50800" tIns="50800" rIns="50800" bIns="50800" rtlCol="0" anchor="ctr"/>
            <a:lstStyle/>
            <a:p>
              <a:pPr algn="ctr">
                <a:lnSpc>
                  <a:spcPts val="139"/>
                </a:lnSpc>
              </a:pPr>
              <a:endParaRPr/>
            </a:p>
          </p:txBody>
        </p:sp>
      </p:grpSp>
      <p:grpSp>
        <p:nvGrpSpPr>
          <p:cNvPr id="20" name="Group 20"/>
          <p:cNvGrpSpPr/>
          <p:nvPr/>
        </p:nvGrpSpPr>
        <p:grpSpPr>
          <a:xfrm>
            <a:off x="1028700" y="7355884"/>
            <a:ext cx="186732" cy="18673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5757"/>
            </a:solidFill>
            <a:ln w="28575" cap="sq">
              <a:solidFill>
                <a:srgbClr val="FF1616"/>
              </a:solidFill>
              <a:prstDash val="solid"/>
              <a:miter/>
            </a:ln>
          </p:spPr>
        </p:sp>
        <p:sp>
          <p:nvSpPr>
            <p:cNvPr id="22" name="TextBox 22"/>
            <p:cNvSpPr txBox="1"/>
            <p:nvPr/>
          </p:nvSpPr>
          <p:spPr>
            <a:xfrm>
              <a:off x="76200" y="76200"/>
              <a:ext cx="660400" cy="660400"/>
            </a:xfrm>
            <a:prstGeom prst="rect">
              <a:avLst/>
            </a:prstGeom>
          </p:spPr>
          <p:txBody>
            <a:bodyPr lIns="50800" tIns="50800" rIns="50800" bIns="50800" rtlCol="0" anchor="ctr"/>
            <a:lstStyle/>
            <a:p>
              <a:pPr algn="ctr">
                <a:lnSpc>
                  <a:spcPts val="139"/>
                </a:lnSpc>
              </a:pPr>
              <a:endParaRPr/>
            </a:p>
          </p:txBody>
        </p:sp>
      </p:grpSp>
      <p:grpSp>
        <p:nvGrpSpPr>
          <p:cNvPr id="23" name="Group 23"/>
          <p:cNvGrpSpPr/>
          <p:nvPr/>
        </p:nvGrpSpPr>
        <p:grpSpPr>
          <a:xfrm>
            <a:off x="1028700" y="5469915"/>
            <a:ext cx="186732" cy="186732"/>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a:solidFill>
                <a:srgbClr val="008037"/>
              </a:solidFill>
              <a:prstDash val="solid"/>
              <a:miter/>
            </a:ln>
          </p:spPr>
        </p:sp>
        <p:sp>
          <p:nvSpPr>
            <p:cNvPr id="25" name="TextBox 25"/>
            <p:cNvSpPr txBox="1"/>
            <p:nvPr/>
          </p:nvSpPr>
          <p:spPr>
            <a:xfrm>
              <a:off x="76200" y="76200"/>
              <a:ext cx="660400" cy="660400"/>
            </a:xfrm>
            <a:prstGeom prst="rect">
              <a:avLst/>
            </a:prstGeom>
          </p:spPr>
          <p:txBody>
            <a:bodyPr lIns="50800" tIns="50800" rIns="50800" bIns="50800" rtlCol="0" anchor="ctr"/>
            <a:lstStyle/>
            <a:p>
              <a:pPr algn="ctr">
                <a:lnSpc>
                  <a:spcPts val="139"/>
                </a:lnSpc>
              </a:pPr>
              <a:endParaRPr/>
            </a:p>
          </p:txBody>
        </p:sp>
      </p:grpSp>
      <p:grpSp>
        <p:nvGrpSpPr>
          <p:cNvPr id="26" name="Group 26"/>
          <p:cNvGrpSpPr/>
          <p:nvPr/>
        </p:nvGrpSpPr>
        <p:grpSpPr>
          <a:xfrm>
            <a:off x="1028700" y="6559552"/>
            <a:ext cx="186732" cy="186732"/>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a:ln w="28575" cap="sq">
              <a:solidFill>
                <a:srgbClr val="008037"/>
              </a:solidFill>
              <a:prstDash val="solid"/>
              <a:miter/>
            </a:ln>
          </p:spPr>
        </p:sp>
        <p:sp>
          <p:nvSpPr>
            <p:cNvPr id="28" name="TextBox 28"/>
            <p:cNvSpPr txBox="1"/>
            <p:nvPr/>
          </p:nvSpPr>
          <p:spPr>
            <a:xfrm>
              <a:off x="76200" y="76200"/>
              <a:ext cx="660400" cy="660400"/>
            </a:xfrm>
            <a:prstGeom prst="rect">
              <a:avLst/>
            </a:prstGeom>
          </p:spPr>
          <p:txBody>
            <a:bodyPr lIns="50800" tIns="50800" rIns="50800" bIns="50800" rtlCol="0" anchor="ctr"/>
            <a:lstStyle/>
            <a:p>
              <a:pPr algn="ctr">
                <a:lnSpc>
                  <a:spcPts val="139"/>
                </a:lnSpc>
              </a:pPr>
              <a:endParaRPr/>
            </a:p>
          </p:txBody>
        </p:sp>
      </p:grpSp>
      <p:grpSp>
        <p:nvGrpSpPr>
          <p:cNvPr id="29" name="Group 29"/>
          <p:cNvGrpSpPr/>
          <p:nvPr/>
        </p:nvGrpSpPr>
        <p:grpSpPr>
          <a:xfrm>
            <a:off x="1028700" y="6955834"/>
            <a:ext cx="186732" cy="186732"/>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5757"/>
            </a:solidFill>
            <a:ln w="28575" cap="sq">
              <a:solidFill>
                <a:srgbClr val="FF1616"/>
              </a:solidFill>
              <a:prstDash val="solid"/>
              <a:miter/>
            </a:ln>
          </p:spPr>
        </p:sp>
        <p:sp>
          <p:nvSpPr>
            <p:cNvPr id="31" name="TextBox 31"/>
            <p:cNvSpPr txBox="1"/>
            <p:nvPr/>
          </p:nvSpPr>
          <p:spPr>
            <a:xfrm>
              <a:off x="76200" y="76200"/>
              <a:ext cx="660400" cy="660400"/>
            </a:xfrm>
            <a:prstGeom prst="rect">
              <a:avLst/>
            </a:prstGeom>
          </p:spPr>
          <p:txBody>
            <a:bodyPr lIns="50800" tIns="50800" rIns="50800" bIns="50800" rtlCol="0" anchor="ctr"/>
            <a:lstStyle/>
            <a:p>
              <a:pPr algn="ctr">
                <a:lnSpc>
                  <a:spcPts val="139"/>
                </a:lnSpc>
              </a:pPr>
              <a:endParaRPr/>
            </a:p>
          </p:txBody>
        </p:sp>
      </p:grpSp>
      <p:grpSp>
        <p:nvGrpSpPr>
          <p:cNvPr id="32" name="Group 32"/>
          <p:cNvGrpSpPr/>
          <p:nvPr/>
        </p:nvGrpSpPr>
        <p:grpSpPr>
          <a:xfrm>
            <a:off x="769827" y="1431877"/>
            <a:ext cx="5554773" cy="523131"/>
            <a:chOff x="0" y="-38100"/>
            <a:chExt cx="4458735" cy="425148"/>
          </a:xfrm>
        </p:grpSpPr>
        <p:sp>
          <p:nvSpPr>
            <p:cNvPr id="33" name="Freeform 33"/>
            <p:cNvSpPr/>
            <p:nvPr/>
          </p:nvSpPr>
          <p:spPr>
            <a:xfrm>
              <a:off x="0" y="0"/>
              <a:ext cx="4458735" cy="387048"/>
            </a:xfrm>
            <a:custGeom>
              <a:avLst/>
              <a:gdLst/>
              <a:ahLst/>
              <a:cxnLst/>
              <a:rect l="l" t="t" r="r" b="b"/>
              <a:pathLst>
                <a:path w="4458735" h="387048">
                  <a:moveTo>
                    <a:pt x="4255535" y="0"/>
                  </a:moveTo>
                  <a:cubicBezTo>
                    <a:pt x="4367759" y="0"/>
                    <a:pt x="4458735" y="86644"/>
                    <a:pt x="4458735" y="193524"/>
                  </a:cubicBezTo>
                  <a:cubicBezTo>
                    <a:pt x="4458735" y="300404"/>
                    <a:pt x="4367759" y="387048"/>
                    <a:pt x="4255535" y="387048"/>
                  </a:cubicBezTo>
                  <a:lnTo>
                    <a:pt x="203200" y="387048"/>
                  </a:lnTo>
                  <a:cubicBezTo>
                    <a:pt x="90976" y="387048"/>
                    <a:pt x="0" y="300404"/>
                    <a:pt x="0" y="193524"/>
                  </a:cubicBezTo>
                  <a:cubicBezTo>
                    <a:pt x="0" y="86644"/>
                    <a:pt x="90976" y="0"/>
                    <a:pt x="203200" y="0"/>
                  </a:cubicBezTo>
                  <a:close/>
                </a:path>
              </a:pathLst>
            </a:custGeom>
            <a:solidFill>
              <a:srgbClr val="40A8EF"/>
            </a:solidFill>
          </p:spPr>
        </p:sp>
        <p:sp>
          <p:nvSpPr>
            <p:cNvPr id="34" name="TextBox 34"/>
            <p:cNvSpPr txBox="1"/>
            <p:nvPr/>
          </p:nvSpPr>
          <p:spPr>
            <a:xfrm>
              <a:off x="0" y="-38100"/>
              <a:ext cx="4342407" cy="425148"/>
            </a:xfrm>
            <a:prstGeom prst="rect">
              <a:avLst/>
            </a:prstGeom>
          </p:spPr>
          <p:txBody>
            <a:bodyPr lIns="50800" tIns="50800" rIns="50800" bIns="50800" rtlCol="0" anchor="ctr"/>
            <a:lstStyle/>
            <a:p>
              <a:pPr algn="ctr">
                <a:lnSpc>
                  <a:spcPts val="2520"/>
                </a:lnSpc>
              </a:pPr>
              <a:r>
                <a:rPr lang="en-US" sz="1800" b="1" dirty="0">
                  <a:solidFill>
                    <a:srgbClr val="FFFFFF"/>
                  </a:solidFill>
                  <a:latin typeface="TT Norms Bold"/>
                  <a:ea typeface="TT Norms Bold"/>
                  <a:cs typeface="TT Norms Bold"/>
                  <a:sym typeface="TT Norms Bold"/>
                </a:rPr>
                <a:t>SACCOPAY MOBILE BANKING</a:t>
              </a:r>
            </a:p>
          </p:txBody>
        </p:sp>
      </p:grpSp>
      <p:sp>
        <p:nvSpPr>
          <p:cNvPr id="35" name="Freeform 35"/>
          <p:cNvSpPr/>
          <p:nvPr/>
        </p:nvSpPr>
        <p:spPr>
          <a:xfrm>
            <a:off x="6998846" y="1257993"/>
            <a:ext cx="3938147" cy="8423844"/>
          </a:xfrm>
          <a:custGeom>
            <a:avLst/>
            <a:gdLst/>
            <a:ahLst/>
            <a:cxnLst/>
            <a:rect l="l" t="t" r="r" b="b"/>
            <a:pathLst>
              <a:path w="3938147" h="8423844">
                <a:moveTo>
                  <a:pt x="0" y="0"/>
                </a:moveTo>
                <a:lnTo>
                  <a:pt x="3938147" y="0"/>
                </a:lnTo>
                <a:lnTo>
                  <a:pt x="3938147" y="8423844"/>
                </a:lnTo>
                <a:lnTo>
                  <a:pt x="0" y="8423844"/>
                </a:lnTo>
                <a:lnTo>
                  <a:pt x="0" y="0"/>
                </a:lnTo>
                <a:close/>
              </a:path>
            </a:pathLst>
          </a:custGeom>
          <a:blipFill>
            <a:blip r:embed="rId2"/>
            <a:stretch>
              <a:fillRect/>
            </a:stretch>
          </a:blipFill>
        </p:spPr>
      </p:sp>
      <p:sp>
        <p:nvSpPr>
          <p:cNvPr id="36" name="TextBox 36"/>
          <p:cNvSpPr txBox="1"/>
          <p:nvPr/>
        </p:nvSpPr>
        <p:spPr>
          <a:xfrm>
            <a:off x="12227440" y="7326677"/>
            <a:ext cx="5031860" cy="798937"/>
          </a:xfrm>
          <a:prstGeom prst="rect">
            <a:avLst/>
          </a:prstGeom>
        </p:spPr>
        <p:txBody>
          <a:bodyPr lIns="0" tIns="0" rIns="0" bIns="0" rtlCol="0" anchor="t">
            <a:spAutoFit/>
          </a:bodyPr>
          <a:lstStyle/>
          <a:p>
            <a:pPr marL="0" lvl="0" indent="0" algn="l">
              <a:lnSpc>
                <a:spcPts val="3150"/>
              </a:lnSpc>
              <a:spcBef>
                <a:spcPct val="0"/>
              </a:spcBef>
            </a:pPr>
            <a:r>
              <a:rPr lang="en-US" sz="2100" spc="-21" dirty="0">
                <a:solidFill>
                  <a:srgbClr val="2E2E2E"/>
                </a:solidFill>
                <a:latin typeface="TT Fors"/>
                <a:ea typeface="TT Fors"/>
                <a:cs typeface="TT Fors"/>
                <a:sym typeface="TT Fors"/>
              </a:rPr>
              <a:t>SACCOs tailored SMS and Receipts of transactions</a:t>
            </a:r>
          </a:p>
        </p:txBody>
      </p:sp>
      <p:sp>
        <p:nvSpPr>
          <p:cNvPr id="37" name="TextBox 37"/>
          <p:cNvSpPr txBox="1"/>
          <p:nvPr/>
        </p:nvSpPr>
        <p:spPr>
          <a:xfrm>
            <a:off x="12200049" y="6624686"/>
            <a:ext cx="5059251" cy="441959"/>
          </a:xfrm>
          <a:prstGeom prst="rect">
            <a:avLst/>
          </a:prstGeom>
        </p:spPr>
        <p:txBody>
          <a:bodyPr lIns="0" tIns="0" rIns="0" bIns="0" rtlCol="0" anchor="t">
            <a:spAutoFit/>
          </a:bodyPr>
          <a:lstStyle/>
          <a:p>
            <a:pPr algn="l">
              <a:lnSpc>
                <a:spcPts val="3600"/>
              </a:lnSpc>
            </a:pPr>
            <a:r>
              <a:rPr lang="en-US" sz="2400" b="1">
                <a:solidFill>
                  <a:srgbClr val="000000"/>
                </a:solidFill>
                <a:latin typeface="TT Norms Bold"/>
                <a:ea typeface="TT Norms Bold"/>
                <a:cs typeface="TT Norms Bold"/>
                <a:sym typeface="TT Norms Bold"/>
              </a:rPr>
              <a:t>SMS Alerts and Receipts</a:t>
            </a:r>
          </a:p>
        </p:txBody>
      </p:sp>
      <p:sp>
        <p:nvSpPr>
          <p:cNvPr id="38" name="TextBox 38"/>
          <p:cNvSpPr txBox="1"/>
          <p:nvPr/>
        </p:nvSpPr>
        <p:spPr>
          <a:xfrm>
            <a:off x="12227440" y="4867752"/>
            <a:ext cx="5031860" cy="798937"/>
          </a:xfrm>
          <a:prstGeom prst="rect">
            <a:avLst/>
          </a:prstGeom>
        </p:spPr>
        <p:txBody>
          <a:bodyPr lIns="0" tIns="0" rIns="0" bIns="0" rtlCol="0" anchor="t">
            <a:spAutoFit/>
          </a:bodyPr>
          <a:lstStyle/>
          <a:p>
            <a:pPr marL="0" lvl="0" indent="0" algn="l">
              <a:lnSpc>
                <a:spcPts val="3150"/>
              </a:lnSpc>
              <a:spcBef>
                <a:spcPct val="0"/>
              </a:spcBef>
            </a:pPr>
            <a:r>
              <a:rPr lang="en-US" sz="2100" spc="-21" dirty="0">
                <a:solidFill>
                  <a:srgbClr val="2E2E2E"/>
                </a:solidFill>
                <a:latin typeface="TT Fors"/>
                <a:ea typeface="TT Fors"/>
                <a:cs typeface="TT Fors"/>
                <a:sym typeface="TT Fors"/>
              </a:rPr>
              <a:t>Enables existing members to apply for loans anywhere and anytime.</a:t>
            </a:r>
          </a:p>
        </p:txBody>
      </p:sp>
      <p:sp>
        <p:nvSpPr>
          <p:cNvPr id="39" name="TextBox 39"/>
          <p:cNvSpPr txBox="1"/>
          <p:nvPr/>
        </p:nvSpPr>
        <p:spPr>
          <a:xfrm>
            <a:off x="12200049" y="4165760"/>
            <a:ext cx="5059251" cy="441959"/>
          </a:xfrm>
          <a:prstGeom prst="rect">
            <a:avLst/>
          </a:prstGeom>
        </p:spPr>
        <p:txBody>
          <a:bodyPr lIns="0" tIns="0" rIns="0" bIns="0" rtlCol="0" anchor="t">
            <a:spAutoFit/>
          </a:bodyPr>
          <a:lstStyle/>
          <a:p>
            <a:pPr algn="l">
              <a:lnSpc>
                <a:spcPts val="3600"/>
              </a:lnSpc>
            </a:pPr>
            <a:r>
              <a:rPr lang="en-US" sz="2400" b="1" dirty="0">
                <a:solidFill>
                  <a:srgbClr val="000000"/>
                </a:solidFill>
                <a:latin typeface="TT Norms Bold"/>
                <a:ea typeface="TT Norms Bold"/>
                <a:cs typeface="TT Norms Bold"/>
                <a:sym typeface="TT Norms Bold"/>
              </a:rPr>
              <a:t>Loan Application</a:t>
            </a:r>
          </a:p>
        </p:txBody>
      </p:sp>
      <p:sp>
        <p:nvSpPr>
          <p:cNvPr id="40" name="TextBox 40"/>
          <p:cNvSpPr txBox="1"/>
          <p:nvPr/>
        </p:nvSpPr>
        <p:spPr>
          <a:xfrm>
            <a:off x="12227440" y="2407446"/>
            <a:ext cx="5031860" cy="1209305"/>
          </a:xfrm>
          <a:prstGeom prst="rect">
            <a:avLst/>
          </a:prstGeom>
        </p:spPr>
        <p:txBody>
          <a:bodyPr lIns="0" tIns="0" rIns="0" bIns="0" rtlCol="0" anchor="t">
            <a:spAutoFit/>
          </a:bodyPr>
          <a:lstStyle/>
          <a:p>
            <a:pPr marL="0" lvl="0" indent="0" algn="l">
              <a:lnSpc>
                <a:spcPts val="3150"/>
              </a:lnSpc>
              <a:spcBef>
                <a:spcPct val="0"/>
              </a:spcBef>
            </a:pPr>
            <a:r>
              <a:rPr lang="en-US" sz="2100" spc="-21" dirty="0">
                <a:solidFill>
                  <a:srgbClr val="2E2E2E"/>
                </a:solidFill>
                <a:latin typeface="TT Fors"/>
                <a:ea typeface="TT Fors"/>
                <a:cs typeface="TT Fors"/>
                <a:sym typeface="TT Fors"/>
              </a:rPr>
              <a:t>New Members can register themselves to SACCOs of their choice directly from the application.</a:t>
            </a:r>
          </a:p>
        </p:txBody>
      </p:sp>
      <p:sp>
        <p:nvSpPr>
          <p:cNvPr id="41" name="TextBox 41"/>
          <p:cNvSpPr txBox="1"/>
          <p:nvPr/>
        </p:nvSpPr>
        <p:spPr>
          <a:xfrm>
            <a:off x="12200049" y="1705454"/>
            <a:ext cx="5059251" cy="441959"/>
          </a:xfrm>
          <a:prstGeom prst="rect">
            <a:avLst/>
          </a:prstGeom>
        </p:spPr>
        <p:txBody>
          <a:bodyPr lIns="0" tIns="0" rIns="0" bIns="0" rtlCol="0" anchor="t">
            <a:spAutoFit/>
          </a:bodyPr>
          <a:lstStyle/>
          <a:p>
            <a:pPr algn="l">
              <a:lnSpc>
                <a:spcPts val="3600"/>
              </a:lnSpc>
            </a:pPr>
            <a:r>
              <a:rPr lang="en-US" sz="2400" b="1">
                <a:solidFill>
                  <a:srgbClr val="000000"/>
                </a:solidFill>
                <a:latin typeface="TT Norms Bold"/>
                <a:ea typeface="TT Norms Bold"/>
                <a:cs typeface="TT Norms Bold"/>
                <a:sym typeface="TT Norms Bold"/>
              </a:rPr>
              <a:t>Membership Application</a:t>
            </a:r>
          </a:p>
        </p:txBody>
      </p:sp>
      <p:sp>
        <p:nvSpPr>
          <p:cNvPr id="42" name="TextBox 42"/>
          <p:cNvSpPr txBox="1"/>
          <p:nvPr/>
        </p:nvSpPr>
        <p:spPr>
          <a:xfrm>
            <a:off x="1028700" y="5898518"/>
            <a:ext cx="5227460" cy="441959"/>
          </a:xfrm>
          <a:prstGeom prst="rect">
            <a:avLst/>
          </a:prstGeom>
        </p:spPr>
        <p:txBody>
          <a:bodyPr lIns="0" tIns="0" rIns="0" bIns="0" rtlCol="0" anchor="t">
            <a:spAutoFit/>
          </a:bodyPr>
          <a:lstStyle/>
          <a:p>
            <a:pPr algn="l">
              <a:lnSpc>
                <a:spcPts val="3600"/>
              </a:lnSpc>
            </a:pPr>
            <a:r>
              <a:rPr lang="en-US" sz="2400" b="1">
                <a:solidFill>
                  <a:srgbClr val="000000"/>
                </a:solidFill>
                <a:latin typeface="TT Norms Bold"/>
                <a:ea typeface="TT Norms Bold"/>
                <a:cs typeface="TT Norms Bold"/>
                <a:sym typeface="TT Norms Bold"/>
              </a:rPr>
              <a:t>Accounts Management</a:t>
            </a:r>
          </a:p>
        </p:txBody>
      </p:sp>
      <p:sp>
        <p:nvSpPr>
          <p:cNvPr id="43" name="TextBox 43"/>
          <p:cNvSpPr txBox="1"/>
          <p:nvPr/>
        </p:nvSpPr>
        <p:spPr>
          <a:xfrm>
            <a:off x="1425152" y="6435727"/>
            <a:ext cx="5737648" cy="1209305"/>
          </a:xfrm>
          <a:prstGeom prst="rect">
            <a:avLst/>
          </a:prstGeom>
        </p:spPr>
        <p:txBody>
          <a:bodyPr wrap="square" lIns="0" tIns="0" rIns="0" bIns="0" rtlCol="0" anchor="t">
            <a:spAutoFit/>
          </a:bodyPr>
          <a:lstStyle/>
          <a:p>
            <a:pPr>
              <a:lnSpc>
                <a:spcPts val="3150"/>
              </a:lnSpc>
              <a:spcBef>
                <a:spcPct val="0"/>
              </a:spcBef>
            </a:pPr>
            <a:r>
              <a:rPr lang="en-US" sz="2100" spc="-21" dirty="0">
                <a:solidFill>
                  <a:srgbClr val="2E2E2E"/>
                </a:solidFill>
                <a:latin typeface="TT Fors"/>
                <a:ea typeface="TT Fors"/>
                <a:cs typeface="TT Fors"/>
                <a:sym typeface="TT Fors"/>
              </a:rPr>
              <a:t>Helps Manage Savings, Loan and Share</a:t>
            </a:r>
          </a:p>
          <a:p>
            <a:pPr lvl="0">
              <a:lnSpc>
                <a:spcPts val="3150"/>
              </a:lnSpc>
              <a:spcBef>
                <a:spcPct val="0"/>
              </a:spcBef>
            </a:pPr>
            <a:r>
              <a:rPr lang="en-US" sz="2100" spc="-21" dirty="0">
                <a:solidFill>
                  <a:srgbClr val="2E2E2E"/>
                </a:solidFill>
                <a:latin typeface="TT Fors"/>
                <a:ea typeface="TT Fors"/>
                <a:cs typeface="TT Fors"/>
                <a:sym typeface="TT Fors"/>
              </a:rPr>
              <a:t>View Account Balances</a:t>
            </a:r>
            <a:endParaRPr lang="en-US" sz="2100" u="none" strike="noStrike" spc="-21" dirty="0">
              <a:solidFill>
                <a:srgbClr val="2E2E2E"/>
              </a:solidFill>
              <a:latin typeface="TT Fors"/>
              <a:ea typeface="TT Fors"/>
              <a:cs typeface="TT Fors"/>
              <a:sym typeface="TT Fors"/>
            </a:endParaRPr>
          </a:p>
          <a:p>
            <a:pPr marL="0" lvl="0" indent="0" algn="l">
              <a:lnSpc>
                <a:spcPts val="3150"/>
              </a:lnSpc>
              <a:spcBef>
                <a:spcPct val="0"/>
              </a:spcBef>
            </a:pPr>
            <a:r>
              <a:rPr lang="en-US" sz="2100" u="none" strike="noStrike" spc="-21" dirty="0">
                <a:solidFill>
                  <a:srgbClr val="2E2E2E"/>
                </a:solidFill>
                <a:latin typeface="TT Fors"/>
                <a:ea typeface="TT Fors"/>
                <a:cs typeface="TT Fors"/>
                <a:sym typeface="TT Fors"/>
              </a:rPr>
              <a:t>View &amp; Download Accounts Statements</a:t>
            </a:r>
          </a:p>
        </p:txBody>
      </p:sp>
      <p:sp>
        <p:nvSpPr>
          <p:cNvPr id="44" name="TextBox 44"/>
          <p:cNvSpPr txBox="1"/>
          <p:nvPr/>
        </p:nvSpPr>
        <p:spPr>
          <a:xfrm>
            <a:off x="1028700" y="4012570"/>
            <a:ext cx="5227460" cy="441959"/>
          </a:xfrm>
          <a:prstGeom prst="rect">
            <a:avLst/>
          </a:prstGeom>
        </p:spPr>
        <p:txBody>
          <a:bodyPr lIns="0" tIns="0" rIns="0" bIns="0" rtlCol="0" anchor="t">
            <a:spAutoFit/>
          </a:bodyPr>
          <a:lstStyle/>
          <a:p>
            <a:pPr algn="l">
              <a:lnSpc>
                <a:spcPts val="3600"/>
              </a:lnSpc>
            </a:pPr>
            <a:r>
              <a:rPr lang="en-US" sz="2400" b="1" dirty="0">
                <a:solidFill>
                  <a:srgbClr val="000000"/>
                </a:solidFill>
                <a:latin typeface="TT Norms Bold"/>
                <a:ea typeface="TT Norms Bold"/>
                <a:cs typeface="TT Norms Bold"/>
                <a:sym typeface="TT Norms Bold"/>
              </a:rPr>
              <a:t>Instant and Direct Payments</a:t>
            </a:r>
          </a:p>
        </p:txBody>
      </p:sp>
      <p:sp>
        <p:nvSpPr>
          <p:cNvPr id="45" name="TextBox 45"/>
          <p:cNvSpPr txBox="1"/>
          <p:nvPr/>
        </p:nvSpPr>
        <p:spPr>
          <a:xfrm>
            <a:off x="1425152" y="4549779"/>
            <a:ext cx="5247245" cy="1209305"/>
          </a:xfrm>
          <a:prstGeom prst="rect">
            <a:avLst/>
          </a:prstGeom>
        </p:spPr>
        <p:txBody>
          <a:bodyPr lIns="0" tIns="0" rIns="0" bIns="0" rtlCol="0" anchor="t">
            <a:spAutoFit/>
          </a:bodyPr>
          <a:lstStyle/>
          <a:p>
            <a:pPr marL="0" lvl="0" indent="0" algn="l">
              <a:lnSpc>
                <a:spcPts val="3150"/>
              </a:lnSpc>
              <a:spcBef>
                <a:spcPct val="0"/>
              </a:spcBef>
            </a:pPr>
            <a:r>
              <a:rPr lang="en-US" sz="2100" spc="-21" dirty="0">
                <a:solidFill>
                  <a:srgbClr val="2E2E2E"/>
                </a:solidFill>
                <a:latin typeface="TT Fors"/>
                <a:ea typeface="TT Fors"/>
                <a:cs typeface="TT Fors"/>
                <a:sym typeface="TT Fors"/>
              </a:rPr>
              <a:t>Savings Payments(Compulsory/Voluntary)</a:t>
            </a:r>
          </a:p>
          <a:p>
            <a:pPr marL="0" lvl="0" indent="0" algn="l">
              <a:lnSpc>
                <a:spcPts val="3150"/>
              </a:lnSpc>
              <a:spcBef>
                <a:spcPct val="0"/>
              </a:spcBef>
            </a:pPr>
            <a:r>
              <a:rPr lang="en-US" sz="2100" u="none" strike="noStrike" spc="-21" dirty="0">
                <a:solidFill>
                  <a:srgbClr val="2E2E2E"/>
                </a:solidFill>
                <a:latin typeface="TT Fors"/>
                <a:ea typeface="TT Fors"/>
                <a:cs typeface="TT Fors"/>
                <a:sym typeface="TT Fors"/>
              </a:rPr>
              <a:t>Loan Payments </a:t>
            </a:r>
          </a:p>
          <a:p>
            <a:pPr marL="0" lvl="0" indent="0" algn="l">
              <a:lnSpc>
                <a:spcPts val="3150"/>
              </a:lnSpc>
              <a:spcBef>
                <a:spcPct val="0"/>
              </a:spcBef>
            </a:pPr>
            <a:r>
              <a:rPr lang="en-US" sz="2100" u="none" strike="noStrike" spc="-21" dirty="0">
                <a:solidFill>
                  <a:srgbClr val="2E2E2E"/>
                </a:solidFill>
                <a:latin typeface="TT Fors"/>
                <a:ea typeface="TT Fors"/>
                <a:cs typeface="TT Fors"/>
                <a:sym typeface="TT Fors"/>
              </a:rPr>
              <a:t>Pay </a:t>
            </a:r>
            <a:r>
              <a:rPr lang="en-US" sz="2100" spc="-21" dirty="0">
                <a:solidFill>
                  <a:srgbClr val="2E2E2E"/>
                </a:solidFill>
                <a:latin typeface="TT Fors"/>
                <a:ea typeface="TT Fors"/>
                <a:cs typeface="TT Fors"/>
                <a:sym typeface="TT Fors"/>
              </a:rPr>
              <a:t>using</a:t>
            </a:r>
            <a:r>
              <a:rPr lang="en-US" sz="2100" u="none" strike="noStrike" spc="-21" dirty="0">
                <a:solidFill>
                  <a:srgbClr val="2E2E2E"/>
                </a:solidFill>
                <a:latin typeface="TT Fors"/>
                <a:ea typeface="TT Fors"/>
                <a:cs typeface="TT Fors"/>
                <a:sym typeface="TT Fors"/>
              </a:rPr>
              <a:t> Bank or SACCOs Accounts</a:t>
            </a:r>
          </a:p>
        </p:txBody>
      </p:sp>
      <p:sp>
        <p:nvSpPr>
          <p:cNvPr id="46" name="TextBox 46"/>
          <p:cNvSpPr txBox="1"/>
          <p:nvPr/>
        </p:nvSpPr>
        <p:spPr>
          <a:xfrm>
            <a:off x="1028700" y="2607471"/>
            <a:ext cx="5227460" cy="1024261"/>
          </a:xfrm>
          <a:prstGeom prst="rect">
            <a:avLst/>
          </a:prstGeom>
        </p:spPr>
        <p:txBody>
          <a:bodyPr lIns="0" tIns="0" rIns="0" bIns="0" rtlCol="0" anchor="t">
            <a:spAutoFit/>
          </a:bodyPr>
          <a:lstStyle/>
          <a:p>
            <a:pPr algn="l">
              <a:lnSpc>
                <a:spcPts val="7700"/>
              </a:lnSpc>
            </a:pPr>
            <a:r>
              <a:rPr lang="en-US" sz="7700" b="1" spc="-385">
                <a:solidFill>
                  <a:srgbClr val="000000"/>
                </a:solidFill>
                <a:latin typeface="TT Norms Bold"/>
                <a:ea typeface="TT Norms Bold"/>
                <a:cs typeface="TT Norms Bold"/>
                <a:sym typeface="TT Norms Bold"/>
              </a:rPr>
              <a:t>Features</a:t>
            </a:r>
          </a:p>
        </p:txBody>
      </p:sp>
      <p:sp>
        <p:nvSpPr>
          <p:cNvPr id="47" name="TextBox 47"/>
          <p:cNvSpPr txBox="1"/>
          <p:nvPr/>
        </p:nvSpPr>
        <p:spPr>
          <a:xfrm>
            <a:off x="8077200" y="5568574"/>
            <a:ext cx="4312873" cy="306705"/>
          </a:xfrm>
          <a:prstGeom prst="rect">
            <a:avLst/>
          </a:prstGeom>
        </p:spPr>
        <p:txBody>
          <a:bodyPr lIns="0" tIns="0" rIns="0" bIns="0" rtlCol="0" anchor="t">
            <a:spAutoFit/>
          </a:bodyPr>
          <a:lstStyle/>
          <a:p>
            <a:pPr algn="r">
              <a:lnSpc>
                <a:spcPts val="2519"/>
              </a:lnSpc>
            </a:pPr>
            <a:r>
              <a:rPr lang="en-US" sz="1799">
                <a:solidFill>
                  <a:srgbClr val="000000"/>
                </a:solidFill>
                <a:latin typeface="TT Fors"/>
                <a:ea typeface="TT Fors"/>
                <a:cs typeface="TT Fors"/>
                <a:sym typeface="TT Fors"/>
              </a:rPr>
              <a:t>Features</a:t>
            </a:r>
          </a:p>
        </p:txBody>
      </p:sp>
      <p:sp>
        <p:nvSpPr>
          <p:cNvPr id="48" name="TextBox 48"/>
          <p:cNvSpPr txBox="1"/>
          <p:nvPr/>
        </p:nvSpPr>
        <p:spPr>
          <a:xfrm>
            <a:off x="6672397" y="9838047"/>
            <a:ext cx="4709289" cy="306705"/>
          </a:xfrm>
          <a:prstGeom prst="rect">
            <a:avLst/>
          </a:prstGeom>
        </p:spPr>
        <p:txBody>
          <a:bodyPr lIns="0" tIns="0" rIns="0" bIns="0" rtlCol="0" anchor="t">
            <a:spAutoFit/>
          </a:bodyPr>
          <a:lstStyle/>
          <a:p>
            <a:pPr algn="l">
              <a:lnSpc>
                <a:spcPts val="2519"/>
              </a:lnSpc>
            </a:pPr>
            <a:r>
              <a:rPr lang="en-US" sz="1799" dirty="0">
                <a:solidFill>
                  <a:srgbClr val="000000"/>
                </a:solidFill>
                <a:latin typeface="TT Fors"/>
                <a:ea typeface="TT Fors"/>
                <a:cs typeface="TT Fors"/>
                <a:sym typeface="TT Fors"/>
              </a:rPr>
              <a:t>Empowering Cooperatives with Technology</a:t>
            </a:r>
          </a:p>
        </p:txBody>
      </p:sp>
      <p:grpSp>
        <p:nvGrpSpPr>
          <p:cNvPr id="49" name="Group 17">
            <a:extLst>
              <a:ext uri="{FF2B5EF4-FFF2-40B4-BE49-F238E27FC236}">
                <a16:creationId xmlns:a16="http://schemas.microsoft.com/office/drawing/2014/main" id="{60A7AD0A-1C91-560B-4210-4C240B5A2678}"/>
              </a:ext>
            </a:extLst>
          </p:cNvPr>
          <p:cNvGrpSpPr/>
          <p:nvPr/>
        </p:nvGrpSpPr>
        <p:grpSpPr>
          <a:xfrm>
            <a:off x="447975" y="342900"/>
            <a:ext cx="1161450" cy="463162"/>
            <a:chOff x="0" y="0"/>
            <a:chExt cx="1548600" cy="617549"/>
          </a:xfrm>
        </p:grpSpPr>
        <p:sp>
          <p:nvSpPr>
            <p:cNvPr id="50" name="Freeform 18">
              <a:extLst>
                <a:ext uri="{FF2B5EF4-FFF2-40B4-BE49-F238E27FC236}">
                  <a16:creationId xmlns:a16="http://schemas.microsoft.com/office/drawing/2014/main" id="{DA23DBA4-8445-38DF-252A-F49211872247}"/>
                </a:ext>
              </a:extLst>
            </p:cNvPr>
            <p:cNvSpPr/>
            <p:nvPr/>
          </p:nvSpPr>
          <p:spPr>
            <a:xfrm>
              <a:off x="0" y="0"/>
              <a:ext cx="1548638" cy="617601"/>
            </a:xfrm>
            <a:custGeom>
              <a:avLst/>
              <a:gdLst/>
              <a:ahLst/>
              <a:cxnLst/>
              <a:rect l="l" t="t" r="r" b="b"/>
              <a:pathLst>
                <a:path w="1548638" h="617601">
                  <a:moveTo>
                    <a:pt x="0" y="0"/>
                  </a:moveTo>
                  <a:lnTo>
                    <a:pt x="1548638" y="0"/>
                  </a:lnTo>
                  <a:lnTo>
                    <a:pt x="1548638" y="617601"/>
                  </a:lnTo>
                  <a:lnTo>
                    <a:pt x="0" y="617601"/>
                  </a:lnTo>
                  <a:lnTo>
                    <a:pt x="0" y="0"/>
                  </a:lnTo>
                  <a:close/>
                </a:path>
              </a:pathLst>
            </a:custGeom>
            <a:blipFill>
              <a:blip r:embed="rId3"/>
              <a:stretch>
                <a:fillRect t="-3" r="2" b="4"/>
              </a:stretch>
            </a:blipFill>
          </p:spPr>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337EF-BD7C-A803-1EBB-9C27557B4C5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72FAFC6-178A-E3E3-729F-CDB691FDEC51}"/>
              </a:ext>
            </a:extLst>
          </p:cNvPr>
          <p:cNvGrpSpPr/>
          <p:nvPr/>
        </p:nvGrpSpPr>
        <p:grpSpPr>
          <a:xfrm>
            <a:off x="0" y="0"/>
            <a:ext cx="6308483" cy="10287000"/>
            <a:chOff x="0" y="0"/>
            <a:chExt cx="1661493" cy="2709333"/>
          </a:xfrm>
        </p:grpSpPr>
        <p:sp>
          <p:nvSpPr>
            <p:cNvPr id="3" name="Freeform 3">
              <a:extLst>
                <a:ext uri="{FF2B5EF4-FFF2-40B4-BE49-F238E27FC236}">
                  <a16:creationId xmlns:a16="http://schemas.microsoft.com/office/drawing/2014/main" id="{341BB057-9793-F6ED-62E0-60FD473266F9}"/>
                </a:ext>
              </a:extLst>
            </p:cNvPr>
            <p:cNvSpPr/>
            <p:nvPr/>
          </p:nvSpPr>
          <p:spPr>
            <a:xfrm>
              <a:off x="0" y="0"/>
              <a:ext cx="1661494" cy="2709333"/>
            </a:xfrm>
            <a:custGeom>
              <a:avLst/>
              <a:gdLst/>
              <a:ahLst/>
              <a:cxnLst/>
              <a:rect l="l" t="t" r="r" b="b"/>
              <a:pathLst>
                <a:path w="1661494" h="2709333">
                  <a:moveTo>
                    <a:pt x="0" y="0"/>
                  </a:moveTo>
                  <a:lnTo>
                    <a:pt x="1661494" y="0"/>
                  </a:lnTo>
                  <a:lnTo>
                    <a:pt x="1661494" y="2709333"/>
                  </a:lnTo>
                  <a:lnTo>
                    <a:pt x="0" y="2709333"/>
                  </a:lnTo>
                  <a:close/>
                </a:path>
              </a:pathLst>
            </a:custGeom>
            <a:solidFill>
              <a:srgbClr val="00ADEF"/>
            </a:solidFill>
          </p:spPr>
        </p:sp>
        <p:sp>
          <p:nvSpPr>
            <p:cNvPr id="4" name="TextBox 4">
              <a:extLst>
                <a:ext uri="{FF2B5EF4-FFF2-40B4-BE49-F238E27FC236}">
                  <a16:creationId xmlns:a16="http://schemas.microsoft.com/office/drawing/2014/main" id="{C5DF89F2-73D0-116D-BF9C-DFDE37678995}"/>
                </a:ext>
              </a:extLst>
            </p:cNvPr>
            <p:cNvSpPr txBox="1"/>
            <p:nvPr/>
          </p:nvSpPr>
          <p:spPr>
            <a:xfrm>
              <a:off x="0" y="-47625"/>
              <a:ext cx="1661493" cy="2756958"/>
            </a:xfrm>
            <a:prstGeom prst="rect">
              <a:avLst/>
            </a:prstGeom>
          </p:spPr>
          <p:txBody>
            <a:bodyPr lIns="50800" tIns="50800" rIns="50800" bIns="50800" rtlCol="0" anchor="ctr"/>
            <a:lstStyle/>
            <a:p>
              <a:pPr algn="ctr">
                <a:lnSpc>
                  <a:spcPts val="2479"/>
                </a:lnSpc>
              </a:pPr>
              <a:endParaRPr/>
            </a:p>
          </p:txBody>
        </p:sp>
      </p:grpSp>
      <p:grpSp>
        <p:nvGrpSpPr>
          <p:cNvPr id="9" name="Group 9">
            <a:extLst>
              <a:ext uri="{FF2B5EF4-FFF2-40B4-BE49-F238E27FC236}">
                <a16:creationId xmlns:a16="http://schemas.microsoft.com/office/drawing/2014/main" id="{76D4641A-7886-F143-6E52-98AE215F7FE9}"/>
              </a:ext>
            </a:extLst>
          </p:cNvPr>
          <p:cNvGrpSpPr/>
          <p:nvPr/>
        </p:nvGrpSpPr>
        <p:grpSpPr>
          <a:xfrm>
            <a:off x="15849600" y="7794085"/>
            <a:ext cx="5402508" cy="5402508"/>
            <a:chOff x="0" y="0"/>
            <a:chExt cx="812800" cy="812800"/>
          </a:xfrm>
        </p:grpSpPr>
        <p:sp>
          <p:nvSpPr>
            <p:cNvPr id="10" name="Freeform 10">
              <a:extLst>
                <a:ext uri="{FF2B5EF4-FFF2-40B4-BE49-F238E27FC236}">
                  <a16:creationId xmlns:a16="http://schemas.microsoft.com/office/drawing/2014/main" id="{CC7A84ED-BC2A-544F-930A-86B6BC116A3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6F6F6"/>
              </a:solidFill>
              <a:prstDash val="solid"/>
              <a:miter/>
            </a:ln>
          </p:spPr>
        </p:sp>
        <p:sp>
          <p:nvSpPr>
            <p:cNvPr id="11" name="TextBox 11">
              <a:extLst>
                <a:ext uri="{FF2B5EF4-FFF2-40B4-BE49-F238E27FC236}">
                  <a16:creationId xmlns:a16="http://schemas.microsoft.com/office/drawing/2014/main" id="{8C9BCE5E-BD5C-9738-C269-0FCD65160D1F}"/>
                </a:ext>
              </a:extLst>
            </p:cNvPr>
            <p:cNvSpPr txBox="1"/>
            <p:nvPr/>
          </p:nvSpPr>
          <p:spPr>
            <a:xfrm>
              <a:off x="76200" y="28575"/>
              <a:ext cx="660400" cy="708025"/>
            </a:xfrm>
            <a:prstGeom prst="rect">
              <a:avLst/>
            </a:prstGeom>
          </p:spPr>
          <p:txBody>
            <a:bodyPr lIns="50800" tIns="50800" rIns="50800" bIns="50800" rtlCol="0" anchor="ctr"/>
            <a:lstStyle/>
            <a:p>
              <a:pPr algn="ctr">
                <a:lnSpc>
                  <a:spcPts val="2479"/>
                </a:lnSpc>
              </a:pPr>
              <a:endParaRPr/>
            </a:p>
          </p:txBody>
        </p:sp>
      </p:grpSp>
      <p:grpSp>
        <p:nvGrpSpPr>
          <p:cNvPr id="16" name="Group 16">
            <a:extLst>
              <a:ext uri="{FF2B5EF4-FFF2-40B4-BE49-F238E27FC236}">
                <a16:creationId xmlns:a16="http://schemas.microsoft.com/office/drawing/2014/main" id="{091925F9-821C-E55D-DEE1-5CDB336A4CF2}"/>
              </a:ext>
            </a:extLst>
          </p:cNvPr>
          <p:cNvGrpSpPr/>
          <p:nvPr/>
        </p:nvGrpSpPr>
        <p:grpSpPr>
          <a:xfrm>
            <a:off x="381000" y="1921682"/>
            <a:ext cx="5726307" cy="5345047"/>
            <a:chOff x="0" y="-17589"/>
            <a:chExt cx="6350000" cy="6349975"/>
          </a:xfrm>
          <a:blipFill dpi="0" rotWithShape="1">
            <a:blip r:embed="rId3">
              <a:extLst>
                <a:ext uri="{28A0092B-C50C-407E-A947-70E740481C1C}">
                  <a14:useLocalDpi xmlns:a14="http://schemas.microsoft.com/office/drawing/2010/main" val="0"/>
                </a:ext>
              </a:extLst>
            </a:blip>
            <a:srcRect/>
            <a:stretch>
              <a:fillRect/>
            </a:stretch>
          </a:blipFill>
        </p:grpSpPr>
        <p:sp>
          <p:nvSpPr>
            <p:cNvPr id="17" name="Freeform 17">
              <a:extLst>
                <a:ext uri="{FF2B5EF4-FFF2-40B4-BE49-F238E27FC236}">
                  <a16:creationId xmlns:a16="http://schemas.microsoft.com/office/drawing/2014/main" id="{64F7E8CD-9954-0C0F-9EFA-C1C5A657E910}"/>
                </a:ext>
              </a:extLst>
            </p:cNvPr>
            <p:cNvSpPr/>
            <p:nvPr/>
          </p:nvSpPr>
          <p:spPr>
            <a:xfrm>
              <a:off x="0" y="-17589"/>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grpFill/>
          </p:spPr>
          <p:txBody>
            <a:bodyPr/>
            <a:lstStyle/>
            <a:p>
              <a:endParaRPr lang="en-US" dirty="0"/>
            </a:p>
          </p:txBody>
        </p:sp>
      </p:grpSp>
      <p:sp>
        <p:nvSpPr>
          <p:cNvPr id="21" name="TextBox 21">
            <a:extLst>
              <a:ext uri="{FF2B5EF4-FFF2-40B4-BE49-F238E27FC236}">
                <a16:creationId xmlns:a16="http://schemas.microsoft.com/office/drawing/2014/main" id="{5E6C841B-0B34-327D-DA9A-7C57169F803E}"/>
              </a:ext>
            </a:extLst>
          </p:cNvPr>
          <p:cNvSpPr txBox="1"/>
          <p:nvPr/>
        </p:nvSpPr>
        <p:spPr>
          <a:xfrm>
            <a:off x="9196833" y="2492915"/>
            <a:ext cx="6818840" cy="370999"/>
          </a:xfrm>
          <a:prstGeom prst="rect">
            <a:avLst/>
          </a:prstGeom>
        </p:spPr>
        <p:txBody>
          <a:bodyPr lIns="0" tIns="0" rIns="0" bIns="0" rtlCol="0" anchor="t">
            <a:spAutoFit/>
          </a:bodyPr>
          <a:lstStyle/>
          <a:p>
            <a:pPr marL="0" lvl="0" indent="0" algn="l">
              <a:lnSpc>
                <a:spcPts val="3080"/>
              </a:lnSpc>
            </a:pPr>
            <a:r>
              <a:rPr lang="en-US" sz="2200" b="1" spc="162" dirty="0">
                <a:solidFill>
                  <a:srgbClr val="000000"/>
                </a:solidFill>
                <a:latin typeface="Open Sans Semi-Bold"/>
                <a:ea typeface="Open Sans Semi-Bold"/>
                <a:cs typeface="Open Sans Semi-Bold"/>
                <a:sym typeface="Open Sans Semi-Bold"/>
              </a:rPr>
              <a:t>1|&gt;. Automation</a:t>
            </a:r>
          </a:p>
        </p:txBody>
      </p:sp>
      <p:sp>
        <p:nvSpPr>
          <p:cNvPr id="22" name="TextBox 22">
            <a:extLst>
              <a:ext uri="{FF2B5EF4-FFF2-40B4-BE49-F238E27FC236}">
                <a16:creationId xmlns:a16="http://schemas.microsoft.com/office/drawing/2014/main" id="{CD4ACBD9-0BC2-9236-3675-1D51F14AFFE8}"/>
              </a:ext>
            </a:extLst>
          </p:cNvPr>
          <p:cNvSpPr txBox="1"/>
          <p:nvPr/>
        </p:nvSpPr>
        <p:spPr>
          <a:xfrm>
            <a:off x="8839200" y="3120326"/>
            <a:ext cx="8312296" cy="1456232"/>
          </a:xfrm>
          <a:prstGeom prst="rect">
            <a:avLst/>
          </a:prstGeom>
        </p:spPr>
        <p:txBody>
          <a:bodyPr wrap="square" lIns="0" tIns="0" rIns="0" bIns="0" rtlCol="0" anchor="t">
            <a:spAutoFit/>
          </a:bodyPr>
          <a:lstStyle/>
          <a:p>
            <a:pPr marL="584186" lvl="1" indent="-342900" algn="just">
              <a:lnSpc>
                <a:spcPts val="3933"/>
              </a:lnSpc>
              <a:buFont typeface="Arial" panose="020B0604020202020204" pitchFamily="34" charset="0"/>
              <a:buChar char="•"/>
            </a:pPr>
            <a:r>
              <a:rPr lang="en-US" sz="2400" dirty="0">
                <a:latin typeface="Nirmala UI Semilight" panose="020B0402040204020203" pitchFamily="34" charset="0"/>
                <a:ea typeface="Nirmala UI Semilight" panose="020B0402040204020203" pitchFamily="34" charset="0"/>
                <a:cs typeface="Nirmala UI Semilight" panose="020B0402040204020203" pitchFamily="34" charset="0"/>
              </a:rPr>
              <a:t>Transform manual records and operations into fully digital, system-based processes - improving efficiency, accuracy, and security.</a:t>
            </a:r>
            <a:endParaRPr lang="en-US" sz="2235" spc="89" dirty="0">
              <a:solidFill>
                <a:srgbClr val="000000"/>
              </a:solidFill>
              <a:latin typeface="Nirmala UI Semilight" panose="020B0402040204020203" pitchFamily="34" charset="0"/>
              <a:ea typeface="Nirmala UI Semilight" panose="020B0402040204020203" pitchFamily="34" charset="0"/>
              <a:cs typeface="Nirmala UI Semilight" panose="020B0402040204020203" pitchFamily="34" charset="0"/>
              <a:sym typeface="Canva Sans"/>
            </a:endParaRPr>
          </a:p>
        </p:txBody>
      </p:sp>
      <p:sp>
        <p:nvSpPr>
          <p:cNvPr id="23" name="TextBox 23">
            <a:extLst>
              <a:ext uri="{FF2B5EF4-FFF2-40B4-BE49-F238E27FC236}">
                <a16:creationId xmlns:a16="http://schemas.microsoft.com/office/drawing/2014/main" id="{3FFE4254-B04B-B336-02D8-41E20D35EF54}"/>
              </a:ext>
            </a:extLst>
          </p:cNvPr>
          <p:cNvSpPr txBox="1"/>
          <p:nvPr/>
        </p:nvSpPr>
        <p:spPr>
          <a:xfrm>
            <a:off x="9196833" y="4957127"/>
            <a:ext cx="7334181" cy="372745"/>
          </a:xfrm>
          <a:prstGeom prst="rect">
            <a:avLst/>
          </a:prstGeom>
        </p:spPr>
        <p:txBody>
          <a:bodyPr lIns="0" tIns="0" rIns="0" bIns="0" rtlCol="0" anchor="t">
            <a:spAutoFit/>
          </a:bodyPr>
          <a:lstStyle/>
          <a:p>
            <a:pPr marL="0" lvl="0" indent="0" algn="l">
              <a:lnSpc>
                <a:spcPts val="3080"/>
              </a:lnSpc>
            </a:pPr>
            <a:r>
              <a:rPr lang="en-US" sz="2200" b="1" spc="162" dirty="0">
                <a:solidFill>
                  <a:srgbClr val="000000"/>
                </a:solidFill>
                <a:latin typeface="Open Sans Semi-Bold"/>
                <a:ea typeface="Open Sans Semi-Bold"/>
                <a:cs typeface="Open Sans Semi-Bold"/>
                <a:sym typeface="Open Sans Semi-Bold"/>
              </a:rPr>
              <a:t>2|&gt;. Integration</a:t>
            </a:r>
          </a:p>
        </p:txBody>
      </p:sp>
      <p:sp>
        <p:nvSpPr>
          <p:cNvPr id="24" name="TextBox 24">
            <a:extLst>
              <a:ext uri="{FF2B5EF4-FFF2-40B4-BE49-F238E27FC236}">
                <a16:creationId xmlns:a16="http://schemas.microsoft.com/office/drawing/2014/main" id="{249F4D68-90BC-00AF-4D82-2E0CB7FE7FBB}"/>
              </a:ext>
            </a:extLst>
          </p:cNvPr>
          <p:cNvSpPr txBox="1"/>
          <p:nvPr/>
        </p:nvSpPr>
        <p:spPr>
          <a:xfrm>
            <a:off x="9106198" y="5726770"/>
            <a:ext cx="8273693" cy="1107996"/>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US" sz="2400" dirty="0">
                <a:latin typeface="Nirmala UI Semilight" panose="020B0402040204020203" pitchFamily="34" charset="0"/>
                <a:ea typeface="Nirmala UI Semilight" panose="020B0402040204020203" pitchFamily="34" charset="0"/>
                <a:cs typeface="Nirmala UI Semilight" panose="020B0402040204020203" pitchFamily="34" charset="0"/>
              </a:rPr>
              <a:t>Enable seamless core-to-core connectivity between cooperatives and the bank, ensuring real-time transaction flow, visibility, and collaboration.</a:t>
            </a:r>
            <a:endParaRPr lang="en-US" sz="2235" spc="89" dirty="0">
              <a:solidFill>
                <a:srgbClr val="000000"/>
              </a:solidFill>
              <a:latin typeface="Nirmala UI Semilight" panose="020B0402040204020203" pitchFamily="34" charset="0"/>
              <a:ea typeface="Nirmala UI Semilight" panose="020B0402040204020203" pitchFamily="34" charset="0"/>
              <a:cs typeface="Nirmala UI Semilight" panose="020B0402040204020203" pitchFamily="34" charset="0"/>
              <a:sym typeface="Canva Sans"/>
            </a:endParaRPr>
          </a:p>
        </p:txBody>
      </p:sp>
      <p:sp>
        <p:nvSpPr>
          <p:cNvPr id="25" name="TextBox 36">
            <a:extLst>
              <a:ext uri="{FF2B5EF4-FFF2-40B4-BE49-F238E27FC236}">
                <a16:creationId xmlns:a16="http://schemas.microsoft.com/office/drawing/2014/main" id="{1029B502-6A2F-6B27-33B4-1EA2C4D5AEF8}"/>
              </a:ext>
            </a:extLst>
          </p:cNvPr>
          <p:cNvSpPr txBox="1"/>
          <p:nvPr/>
        </p:nvSpPr>
        <p:spPr>
          <a:xfrm>
            <a:off x="8848187" y="603475"/>
            <a:ext cx="5486400" cy="671338"/>
          </a:xfrm>
          <a:prstGeom prst="rect">
            <a:avLst/>
          </a:prstGeom>
        </p:spPr>
        <p:txBody>
          <a:bodyPr wrap="square" lIns="0" tIns="0" rIns="0" bIns="0" rtlCol="0" anchor="t">
            <a:spAutoFit/>
          </a:bodyPr>
          <a:lstStyle/>
          <a:p>
            <a:pPr algn="l">
              <a:lnSpc>
                <a:spcPts val="5740"/>
              </a:lnSpc>
            </a:pPr>
            <a:r>
              <a:rPr lang="en-US" sz="4000" b="1" dirty="0">
                <a:solidFill>
                  <a:srgbClr val="00ADEF"/>
                </a:solidFill>
                <a:latin typeface="Nirmala UI Semilight" panose="020B0402040204020203" pitchFamily="34" charset="0"/>
                <a:ea typeface="Nirmala UI Semilight" panose="020B0402040204020203" pitchFamily="34" charset="0"/>
                <a:cs typeface="Nirmala UI Semilight" panose="020B0402040204020203" pitchFamily="34" charset="0"/>
                <a:sym typeface="Gotham Bold"/>
              </a:rPr>
              <a:t>How do We Achieve It?</a:t>
            </a:r>
          </a:p>
        </p:txBody>
      </p:sp>
      <p:sp>
        <p:nvSpPr>
          <p:cNvPr id="26" name="TextBox 23">
            <a:extLst>
              <a:ext uri="{FF2B5EF4-FFF2-40B4-BE49-F238E27FC236}">
                <a16:creationId xmlns:a16="http://schemas.microsoft.com/office/drawing/2014/main" id="{AE56CD9D-B74F-38FB-DB59-FA5A8C288556}"/>
              </a:ext>
            </a:extLst>
          </p:cNvPr>
          <p:cNvSpPr txBox="1"/>
          <p:nvPr/>
        </p:nvSpPr>
        <p:spPr>
          <a:xfrm>
            <a:off x="9207719" y="7167216"/>
            <a:ext cx="7334181" cy="372745"/>
          </a:xfrm>
          <a:prstGeom prst="rect">
            <a:avLst/>
          </a:prstGeom>
        </p:spPr>
        <p:txBody>
          <a:bodyPr lIns="0" tIns="0" rIns="0" bIns="0" rtlCol="0" anchor="t">
            <a:spAutoFit/>
          </a:bodyPr>
          <a:lstStyle/>
          <a:p>
            <a:pPr marL="0" lvl="0" indent="0" algn="l">
              <a:lnSpc>
                <a:spcPts val="3080"/>
              </a:lnSpc>
            </a:pPr>
            <a:r>
              <a:rPr lang="en-US" sz="2200" b="1" spc="162" dirty="0">
                <a:solidFill>
                  <a:srgbClr val="000000"/>
                </a:solidFill>
                <a:latin typeface="Open Sans Semi-Bold"/>
                <a:ea typeface="Open Sans Semi-Bold"/>
                <a:cs typeface="Open Sans Semi-Bold"/>
                <a:sym typeface="Open Sans Semi-Bold"/>
              </a:rPr>
              <a:t>3|&gt;. Innovate Co-Branded Products &amp; Services</a:t>
            </a:r>
          </a:p>
        </p:txBody>
      </p:sp>
      <p:sp>
        <p:nvSpPr>
          <p:cNvPr id="27" name="TextBox 22">
            <a:extLst>
              <a:ext uri="{FF2B5EF4-FFF2-40B4-BE49-F238E27FC236}">
                <a16:creationId xmlns:a16="http://schemas.microsoft.com/office/drawing/2014/main" id="{96AAA001-E9AD-4C12-8405-CCB06005F27A}"/>
              </a:ext>
            </a:extLst>
          </p:cNvPr>
          <p:cNvSpPr txBox="1"/>
          <p:nvPr/>
        </p:nvSpPr>
        <p:spPr>
          <a:xfrm>
            <a:off x="8848187" y="7749761"/>
            <a:ext cx="8531705" cy="1945213"/>
          </a:xfrm>
          <a:prstGeom prst="rect">
            <a:avLst/>
          </a:prstGeom>
        </p:spPr>
        <p:txBody>
          <a:bodyPr wrap="square" lIns="0" tIns="0" rIns="0" bIns="0" rtlCol="0" anchor="t">
            <a:spAutoFit/>
          </a:bodyPr>
          <a:lstStyle/>
          <a:p>
            <a:pPr marL="482572" lvl="1" indent="-241286" algn="just">
              <a:lnSpc>
                <a:spcPts val="3933"/>
              </a:lnSpc>
              <a:buFont typeface="Arial"/>
              <a:buChar char="•"/>
            </a:pPr>
            <a:r>
              <a:rPr lang="en-US" sz="2400" dirty="0">
                <a:latin typeface="Nirmala UI Semilight" panose="020B0402040204020203" pitchFamily="34" charset="0"/>
                <a:ea typeface="Nirmala UI Semilight" panose="020B0402040204020203" pitchFamily="34" charset="0"/>
                <a:cs typeface="Nirmala UI Semilight" panose="020B0402040204020203" pitchFamily="34" charset="0"/>
              </a:rPr>
              <a:t>Build on this digital foundation to deliver impactful financial solutions — including </a:t>
            </a:r>
            <a:r>
              <a:rPr lang="en-US" sz="2400" b="1" dirty="0">
                <a:latin typeface="Nirmala UI Semilight" panose="020B0402040204020203" pitchFamily="34" charset="0"/>
                <a:ea typeface="Nirmala UI Semilight" panose="020B0402040204020203" pitchFamily="34" charset="0"/>
                <a:cs typeface="Nirmala UI Semilight" panose="020B0402040204020203" pitchFamily="34" charset="0"/>
              </a:rPr>
              <a:t>mobile banking for members</a:t>
            </a:r>
            <a:r>
              <a:rPr lang="en-US" sz="2400" dirty="0">
                <a:latin typeface="Nirmala UI Semilight" panose="020B0402040204020203" pitchFamily="34" charset="0"/>
                <a:ea typeface="Nirmala UI Semilight" panose="020B0402040204020203" pitchFamily="34" charset="0"/>
                <a:cs typeface="Nirmala UI Semilight" panose="020B0402040204020203" pitchFamily="34" charset="0"/>
              </a:rPr>
              <a:t>, </a:t>
            </a:r>
            <a:r>
              <a:rPr lang="en-US" sz="2400" b="1" dirty="0">
                <a:latin typeface="Nirmala UI Semilight" panose="020B0402040204020203" pitchFamily="34" charset="0"/>
                <a:ea typeface="Nirmala UI Semilight" panose="020B0402040204020203" pitchFamily="34" charset="0"/>
                <a:cs typeface="Nirmala UI Semilight" panose="020B0402040204020203" pitchFamily="34" charset="0"/>
              </a:rPr>
              <a:t>co-branded cards</a:t>
            </a:r>
            <a:r>
              <a:rPr lang="en-US" sz="2400" dirty="0">
                <a:latin typeface="Nirmala UI Semilight" panose="020B0402040204020203" pitchFamily="34" charset="0"/>
                <a:ea typeface="Nirmala UI Semilight" panose="020B0402040204020203" pitchFamily="34" charset="0"/>
                <a:cs typeface="Nirmala UI Semilight" panose="020B0402040204020203" pitchFamily="34" charset="0"/>
              </a:rPr>
              <a:t>, and </a:t>
            </a:r>
            <a:r>
              <a:rPr lang="en-US" sz="2400" b="1" dirty="0">
                <a:latin typeface="Nirmala UI Semilight" panose="020B0402040204020203" pitchFamily="34" charset="0"/>
                <a:ea typeface="Nirmala UI Semilight" panose="020B0402040204020203" pitchFamily="34" charset="0"/>
                <a:cs typeface="Nirmala UI Semilight" panose="020B0402040204020203" pitchFamily="34" charset="0"/>
              </a:rPr>
              <a:t>digital credit products</a:t>
            </a:r>
            <a:r>
              <a:rPr lang="en-US" sz="2400" dirty="0">
                <a:latin typeface="Nirmala UI Semilight" panose="020B0402040204020203" pitchFamily="34" charset="0"/>
                <a:ea typeface="Nirmala UI Semilight" panose="020B0402040204020203" pitchFamily="34" charset="0"/>
                <a:cs typeface="Nirmala UI Semilight" panose="020B0402040204020203" pitchFamily="34" charset="0"/>
              </a:rPr>
              <a:t> — driving inclusion, growth, and broader community empowerment.</a:t>
            </a:r>
            <a:endParaRPr lang="en-US" sz="2235" spc="89" dirty="0">
              <a:solidFill>
                <a:srgbClr val="000000"/>
              </a:solidFill>
              <a:latin typeface="Nirmala UI Semilight" panose="020B0402040204020203" pitchFamily="34" charset="0"/>
              <a:ea typeface="Nirmala UI Semilight" panose="020B0402040204020203" pitchFamily="34" charset="0"/>
              <a:cs typeface="Nirmala UI Semilight" panose="020B0402040204020203" pitchFamily="34" charset="0"/>
              <a:sym typeface="Canva Sans"/>
            </a:endParaRPr>
          </a:p>
        </p:txBody>
      </p:sp>
      <p:sp>
        <p:nvSpPr>
          <p:cNvPr id="28" name="TextBox 21">
            <a:extLst>
              <a:ext uri="{FF2B5EF4-FFF2-40B4-BE49-F238E27FC236}">
                <a16:creationId xmlns:a16="http://schemas.microsoft.com/office/drawing/2014/main" id="{41B5D4D8-48FD-F498-F91B-74199F613B36}"/>
              </a:ext>
            </a:extLst>
          </p:cNvPr>
          <p:cNvSpPr txBox="1"/>
          <p:nvPr/>
        </p:nvSpPr>
        <p:spPr>
          <a:xfrm>
            <a:off x="8963992" y="1732310"/>
            <a:ext cx="7567021" cy="367858"/>
          </a:xfrm>
          <a:prstGeom prst="rect">
            <a:avLst/>
          </a:prstGeom>
        </p:spPr>
        <p:txBody>
          <a:bodyPr wrap="square" lIns="0" tIns="0" rIns="0" bIns="0" rtlCol="0" anchor="t">
            <a:spAutoFit/>
          </a:bodyPr>
          <a:lstStyle/>
          <a:p>
            <a:pPr lvl="0">
              <a:lnSpc>
                <a:spcPts val="3080"/>
              </a:lnSpc>
            </a:pPr>
            <a:r>
              <a:rPr lang="en-US" sz="2400" dirty="0">
                <a:latin typeface="Nirmala UI Semilight" panose="020B0402040204020203" pitchFamily="34" charset="0"/>
                <a:ea typeface="Nirmala UI Semilight" panose="020B0402040204020203" pitchFamily="34" charset="0"/>
                <a:cs typeface="Nirmala UI Semilight" panose="020B0402040204020203" pitchFamily="34" charset="0"/>
              </a:rPr>
              <a:t>A three-phase, step-by-step incremental approach,</a:t>
            </a:r>
            <a:endParaRPr lang="en-US" sz="2200" b="1" spc="162" dirty="0">
              <a:solidFill>
                <a:srgbClr val="000000"/>
              </a:solidFill>
              <a:latin typeface="Nirmala UI Semilight" panose="020B0402040204020203" pitchFamily="34" charset="0"/>
              <a:ea typeface="Nirmala UI Semilight" panose="020B0402040204020203" pitchFamily="34" charset="0"/>
              <a:cs typeface="Nirmala UI Semilight" panose="020B0402040204020203" pitchFamily="34" charset="0"/>
              <a:sym typeface="Open Sans Semi-Bold"/>
            </a:endParaRPr>
          </a:p>
        </p:txBody>
      </p:sp>
      <p:pic>
        <p:nvPicPr>
          <p:cNvPr id="29" name="Picture 28">
            <a:extLst>
              <a:ext uri="{FF2B5EF4-FFF2-40B4-BE49-F238E27FC236}">
                <a16:creationId xmlns:a16="http://schemas.microsoft.com/office/drawing/2014/main" id="{BDC23BD1-7379-1AE8-3911-A20845F9CB4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8490" y="265851"/>
            <a:ext cx="2543685" cy="1430823"/>
          </a:xfrm>
          <a:prstGeom prst="rect">
            <a:avLst/>
          </a:prstGeom>
        </p:spPr>
      </p:pic>
      <p:grpSp>
        <p:nvGrpSpPr>
          <p:cNvPr id="5" name="Group 21">
            <a:extLst>
              <a:ext uri="{FF2B5EF4-FFF2-40B4-BE49-F238E27FC236}">
                <a16:creationId xmlns:a16="http://schemas.microsoft.com/office/drawing/2014/main" id="{CAA5EA73-ABCD-2F11-75D7-375CE56F4999}"/>
              </a:ext>
            </a:extLst>
          </p:cNvPr>
          <p:cNvGrpSpPr/>
          <p:nvPr/>
        </p:nvGrpSpPr>
        <p:grpSpPr>
          <a:xfrm>
            <a:off x="16475828" y="1157419"/>
            <a:ext cx="817361" cy="820573"/>
            <a:chOff x="0" y="0"/>
            <a:chExt cx="1089815" cy="1094097"/>
          </a:xfrm>
        </p:grpSpPr>
        <p:sp>
          <p:nvSpPr>
            <p:cNvPr id="6" name="Freeform 22">
              <a:extLst>
                <a:ext uri="{FF2B5EF4-FFF2-40B4-BE49-F238E27FC236}">
                  <a16:creationId xmlns:a16="http://schemas.microsoft.com/office/drawing/2014/main" id="{92E5250E-58A4-C1E0-4B7E-DD366FB3384B}"/>
                </a:ext>
              </a:extLst>
            </p:cNvPr>
            <p:cNvSpPr/>
            <p:nvPr/>
          </p:nvSpPr>
          <p:spPr>
            <a:xfrm>
              <a:off x="0" y="0"/>
              <a:ext cx="1089815" cy="1094097"/>
            </a:xfrm>
            <a:custGeom>
              <a:avLst/>
              <a:gdLst/>
              <a:ahLst/>
              <a:cxnLst/>
              <a:rect l="l" t="t" r="r" b="b"/>
              <a:pathLst>
                <a:path w="1089815" h="1094097">
                  <a:moveTo>
                    <a:pt x="0" y="0"/>
                  </a:moveTo>
                  <a:lnTo>
                    <a:pt x="1089815" y="0"/>
                  </a:lnTo>
                  <a:lnTo>
                    <a:pt x="1089815" y="1094097"/>
                  </a:lnTo>
                  <a:lnTo>
                    <a:pt x="0" y="1094097"/>
                  </a:lnTo>
                  <a:lnTo>
                    <a:pt x="0" y="0"/>
                  </a:lnTo>
                  <a:close/>
                </a:path>
              </a:pathLst>
            </a:custGeom>
            <a:blipFill>
              <a:blip r:embed="rId5"/>
              <a:stretch>
                <a:fillRect l="-259" r="-259"/>
              </a:stretch>
            </a:blipFill>
          </p:spPr>
        </p:sp>
        <p:sp>
          <p:nvSpPr>
            <p:cNvPr id="7" name="TextBox 23">
              <a:extLst>
                <a:ext uri="{FF2B5EF4-FFF2-40B4-BE49-F238E27FC236}">
                  <a16:creationId xmlns:a16="http://schemas.microsoft.com/office/drawing/2014/main" id="{5B334228-39EA-4CE1-5078-6D41269816EF}"/>
                </a:ext>
              </a:extLst>
            </p:cNvPr>
            <p:cNvSpPr txBox="1"/>
            <p:nvPr/>
          </p:nvSpPr>
          <p:spPr>
            <a:xfrm>
              <a:off x="179935" y="317179"/>
              <a:ext cx="729946" cy="446789"/>
            </a:xfrm>
            <a:prstGeom prst="rect">
              <a:avLst/>
            </a:prstGeom>
          </p:spPr>
          <p:txBody>
            <a:bodyPr lIns="0" tIns="0" rIns="0" bIns="0" rtlCol="0" anchor="t">
              <a:spAutoFit/>
            </a:bodyPr>
            <a:lstStyle/>
            <a:p>
              <a:pPr marL="0" lvl="0" indent="0" algn="ctr">
                <a:lnSpc>
                  <a:spcPts val="2730"/>
                </a:lnSpc>
              </a:pPr>
              <a:r>
                <a:rPr lang="en-US" sz="2100" spc="-63" dirty="0">
                  <a:solidFill>
                    <a:srgbClr val="043539"/>
                  </a:solidFill>
                  <a:latin typeface="Poppins Light"/>
                  <a:ea typeface="Poppins Light"/>
                  <a:cs typeface="Poppins Light"/>
                  <a:sym typeface="Poppins Light"/>
                </a:rPr>
                <a:t>5</a:t>
              </a:r>
            </a:p>
          </p:txBody>
        </p:sp>
      </p:grpSp>
      <p:grpSp>
        <p:nvGrpSpPr>
          <p:cNvPr id="8" name="Group 16">
            <a:extLst>
              <a:ext uri="{FF2B5EF4-FFF2-40B4-BE49-F238E27FC236}">
                <a16:creationId xmlns:a16="http://schemas.microsoft.com/office/drawing/2014/main" id="{77088513-D1F8-3A01-2568-2BBD2C84A035}"/>
              </a:ext>
            </a:extLst>
          </p:cNvPr>
          <p:cNvGrpSpPr/>
          <p:nvPr/>
        </p:nvGrpSpPr>
        <p:grpSpPr>
          <a:xfrm>
            <a:off x="7506368" y="2218548"/>
            <a:ext cx="1332832" cy="1290732"/>
            <a:chOff x="0" y="-17589"/>
            <a:chExt cx="6350000" cy="6349975"/>
          </a:xfrm>
          <a:blipFill dpi="0" rotWithShape="1">
            <a:blip r:embed="rId6">
              <a:extLst>
                <a:ext uri="{28A0092B-C50C-407E-A947-70E740481C1C}">
                  <a14:useLocalDpi xmlns:a14="http://schemas.microsoft.com/office/drawing/2010/main" val="0"/>
                </a:ext>
              </a:extLst>
            </a:blip>
            <a:srcRect/>
            <a:stretch>
              <a:fillRect/>
            </a:stretch>
          </a:blipFill>
        </p:grpSpPr>
        <p:sp>
          <p:nvSpPr>
            <p:cNvPr id="12" name="Freeform 17">
              <a:extLst>
                <a:ext uri="{FF2B5EF4-FFF2-40B4-BE49-F238E27FC236}">
                  <a16:creationId xmlns:a16="http://schemas.microsoft.com/office/drawing/2014/main" id="{334D3B2D-0F3C-1EF8-4BC7-3C7E7F7F1D15}"/>
                </a:ext>
              </a:extLst>
            </p:cNvPr>
            <p:cNvSpPr/>
            <p:nvPr/>
          </p:nvSpPr>
          <p:spPr>
            <a:xfrm>
              <a:off x="0" y="-17589"/>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grpFill/>
          </p:spPr>
          <p:txBody>
            <a:bodyPr/>
            <a:lstStyle/>
            <a:p>
              <a:endParaRPr lang="en-US" dirty="0"/>
            </a:p>
          </p:txBody>
        </p:sp>
      </p:grpSp>
      <p:grpSp>
        <p:nvGrpSpPr>
          <p:cNvPr id="13" name="Group 16">
            <a:extLst>
              <a:ext uri="{FF2B5EF4-FFF2-40B4-BE49-F238E27FC236}">
                <a16:creationId xmlns:a16="http://schemas.microsoft.com/office/drawing/2014/main" id="{7413C850-DAD7-06E1-F3C6-DF9697A87DEB}"/>
              </a:ext>
            </a:extLst>
          </p:cNvPr>
          <p:cNvGrpSpPr/>
          <p:nvPr/>
        </p:nvGrpSpPr>
        <p:grpSpPr>
          <a:xfrm>
            <a:off x="7515355" y="4533511"/>
            <a:ext cx="1332832" cy="1290732"/>
            <a:chOff x="0" y="-17589"/>
            <a:chExt cx="6350000" cy="6349975"/>
          </a:xfrm>
          <a:blipFill dpi="0" rotWithShape="1">
            <a:blip r:embed="rId7">
              <a:extLst>
                <a:ext uri="{28A0092B-C50C-407E-A947-70E740481C1C}">
                  <a14:useLocalDpi xmlns:a14="http://schemas.microsoft.com/office/drawing/2010/main" val="0"/>
                </a:ext>
              </a:extLst>
            </a:blip>
            <a:srcRect/>
            <a:stretch>
              <a:fillRect/>
            </a:stretch>
          </a:blipFill>
        </p:grpSpPr>
        <p:sp>
          <p:nvSpPr>
            <p:cNvPr id="14" name="Freeform 17">
              <a:extLst>
                <a:ext uri="{FF2B5EF4-FFF2-40B4-BE49-F238E27FC236}">
                  <a16:creationId xmlns:a16="http://schemas.microsoft.com/office/drawing/2014/main" id="{8BBB9022-EA2F-ACEF-9CC8-6E8B1A012A12}"/>
                </a:ext>
              </a:extLst>
            </p:cNvPr>
            <p:cNvSpPr/>
            <p:nvPr/>
          </p:nvSpPr>
          <p:spPr>
            <a:xfrm>
              <a:off x="0" y="-17589"/>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grpFill/>
          </p:spPr>
          <p:txBody>
            <a:bodyPr/>
            <a:lstStyle/>
            <a:p>
              <a:endParaRPr lang="en-US" dirty="0"/>
            </a:p>
          </p:txBody>
        </p:sp>
      </p:grpSp>
      <p:grpSp>
        <p:nvGrpSpPr>
          <p:cNvPr id="15" name="Group 16">
            <a:extLst>
              <a:ext uri="{FF2B5EF4-FFF2-40B4-BE49-F238E27FC236}">
                <a16:creationId xmlns:a16="http://schemas.microsoft.com/office/drawing/2014/main" id="{72FF20B7-0AAC-4B94-0D9B-E0DE8BEEDBA9}"/>
              </a:ext>
            </a:extLst>
          </p:cNvPr>
          <p:cNvGrpSpPr/>
          <p:nvPr/>
        </p:nvGrpSpPr>
        <p:grpSpPr>
          <a:xfrm>
            <a:off x="7506368" y="6811970"/>
            <a:ext cx="1332832" cy="1290732"/>
            <a:chOff x="0" y="-17589"/>
            <a:chExt cx="6350000" cy="6349975"/>
          </a:xfrm>
          <a:blipFill dpi="0" rotWithShape="1">
            <a:blip r:embed="rId8">
              <a:extLst>
                <a:ext uri="{28A0092B-C50C-407E-A947-70E740481C1C}">
                  <a14:useLocalDpi xmlns:a14="http://schemas.microsoft.com/office/drawing/2010/main" val="0"/>
                </a:ext>
              </a:extLst>
            </a:blip>
            <a:srcRect/>
            <a:stretch>
              <a:fillRect/>
            </a:stretch>
          </a:blipFill>
        </p:grpSpPr>
        <p:sp>
          <p:nvSpPr>
            <p:cNvPr id="30" name="Freeform 17">
              <a:extLst>
                <a:ext uri="{FF2B5EF4-FFF2-40B4-BE49-F238E27FC236}">
                  <a16:creationId xmlns:a16="http://schemas.microsoft.com/office/drawing/2014/main" id="{CF41E957-A7F2-759D-DE2F-8FD43A06DC00}"/>
                </a:ext>
              </a:extLst>
            </p:cNvPr>
            <p:cNvSpPr/>
            <p:nvPr/>
          </p:nvSpPr>
          <p:spPr>
            <a:xfrm>
              <a:off x="0" y="-17589"/>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grpFill/>
          </p:spPr>
          <p:txBody>
            <a:bodyPr/>
            <a:lstStyle/>
            <a:p>
              <a:endParaRPr lang="en-US" dirty="0"/>
            </a:p>
          </p:txBody>
        </p:sp>
      </p:grpSp>
    </p:spTree>
    <p:extLst>
      <p:ext uri="{BB962C8B-B14F-4D97-AF65-F5344CB8AC3E}">
        <p14:creationId xmlns:p14="http://schemas.microsoft.com/office/powerpoint/2010/main" val="1817852244"/>
      </p:ext>
    </p:extLst>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869676" y="6095015"/>
            <a:ext cx="1908293" cy="1908293"/>
          </a:xfrm>
          <a:prstGeom prst="rect">
            <a:avLst/>
          </a:prstGeom>
        </p:spPr>
      </p:pic>
      <p:pic>
        <p:nvPicPr>
          <p:cNvPr id="3" name="Picture 3"/>
          <p:cNvPicPr>
            <a:picLocks noChangeAspect="1"/>
          </p:cNvPicPr>
          <p:nvPr/>
        </p:nvPicPr>
        <p:blipFill>
          <a:blip r:embed="rId3"/>
          <a:stretch>
            <a:fillRect/>
          </a:stretch>
        </p:blipFill>
        <p:spPr>
          <a:xfrm>
            <a:off x="3592305" y="6095015"/>
            <a:ext cx="1908293" cy="1908293"/>
          </a:xfrm>
          <a:prstGeom prst="rect">
            <a:avLst/>
          </a:prstGeom>
        </p:spPr>
      </p:pic>
      <p:sp>
        <p:nvSpPr>
          <p:cNvPr id="4" name="AutoShape 4"/>
          <p:cNvSpPr/>
          <p:nvPr/>
        </p:nvSpPr>
        <p:spPr>
          <a:xfrm flipV="1">
            <a:off x="3185136" y="5755605"/>
            <a:ext cx="0" cy="2088678"/>
          </a:xfrm>
          <a:prstGeom prst="line">
            <a:avLst/>
          </a:prstGeom>
          <a:ln w="9525" cap="flat">
            <a:solidFill>
              <a:srgbClr val="000000"/>
            </a:solidFill>
            <a:prstDash val="solid"/>
            <a:headEnd type="none" w="sm" len="sm"/>
            <a:tailEnd type="none" w="sm" len="sm"/>
          </a:ln>
        </p:spPr>
      </p:sp>
      <p:sp>
        <p:nvSpPr>
          <p:cNvPr id="5" name="AutoShape 5"/>
          <p:cNvSpPr/>
          <p:nvPr/>
        </p:nvSpPr>
        <p:spPr>
          <a:xfrm flipV="1">
            <a:off x="5896229" y="5755605"/>
            <a:ext cx="0" cy="2088678"/>
          </a:xfrm>
          <a:prstGeom prst="line">
            <a:avLst/>
          </a:prstGeom>
          <a:ln w="9525" cap="flat">
            <a:solidFill>
              <a:srgbClr val="000000"/>
            </a:solidFill>
            <a:prstDash val="solid"/>
            <a:headEnd type="none" w="sm" len="sm"/>
            <a:tailEnd type="none" w="sm" len="sm"/>
          </a:ln>
        </p:spPr>
      </p:sp>
      <p:pic>
        <p:nvPicPr>
          <p:cNvPr id="6" name="Picture 6"/>
          <p:cNvPicPr>
            <a:picLocks noChangeAspect="1"/>
          </p:cNvPicPr>
          <p:nvPr/>
        </p:nvPicPr>
        <p:blipFill>
          <a:blip r:embed="rId4"/>
          <a:stretch>
            <a:fillRect/>
          </a:stretch>
        </p:blipFill>
        <p:spPr>
          <a:xfrm>
            <a:off x="6595677" y="6095015"/>
            <a:ext cx="1908293" cy="1908293"/>
          </a:xfrm>
          <a:prstGeom prst="rect">
            <a:avLst/>
          </a:prstGeom>
        </p:spPr>
      </p:pic>
      <p:sp>
        <p:nvSpPr>
          <p:cNvPr id="8" name="TextBox 8"/>
          <p:cNvSpPr txBox="1"/>
          <p:nvPr/>
        </p:nvSpPr>
        <p:spPr>
          <a:xfrm>
            <a:off x="933450" y="2714422"/>
            <a:ext cx="8115300" cy="1024261"/>
          </a:xfrm>
          <a:prstGeom prst="rect">
            <a:avLst/>
          </a:prstGeom>
        </p:spPr>
        <p:txBody>
          <a:bodyPr lIns="0" tIns="0" rIns="0" bIns="0" rtlCol="0" anchor="t">
            <a:spAutoFit/>
          </a:bodyPr>
          <a:lstStyle/>
          <a:p>
            <a:pPr algn="l">
              <a:lnSpc>
                <a:spcPts val="7700"/>
              </a:lnSpc>
            </a:pPr>
            <a:r>
              <a:rPr lang="en-US" sz="7700" b="1" spc="-385" dirty="0">
                <a:solidFill>
                  <a:srgbClr val="00ADEF"/>
                </a:solidFill>
                <a:latin typeface="TT Norms Bold"/>
                <a:ea typeface="TT Norms Bold"/>
                <a:cs typeface="TT Norms Bold"/>
                <a:sym typeface="TT Norms Bold"/>
              </a:rPr>
              <a:t>Product Impact</a:t>
            </a:r>
          </a:p>
        </p:txBody>
      </p:sp>
      <p:sp>
        <p:nvSpPr>
          <p:cNvPr id="9" name="TextBox 9"/>
          <p:cNvSpPr txBox="1"/>
          <p:nvPr/>
        </p:nvSpPr>
        <p:spPr>
          <a:xfrm>
            <a:off x="1028700" y="3776416"/>
            <a:ext cx="7124699" cy="798937"/>
          </a:xfrm>
          <a:prstGeom prst="rect">
            <a:avLst/>
          </a:prstGeom>
        </p:spPr>
        <p:txBody>
          <a:bodyPr wrap="square" lIns="0" tIns="0" rIns="0" bIns="0" rtlCol="0" anchor="t">
            <a:spAutoFit/>
          </a:bodyPr>
          <a:lstStyle/>
          <a:p>
            <a:pPr marL="0" lvl="0" indent="0" algn="l">
              <a:lnSpc>
                <a:spcPts val="3150"/>
              </a:lnSpc>
              <a:spcBef>
                <a:spcPct val="0"/>
              </a:spcBef>
            </a:pPr>
            <a:r>
              <a:rPr lang="en-US" sz="2100" spc="-21" dirty="0">
                <a:solidFill>
                  <a:srgbClr val="2E2E2E"/>
                </a:solidFill>
                <a:latin typeface="TT Fors"/>
                <a:ea typeface="TT Fors"/>
                <a:cs typeface="TT Fors"/>
                <a:sym typeface="TT Fors"/>
              </a:rPr>
              <a:t>The following are a high-level figures showing the </a:t>
            </a:r>
            <a:r>
              <a:rPr lang="en-US" sz="2100" b="1" spc="-21" dirty="0">
                <a:solidFill>
                  <a:srgbClr val="2E2E2E"/>
                </a:solidFill>
                <a:latin typeface="TT Fors Bold"/>
                <a:ea typeface="TT Fors Bold"/>
                <a:cs typeface="TT Fors Bold"/>
                <a:sym typeface="TT Fors Bold"/>
              </a:rPr>
              <a:t>SACCO-Link</a:t>
            </a:r>
            <a:r>
              <a:rPr lang="en-US" sz="2100" spc="-21" dirty="0">
                <a:solidFill>
                  <a:srgbClr val="2E2E2E"/>
                </a:solidFill>
                <a:latin typeface="TT Fors"/>
                <a:ea typeface="TT Fors"/>
                <a:cs typeface="TT Fors"/>
                <a:sym typeface="TT Fors"/>
              </a:rPr>
              <a:t> impact so far, </a:t>
            </a:r>
          </a:p>
        </p:txBody>
      </p:sp>
      <p:sp>
        <p:nvSpPr>
          <p:cNvPr id="10" name="TextBox 10"/>
          <p:cNvSpPr txBox="1"/>
          <p:nvPr/>
        </p:nvSpPr>
        <p:spPr>
          <a:xfrm>
            <a:off x="1574287" y="6768174"/>
            <a:ext cx="499070" cy="519373"/>
          </a:xfrm>
          <a:prstGeom prst="rect">
            <a:avLst/>
          </a:prstGeom>
        </p:spPr>
        <p:txBody>
          <a:bodyPr lIns="0" tIns="0" rIns="0" bIns="0" rtlCol="0" anchor="t">
            <a:spAutoFit/>
          </a:bodyPr>
          <a:lstStyle/>
          <a:p>
            <a:pPr algn="ctr">
              <a:lnSpc>
                <a:spcPts val="4199"/>
              </a:lnSpc>
            </a:pPr>
            <a:r>
              <a:rPr lang="en-US" sz="2999" b="1" dirty="0">
                <a:solidFill>
                  <a:srgbClr val="40A8EF"/>
                </a:solidFill>
                <a:latin typeface="TT Norms Bold"/>
                <a:ea typeface="TT Norms Bold"/>
                <a:cs typeface="TT Norms Bold"/>
                <a:sym typeface="TT Norms Bold"/>
              </a:rPr>
              <a:t>65</a:t>
            </a:r>
          </a:p>
        </p:txBody>
      </p:sp>
      <p:sp>
        <p:nvSpPr>
          <p:cNvPr id="11" name="TextBox 11"/>
          <p:cNvSpPr txBox="1"/>
          <p:nvPr/>
        </p:nvSpPr>
        <p:spPr>
          <a:xfrm>
            <a:off x="4303564" y="6768174"/>
            <a:ext cx="485775" cy="519373"/>
          </a:xfrm>
          <a:prstGeom prst="rect">
            <a:avLst/>
          </a:prstGeom>
        </p:spPr>
        <p:txBody>
          <a:bodyPr lIns="0" tIns="0" rIns="0" bIns="0" rtlCol="0" anchor="t">
            <a:spAutoFit/>
          </a:bodyPr>
          <a:lstStyle/>
          <a:p>
            <a:pPr algn="ctr">
              <a:lnSpc>
                <a:spcPts val="4199"/>
              </a:lnSpc>
            </a:pPr>
            <a:r>
              <a:rPr lang="en-US" sz="2999" b="1" dirty="0">
                <a:solidFill>
                  <a:srgbClr val="00ADEF"/>
                </a:solidFill>
                <a:latin typeface="TT Norms Bold"/>
                <a:ea typeface="TT Norms Bold"/>
                <a:cs typeface="TT Norms Bold"/>
                <a:sym typeface="TT Norms Bold"/>
              </a:rPr>
              <a:t>35</a:t>
            </a:r>
          </a:p>
        </p:txBody>
      </p:sp>
      <p:sp>
        <p:nvSpPr>
          <p:cNvPr id="12" name="TextBox 12"/>
          <p:cNvSpPr txBox="1"/>
          <p:nvPr/>
        </p:nvSpPr>
        <p:spPr>
          <a:xfrm>
            <a:off x="805444" y="5707980"/>
            <a:ext cx="2036755" cy="337184"/>
          </a:xfrm>
          <a:prstGeom prst="rect">
            <a:avLst/>
          </a:prstGeom>
        </p:spPr>
        <p:txBody>
          <a:bodyPr lIns="0" tIns="0" rIns="0" bIns="0" rtlCol="0" anchor="t">
            <a:spAutoFit/>
          </a:bodyPr>
          <a:lstStyle/>
          <a:p>
            <a:pPr algn="ctr">
              <a:lnSpc>
                <a:spcPts val="2850"/>
              </a:lnSpc>
            </a:pPr>
            <a:r>
              <a:rPr lang="en-US" sz="1900" b="1" dirty="0">
                <a:solidFill>
                  <a:srgbClr val="000000"/>
                </a:solidFill>
                <a:latin typeface="TT Norms Bold"/>
                <a:ea typeface="TT Norms Bold"/>
                <a:cs typeface="TT Norms Bold"/>
                <a:sym typeface="TT Norms Bold"/>
              </a:rPr>
              <a:t>Onboarded</a:t>
            </a:r>
          </a:p>
        </p:txBody>
      </p:sp>
      <p:sp>
        <p:nvSpPr>
          <p:cNvPr id="13" name="TextBox 13"/>
          <p:cNvSpPr txBox="1"/>
          <p:nvPr/>
        </p:nvSpPr>
        <p:spPr>
          <a:xfrm>
            <a:off x="3416595" y="5707980"/>
            <a:ext cx="2259712" cy="352019"/>
          </a:xfrm>
          <a:prstGeom prst="rect">
            <a:avLst/>
          </a:prstGeom>
        </p:spPr>
        <p:txBody>
          <a:bodyPr lIns="0" tIns="0" rIns="0" bIns="0" rtlCol="0" anchor="t">
            <a:spAutoFit/>
          </a:bodyPr>
          <a:lstStyle/>
          <a:p>
            <a:pPr algn="ctr">
              <a:lnSpc>
                <a:spcPts val="2850"/>
              </a:lnSpc>
            </a:pPr>
            <a:r>
              <a:rPr lang="en-US" sz="1900" b="1" dirty="0">
                <a:solidFill>
                  <a:srgbClr val="000000"/>
                </a:solidFill>
                <a:latin typeface="TT Norms Bold"/>
                <a:ea typeface="TT Norms Bold"/>
                <a:cs typeface="TT Norms Bold"/>
                <a:sym typeface="TT Norms Bold"/>
              </a:rPr>
              <a:t>Bank Integrated</a:t>
            </a:r>
          </a:p>
        </p:txBody>
      </p:sp>
      <p:sp>
        <p:nvSpPr>
          <p:cNvPr id="14" name="TextBox 14"/>
          <p:cNvSpPr txBox="1"/>
          <p:nvPr/>
        </p:nvSpPr>
        <p:spPr>
          <a:xfrm>
            <a:off x="805444" y="8015733"/>
            <a:ext cx="2156436" cy="306705"/>
          </a:xfrm>
          <a:prstGeom prst="rect">
            <a:avLst/>
          </a:prstGeom>
        </p:spPr>
        <p:txBody>
          <a:bodyPr lIns="0" tIns="0" rIns="0" bIns="0" rtlCol="0" anchor="t">
            <a:spAutoFit/>
          </a:bodyPr>
          <a:lstStyle/>
          <a:p>
            <a:pPr algn="l">
              <a:lnSpc>
                <a:spcPts val="2519"/>
              </a:lnSpc>
            </a:pPr>
            <a:r>
              <a:rPr lang="en-US" sz="1799" dirty="0">
                <a:solidFill>
                  <a:srgbClr val="000000"/>
                </a:solidFill>
                <a:latin typeface="TT Fors"/>
                <a:ea typeface="TT Fors"/>
                <a:cs typeface="TT Fors"/>
                <a:sym typeface="TT Fors"/>
              </a:rPr>
              <a:t>SACCOs + Unions</a:t>
            </a:r>
          </a:p>
        </p:txBody>
      </p:sp>
      <p:sp>
        <p:nvSpPr>
          <p:cNvPr id="16" name="TextBox 16"/>
          <p:cNvSpPr txBox="1"/>
          <p:nvPr/>
        </p:nvSpPr>
        <p:spPr>
          <a:xfrm>
            <a:off x="1028700" y="2257857"/>
            <a:ext cx="8115300" cy="332783"/>
          </a:xfrm>
          <a:prstGeom prst="rect">
            <a:avLst/>
          </a:prstGeom>
        </p:spPr>
        <p:txBody>
          <a:bodyPr lIns="0" tIns="0" rIns="0" bIns="0" rtlCol="0" anchor="t">
            <a:spAutoFit/>
          </a:bodyPr>
          <a:lstStyle/>
          <a:p>
            <a:pPr algn="l">
              <a:lnSpc>
                <a:spcPts val="2660"/>
              </a:lnSpc>
            </a:pPr>
            <a:r>
              <a:rPr lang="en-US" sz="1900" spc="273" dirty="0">
                <a:solidFill>
                  <a:srgbClr val="000000"/>
                </a:solidFill>
                <a:latin typeface="TT Norms"/>
                <a:ea typeface="TT Norms"/>
                <a:cs typeface="TT Norms"/>
                <a:sym typeface="TT Norms"/>
              </a:rPr>
              <a:t>Cooperatives Digital Solution</a:t>
            </a:r>
          </a:p>
        </p:txBody>
      </p:sp>
      <p:sp>
        <p:nvSpPr>
          <p:cNvPr id="17" name="TextBox 17"/>
          <p:cNvSpPr txBox="1"/>
          <p:nvPr/>
        </p:nvSpPr>
        <p:spPr>
          <a:xfrm>
            <a:off x="3711120" y="7996683"/>
            <a:ext cx="2156436" cy="306705"/>
          </a:xfrm>
          <a:prstGeom prst="rect">
            <a:avLst/>
          </a:prstGeom>
        </p:spPr>
        <p:txBody>
          <a:bodyPr lIns="0" tIns="0" rIns="0" bIns="0" rtlCol="0" anchor="t">
            <a:spAutoFit/>
          </a:bodyPr>
          <a:lstStyle/>
          <a:p>
            <a:pPr algn="l">
              <a:lnSpc>
                <a:spcPts val="2519"/>
              </a:lnSpc>
            </a:pPr>
            <a:r>
              <a:rPr lang="en-US" sz="1799" dirty="0">
                <a:solidFill>
                  <a:srgbClr val="000000"/>
                </a:solidFill>
                <a:latin typeface="TT Fors"/>
                <a:ea typeface="TT Fors"/>
                <a:cs typeface="TT Fors"/>
                <a:sym typeface="TT Fors"/>
              </a:rPr>
              <a:t>SACCOs + Unions</a:t>
            </a:r>
          </a:p>
        </p:txBody>
      </p:sp>
      <p:sp>
        <p:nvSpPr>
          <p:cNvPr id="18" name="TextBox 18"/>
          <p:cNvSpPr txBox="1"/>
          <p:nvPr/>
        </p:nvSpPr>
        <p:spPr>
          <a:xfrm>
            <a:off x="6129592" y="5707980"/>
            <a:ext cx="3027848" cy="352019"/>
          </a:xfrm>
          <a:prstGeom prst="rect">
            <a:avLst/>
          </a:prstGeom>
        </p:spPr>
        <p:txBody>
          <a:bodyPr lIns="0" tIns="0" rIns="0" bIns="0" rtlCol="0" anchor="t">
            <a:spAutoFit/>
          </a:bodyPr>
          <a:lstStyle/>
          <a:p>
            <a:pPr algn="ctr">
              <a:lnSpc>
                <a:spcPts val="2850"/>
              </a:lnSpc>
            </a:pPr>
            <a:r>
              <a:rPr lang="en-US" sz="1900" b="1" dirty="0">
                <a:solidFill>
                  <a:srgbClr val="000000"/>
                </a:solidFill>
                <a:latin typeface="TT Norms Bold"/>
                <a:ea typeface="TT Norms Bold"/>
                <a:cs typeface="TT Norms Bold"/>
                <a:sym typeface="TT Norms Bold"/>
              </a:rPr>
              <a:t>Mobile Banking Integrated</a:t>
            </a:r>
          </a:p>
        </p:txBody>
      </p:sp>
      <p:sp>
        <p:nvSpPr>
          <p:cNvPr id="19" name="TextBox 19"/>
          <p:cNvSpPr txBox="1"/>
          <p:nvPr/>
        </p:nvSpPr>
        <p:spPr>
          <a:xfrm>
            <a:off x="7264398" y="6789474"/>
            <a:ext cx="563592" cy="519373"/>
          </a:xfrm>
          <a:prstGeom prst="rect">
            <a:avLst/>
          </a:prstGeom>
        </p:spPr>
        <p:txBody>
          <a:bodyPr wrap="square" lIns="0" tIns="0" rIns="0" bIns="0" rtlCol="0" anchor="t">
            <a:spAutoFit/>
          </a:bodyPr>
          <a:lstStyle/>
          <a:p>
            <a:pPr algn="ctr">
              <a:lnSpc>
                <a:spcPts val="4199"/>
              </a:lnSpc>
            </a:pPr>
            <a:r>
              <a:rPr lang="en-US" sz="2999" b="1" dirty="0">
                <a:solidFill>
                  <a:srgbClr val="00ADEF"/>
                </a:solidFill>
                <a:latin typeface="TT Norms Bold"/>
                <a:ea typeface="TT Norms Bold"/>
                <a:cs typeface="TT Norms Bold"/>
                <a:sym typeface="TT Norms Bold"/>
              </a:rPr>
              <a:t>15</a:t>
            </a:r>
          </a:p>
        </p:txBody>
      </p:sp>
      <p:sp>
        <p:nvSpPr>
          <p:cNvPr id="20" name="TextBox 20"/>
          <p:cNvSpPr txBox="1"/>
          <p:nvPr/>
        </p:nvSpPr>
        <p:spPr>
          <a:xfrm>
            <a:off x="6620032" y="7996683"/>
            <a:ext cx="2156436" cy="306705"/>
          </a:xfrm>
          <a:prstGeom prst="rect">
            <a:avLst/>
          </a:prstGeom>
        </p:spPr>
        <p:txBody>
          <a:bodyPr lIns="0" tIns="0" rIns="0" bIns="0" rtlCol="0" anchor="t">
            <a:spAutoFit/>
          </a:bodyPr>
          <a:lstStyle/>
          <a:p>
            <a:pPr algn="l">
              <a:lnSpc>
                <a:spcPts val="2519"/>
              </a:lnSpc>
            </a:pPr>
            <a:r>
              <a:rPr lang="en-US" sz="1799" dirty="0">
                <a:solidFill>
                  <a:srgbClr val="000000"/>
                </a:solidFill>
                <a:latin typeface="TT Fors"/>
                <a:ea typeface="TT Fors"/>
                <a:cs typeface="TT Fors"/>
                <a:sym typeface="TT Fors"/>
              </a:rPr>
              <a:t>      SACCOs</a:t>
            </a:r>
          </a:p>
        </p:txBody>
      </p:sp>
      <p:sp>
        <p:nvSpPr>
          <p:cNvPr id="23" name="TextBox 21">
            <a:extLst>
              <a:ext uri="{FF2B5EF4-FFF2-40B4-BE49-F238E27FC236}">
                <a16:creationId xmlns:a16="http://schemas.microsoft.com/office/drawing/2014/main" id="{2C35B976-627F-C9C1-4A01-90BBF2D9123B}"/>
              </a:ext>
            </a:extLst>
          </p:cNvPr>
          <p:cNvSpPr txBox="1"/>
          <p:nvPr/>
        </p:nvSpPr>
        <p:spPr>
          <a:xfrm>
            <a:off x="611475" y="8989864"/>
            <a:ext cx="834449" cy="1611339"/>
          </a:xfrm>
          <a:prstGeom prst="rect">
            <a:avLst/>
          </a:prstGeom>
        </p:spPr>
        <p:txBody>
          <a:bodyPr wrap="square" lIns="0" tIns="0" rIns="0" bIns="0" rtlCol="0" anchor="t">
            <a:spAutoFit/>
          </a:bodyPr>
          <a:lstStyle/>
          <a:p>
            <a:pPr algn="l">
              <a:lnSpc>
                <a:spcPts val="6700"/>
              </a:lnSpc>
            </a:pPr>
            <a:r>
              <a:rPr lang="en-US" sz="2800" b="1" spc="-335" dirty="0">
                <a:solidFill>
                  <a:srgbClr val="00ADEF"/>
                </a:solidFill>
                <a:latin typeface="TT Norms Bold"/>
                <a:ea typeface="TT Norms Bold"/>
                <a:cs typeface="TT Norms Bold"/>
                <a:sym typeface="TT Norms Bold"/>
              </a:rPr>
              <a:t>250K+  </a:t>
            </a:r>
          </a:p>
        </p:txBody>
      </p:sp>
      <p:sp>
        <p:nvSpPr>
          <p:cNvPr id="24" name="TextBox 21">
            <a:extLst>
              <a:ext uri="{FF2B5EF4-FFF2-40B4-BE49-F238E27FC236}">
                <a16:creationId xmlns:a16="http://schemas.microsoft.com/office/drawing/2014/main" id="{D222939B-0D99-CC90-A1FF-F4F0260B5285}"/>
              </a:ext>
            </a:extLst>
          </p:cNvPr>
          <p:cNvSpPr txBox="1"/>
          <p:nvPr/>
        </p:nvSpPr>
        <p:spPr>
          <a:xfrm>
            <a:off x="3949561" y="9027072"/>
            <a:ext cx="834449" cy="753749"/>
          </a:xfrm>
          <a:prstGeom prst="rect">
            <a:avLst/>
          </a:prstGeom>
        </p:spPr>
        <p:txBody>
          <a:bodyPr wrap="square" lIns="0" tIns="0" rIns="0" bIns="0" rtlCol="0" anchor="t">
            <a:spAutoFit/>
          </a:bodyPr>
          <a:lstStyle/>
          <a:p>
            <a:pPr algn="l">
              <a:lnSpc>
                <a:spcPts val="6700"/>
              </a:lnSpc>
            </a:pPr>
            <a:r>
              <a:rPr lang="en-US" sz="2800" b="1" spc="-335" dirty="0">
                <a:solidFill>
                  <a:srgbClr val="00ADEF"/>
                </a:solidFill>
                <a:latin typeface="TT Norms Bold"/>
                <a:ea typeface="TT Norms Bold"/>
                <a:cs typeface="TT Norms Bold"/>
                <a:sym typeface="TT Norms Bold"/>
              </a:rPr>
              <a:t>2K+   </a:t>
            </a:r>
          </a:p>
        </p:txBody>
      </p:sp>
      <p:sp>
        <p:nvSpPr>
          <p:cNvPr id="25" name="TextBox 22">
            <a:extLst>
              <a:ext uri="{FF2B5EF4-FFF2-40B4-BE49-F238E27FC236}">
                <a16:creationId xmlns:a16="http://schemas.microsoft.com/office/drawing/2014/main" id="{2E2431DA-7174-AC64-E296-56396496DBBE}"/>
              </a:ext>
            </a:extLst>
          </p:cNvPr>
          <p:cNvSpPr txBox="1"/>
          <p:nvPr/>
        </p:nvSpPr>
        <p:spPr>
          <a:xfrm>
            <a:off x="654018" y="9358826"/>
            <a:ext cx="3872179" cy="352019"/>
          </a:xfrm>
          <a:prstGeom prst="rect">
            <a:avLst/>
          </a:prstGeom>
        </p:spPr>
        <p:txBody>
          <a:bodyPr wrap="square" lIns="0" tIns="0" rIns="0" bIns="0" rtlCol="0" anchor="t">
            <a:spAutoFit/>
          </a:bodyPr>
          <a:lstStyle/>
          <a:p>
            <a:pPr algn="ctr">
              <a:lnSpc>
                <a:spcPts val="2850"/>
              </a:lnSpc>
            </a:pPr>
            <a:r>
              <a:rPr lang="en-US" sz="1900" b="1" dirty="0">
                <a:solidFill>
                  <a:srgbClr val="46251E"/>
                </a:solidFill>
                <a:latin typeface="TT Norms Bold"/>
                <a:ea typeface="TT Norms Bold"/>
                <a:cs typeface="TT Norms Bold"/>
                <a:sym typeface="TT Norms Bold"/>
              </a:rPr>
              <a:t>Individual Members</a:t>
            </a:r>
          </a:p>
        </p:txBody>
      </p:sp>
      <p:sp>
        <p:nvSpPr>
          <p:cNvPr id="26" name="TextBox 22">
            <a:extLst>
              <a:ext uri="{FF2B5EF4-FFF2-40B4-BE49-F238E27FC236}">
                <a16:creationId xmlns:a16="http://schemas.microsoft.com/office/drawing/2014/main" id="{8C863106-535F-1631-9620-F4537CBAAB41}"/>
              </a:ext>
            </a:extLst>
          </p:cNvPr>
          <p:cNvSpPr txBox="1"/>
          <p:nvPr/>
        </p:nvSpPr>
        <p:spPr>
          <a:xfrm>
            <a:off x="3891700" y="9366739"/>
            <a:ext cx="3872179" cy="352019"/>
          </a:xfrm>
          <a:prstGeom prst="rect">
            <a:avLst/>
          </a:prstGeom>
        </p:spPr>
        <p:txBody>
          <a:bodyPr wrap="square" lIns="0" tIns="0" rIns="0" bIns="0" rtlCol="0" anchor="t">
            <a:spAutoFit/>
          </a:bodyPr>
          <a:lstStyle/>
          <a:p>
            <a:pPr algn="ctr">
              <a:lnSpc>
                <a:spcPts val="2850"/>
              </a:lnSpc>
            </a:pPr>
            <a:r>
              <a:rPr lang="en-US" sz="1900" b="1" dirty="0">
                <a:solidFill>
                  <a:srgbClr val="46251E"/>
                </a:solidFill>
                <a:latin typeface="TT Norms Bold"/>
                <a:ea typeface="TT Norms Bold"/>
                <a:cs typeface="TT Norms Bold"/>
                <a:sym typeface="TT Norms Bold"/>
              </a:rPr>
              <a:t>Primary Cooperatives</a:t>
            </a:r>
          </a:p>
        </p:txBody>
      </p:sp>
      <p:grpSp>
        <p:nvGrpSpPr>
          <p:cNvPr id="29" name="Group 17">
            <a:extLst>
              <a:ext uri="{FF2B5EF4-FFF2-40B4-BE49-F238E27FC236}">
                <a16:creationId xmlns:a16="http://schemas.microsoft.com/office/drawing/2014/main" id="{026DFE43-A774-BC8E-1FA8-0348A54EAD89}"/>
              </a:ext>
            </a:extLst>
          </p:cNvPr>
          <p:cNvGrpSpPr/>
          <p:nvPr/>
        </p:nvGrpSpPr>
        <p:grpSpPr>
          <a:xfrm>
            <a:off x="447975" y="342900"/>
            <a:ext cx="1161450" cy="463162"/>
            <a:chOff x="0" y="0"/>
            <a:chExt cx="1548600" cy="617549"/>
          </a:xfrm>
        </p:grpSpPr>
        <p:sp>
          <p:nvSpPr>
            <p:cNvPr id="30" name="Freeform 18">
              <a:extLst>
                <a:ext uri="{FF2B5EF4-FFF2-40B4-BE49-F238E27FC236}">
                  <a16:creationId xmlns:a16="http://schemas.microsoft.com/office/drawing/2014/main" id="{C54E535D-0F9F-1A51-D5A0-FA88808B64EF}"/>
                </a:ext>
              </a:extLst>
            </p:cNvPr>
            <p:cNvSpPr/>
            <p:nvPr/>
          </p:nvSpPr>
          <p:spPr>
            <a:xfrm>
              <a:off x="0" y="0"/>
              <a:ext cx="1548638" cy="617601"/>
            </a:xfrm>
            <a:custGeom>
              <a:avLst/>
              <a:gdLst/>
              <a:ahLst/>
              <a:cxnLst/>
              <a:rect l="l" t="t" r="r" b="b"/>
              <a:pathLst>
                <a:path w="1548638" h="617601">
                  <a:moveTo>
                    <a:pt x="0" y="0"/>
                  </a:moveTo>
                  <a:lnTo>
                    <a:pt x="1548638" y="0"/>
                  </a:lnTo>
                  <a:lnTo>
                    <a:pt x="1548638" y="617601"/>
                  </a:lnTo>
                  <a:lnTo>
                    <a:pt x="0" y="617601"/>
                  </a:lnTo>
                  <a:lnTo>
                    <a:pt x="0" y="0"/>
                  </a:lnTo>
                  <a:close/>
                </a:path>
              </a:pathLst>
            </a:custGeom>
            <a:blipFill>
              <a:blip r:embed="rId5"/>
              <a:stretch>
                <a:fillRect t="-3" r="2" b="4"/>
              </a:stretch>
            </a:blipFill>
          </p:spPr>
        </p:sp>
      </p:grpSp>
      <p:pic>
        <p:nvPicPr>
          <p:cNvPr id="31" name="Picture 30">
            <a:extLst>
              <a:ext uri="{FF2B5EF4-FFF2-40B4-BE49-F238E27FC236}">
                <a16:creationId xmlns:a16="http://schemas.microsoft.com/office/drawing/2014/main" id="{D7D4DD01-D129-FD73-03B3-257C9B35464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928500" y="146130"/>
            <a:ext cx="2140667" cy="118972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 name="TextBox 3"/>
          <p:cNvSpPr txBox="1"/>
          <p:nvPr/>
        </p:nvSpPr>
        <p:spPr>
          <a:xfrm>
            <a:off x="4050018" y="4572498"/>
            <a:ext cx="8848803" cy="780278"/>
          </a:xfrm>
          <a:prstGeom prst="rect">
            <a:avLst/>
          </a:prstGeom>
        </p:spPr>
        <p:txBody>
          <a:bodyPr wrap="square" lIns="0" tIns="0" rIns="0" bIns="0" rtlCol="0" anchor="t">
            <a:spAutoFit/>
          </a:bodyPr>
          <a:lstStyle/>
          <a:p>
            <a:pPr algn="ctr">
              <a:lnSpc>
                <a:spcPts val="3079"/>
              </a:lnSpc>
            </a:pPr>
            <a:r>
              <a:rPr lang="en-US" sz="2199" dirty="0">
                <a:solidFill>
                  <a:srgbClr val="000000"/>
                </a:solidFill>
                <a:latin typeface="TT Fors"/>
                <a:ea typeface="TT Fors"/>
                <a:cs typeface="TT Fors"/>
                <a:sym typeface="TT Fors"/>
              </a:rPr>
              <a:t>https://coopbankoromia.com.et/coopbank-sacco-link</a:t>
            </a:r>
          </a:p>
          <a:p>
            <a:pPr algn="ctr">
              <a:lnSpc>
                <a:spcPts val="3079"/>
              </a:lnSpc>
              <a:spcBef>
                <a:spcPct val="0"/>
              </a:spcBef>
            </a:pPr>
            <a:r>
              <a:rPr lang="en-US" sz="2199" dirty="0">
                <a:solidFill>
                  <a:srgbClr val="000000"/>
                </a:solidFill>
                <a:latin typeface="TT Fors"/>
                <a:ea typeface="TT Fors"/>
                <a:cs typeface="TT Fors"/>
                <a:sym typeface="TT Fors"/>
              </a:rPr>
              <a:t>+251-965-2964-02</a:t>
            </a:r>
          </a:p>
        </p:txBody>
      </p:sp>
      <p:sp>
        <p:nvSpPr>
          <p:cNvPr id="5" name="TextBox 5"/>
          <p:cNvSpPr txBox="1"/>
          <p:nvPr/>
        </p:nvSpPr>
        <p:spPr>
          <a:xfrm>
            <a:off x="5867400" y="6324961"/>
            <a:ext cx="6553200" cy="371255"/>
          </a:xfrm>
          <a:prstGeom prst="rect">
            <a:avLst/>
          </a:prstGeom>
        </p:spPr>
        <p:txBody>
          <a:bodyPr wrap="square" lIns="0" tIns="0" rIns="0" bIns="0" rtlCol="0" anchor="t">
            <a:spAutoFit/>
          </a:bodyPr>
          <a:lstStyle/>
          <a:p>
            <a:pPr algn="l">
              <a:lnSpc>
                <a:spcPts val="2659"/>
              </a:lnSpc>
            </a:pPr>
            <a:r>
              <a:rPr lang="en-US" sz="2900" b="1" dirty="0">
                <a:solidFill>
                  <a:srgbClr val="000000"/>
                </a:solidFill>
                <a:latin typeface="TT Fors Bold"/>
                <a:ea typeface="TT Fors Bold"/>
                <a:cs typeface="TT Fors Bold"/>
                <a:sym typeface="TT Fors Bold"/>
              </a:rPr>
              <a:t>Cooperative Bank of Oromia</a:t>
            </a:r>
          </a:p>
        </p:txBody>
      </p:sp>
      <p:sp>
        <p:nvSpPr>
          <p:cNvPr id="6" name="TextBox 6"/>
          <p:cNvSpPr txBox="1"/>
          <p:nvPr/>
        </p:nvSpPr>
        <p:spPr>
          <a:xfrm>
            <a:off x="5048780" y="5660935"/>
            <a:ext cx="8190440" cy="355867"/>
          </a:xfrm>
          <a:prstGeom prst="rect">
            <a:avLst/>
          </a:prstGeom>
        </p:spPr>
        <p:txBody>
          <a:bodyPr wrap="square" lIns="0" tIns="0" rIns="0" bIns="0" rtlCol="0" anchor="t">
            <a:spAutoFit/>
          </a:bodyPr>
          <a:lstStyle/>
          <a:p>
            <a:pPr algn="just">
              <a:lnSpc>
                <a:spcPts val="2659"/>
              </a:lnSpc>
            </a:pPr>
            <a:r>
              <a:rPr lang="en-US" sz="2500" i="1" dirty="0">
                <a:solidFill>
                  <a:srgbClr val="2E2E2E"/>
                </a:solidFill>
                <a:latin typeface="TT Fors"/>
                <a:ea typeface="TT Fors"/>
                <a:cs typeface="TT Fors"/>
                <a:sym typeface="TT Fors"/>
              </a:rPr>
              <a:t>Empowering Communities, Transforming Lives</a:t>
            </a:r>
          </a:p>
        </p:txBody>
      </p:sp>
      <p:sp>
        <p:nvSpPr>
          <p:cNvPr id="7" name="Freeform 6">
            <a:extLst>
              <a:ext uri="{FF2B5EF4-FFF2-40B4-BE49-F238E27FC236}">
                <a16:creationId xmlns:a16="http://schemas.microsoft.com/office/drawing/2014/main" id="{5DFC1EFD-43E7-6568-9D74-C51AE32CDAD1}"/>
              </a:ext>
            </a:extLst>
          </p:cNvPr>
          <p:cNvSpPr/>
          <p:nvPr/>
        </p:nvSpPr>
        <p:spPr>
          <a:xfrm>
            <a:off x="5410200" y="2409055"/>
            <a:ext cx="6248400" cy="1952853"/>
          </a:xfrm>
          <a:custGeom>
            <a:avLst/>
            <a:gdLst/>
            <a:ahLst/>
            <a:cxnLst/>
            <a:rect l="l" t="t" r="r" b="b"/>
            <a:pathLst>
              <a:path w="7315200" h="2088157">
                <a:moveTo>
                  <a:pt x="0" y="0"/>
                </a:moveTo>
                <a:lnTo>
                  <a:pt x="7315200" y="0"/>
                </a:lnTo>
                <a:lnTo>
                  <a:pt x="7315200" y="2088158"/>
                </a:lnTo>
                <a:lnTo>
                  <a:pt x="0" y="2088158"/>
                </a:lnTo>
                <a:lnTo>
                  <a:pt x="0" y="0"/>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71420</TotalTime>
  <Words>560</Words>
  <Application>Microsoft Office PowerPoint</Application>
  <PresentationFormat>Custom</PresentationFormat>
  <Paragraphs>81</Paragraphs>
  <Slides>7</Slides>
  <Notes>2</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7</vt:i4>
      </vt:variant>
    </vt:vector>
  </HeadingPairs>
  <TitlesOfParts>
    <vt:vector size="23" baseType="lpstr">
      <vt:lpstr>TT Fors Bold</vt:lpstr>
      <vt:lpstr>Proxima Nova</vt:lpstr>
      <vt:lpstr>Open Sans Semi-Bold</vt:lpstr>
      <vt:lpstr>TT Norms Bold</vt:lpstr>
      <vt:lpstr>Arial</vt:lpstr>
      <vt:lpstr>TT Fors</vt:lpstr>
      <vt:lpstr>Nirmala Text</vt:lpstr>
      <vt:lpstr>Nirmala UI Semilight</vt:lpstr>
      <vt:lpstr>Helvetica Now Bold</vt:lpstr>
      <vt:lpstr>Helvetica Now</vt:lpstr>
      <vt:lpstr>TT Norms</vt:lpstr>
      <vt:lpstr>Nirmala UI</vt:lpstr>
      <vt:lpstr>Calibri</vt:lpstr>
      <vt:lpstr>Poppins Light</vt:lpstr>
      <vt:lpstr>Proxima Nova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SACCOPAY MOBILE BANKING SOLUTION</dc:title>
  <dc:creator>Coop</dc:creator>
  <cp:lastModifiedBy>Habib Sura</cp:lastModifiedBy>
  <cp:revision>12</cp:revision>
  <dcterms:created xsi:type="dcterms:W3CDTF">2006-08-16T00:00:00Z</dcterms:created>
  <dcterms:modified xsi:type="dcterms:W3CDTF">2026-10-21T06:00:07Z</dcterms:modified>
  <dc:identifier>DAG83hf55Sg</dc:identifier>
</cp:coreProperties>
</file>
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Helvetica Now" panose="020B0604020202020204" charset="0"/>
      <p:regular r:id="rId8"/>
    </p:embeddedFont>
    <p:embeddedFont>
      <p:font typeface="Helvetica Now Bold" panose="020B0604020202020204" charset="0"/>
      <p:regular r:id="rId9"/>
    </p:embeddedFont>
    <p:embeddedFont>
      <p:font typeface="Nirmala UI Semilight" panose="020B0402040204020203" pitchFamily="34" charset="0"/>
      <p:regular r:id="rId10"/>
    </p:embeddedFont>
    <p:embeddedFont>
      <p:font typeface="Proxima Nova" panose="020B0604020202020204" charset="0"/>
      <p:regular r:id="rId11"/>
    </p:embeddedFont>
    <p:embeddedFont>
      <p:font typeface="Proxima Nova Bold" panose="020B0604020202020204" charset="0"/>
      <p:regular r:id="rId12"/>
    </p:embeddedFont>
    <p:embeddedFont>
      <p:font typeface="TT Fors" panose="020B0604020202020204" charset="0"/>
      <p:regular r:id="rId13"/>
    </p:embeddedFont>
    <p:embeddedFont>
      <p:font typeface="TT Fors Bold" panose="020B0604020202020204" charset="0"/>
      <p:regular r:id="rId14"/>
    </p:embeddedFont>
    <p:embeddedFont>
      <p:font typeface="TT Norms" panose="020B0604020202020204" charset="0"/>
      <p:regular r:id="rId15"/>
    </p:embeddedFont>
    <p:embeddedFont>
      <p:font typeface="TT Norm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224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046E9-9FA0-4A4D-884D-2460DC150D5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5407F-5E87-4F46-BB6D-D008E072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9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71847" y="806101"/>
            <a:ext cx="11997512" cy="6754037"/>
          </a:xfrm>
          <a:custGeom>
            <a:avLst/>
            <a:gdLst/>
            <a:ahLst/>
            <a:cxnLst/>
            <a:rect l="l" t="t" r="r" b="b"/>
            <a:pathLst>
              <a:path w="11997512" h="6754037">
                <a:moveTo>
                  <a:pt x="0" y="0"/>
                </a:moveTo>
                <a:lnTo>
                  <a:pt x="11997512" y="0"/>
                </a:lnTo>
                <a:lnTo>
                  <a:pt x="11997512" y="6754036"/>
                </a:lnTo>
                <a:lnTo>
                  <a:pt x="0" y="6754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5232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734630" y="9521381"/>
            <a:ext cx="306463" cy="306463"/>
            <a:chOff x="0" y="0"/>
            <a:chExt cx="70040" cy="70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0040" cy="70040"/>
            </a:xfrm>
            <a:custGeom>
              <a:avLst/>
              <a:gdLst/>
              <a:ahLst/>
              <a:cxnLst/>
              <a:rect l="l" t="t" r="r" b="b"/>
              <a:pathLst>
                <a:path w="70040" h="70040">
                  <a:moveTo>
                    <a:pt x="35020" y="0"/>
                  </a:moveTo>
                  <a:lnTo>
                    <a:pt x="35020" y="0"/>
                  </a:lnTo>
                  <a:cubicBezTo>
                    <a:pt x="54361" y="0"/>
                    <a:pt x="70040" y="15679"/>
                    <a:pt x="70040" y="35020"/>
                  </a:cubicBezTo>
                  <a:lnTo>
                    <a:pt x="70040" y="35020"/>
                  </a:lnTo>
                  <a:cubicBezTo>
                    <a:pt x="70040" y="54361"/>
                    <a:pt x="54361" y="70040"/>
                    <a:pt x="35020" y="70040"/>
                  </a:cubicBezTo>
                  <a:lnTo>
                    <a:pt x="35020" y="70040"/>
                  </a:lnTo>
                  <a:cubicBezTo>
                    <a:pt x="15679" y="70040"/>
                    <a:pt x="0" y="54361"/>
                    <a:pt x="0" y="35020"/>
                  </a:cubicBezTo>
                  <a:lnTo>
                    <a:pt x="0" y="35020"/>
                  </a:lnTo>
                  <a:cubicBezTo>
                    <a:pt x="0" y="15679"/>
                    <a:pt x="15679" y="0"/>
                    <a:pt x="35020" y="0"/>
                  </a:cubicBezTo>
                  <a:close/>
                </a:path>
              </a:pathLst>
            </a:custGeom>
            <a:solidFill>
              <a:srgbClr val="3B256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0040" cy="9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812832" y="9599583"/>
            <a:ext cx="150057" cy="150057"/>
          </a:xfrm>
          <a:custGeom>
            <a:avLst/>
            <a:gdLst/>
            <a:ahLst/>
            <a:cxnLst/>
            <a:rect l="l" t="t" r="r" b="b"/>
            <a:pathLst>
              <a:path w="150057" h="150057">
                <a:moveTo>
                  <a:pt x="0" y="0"/>
                </a:moveTo>
                <a:lnTo>
                  <a:pt x="150057" y="0"/>
                </a:lnTo>
                <a:lnTo>
                  <a:pt x="150057" y="150057"/>
                </a:lnTo>
                <a:lnTo>
                  <a:pt x="0" y="1500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825725">
            <a:off x="14553531" y="5452809"/>
            <a:ext cx="5102352" cy="8229600"/>
          </a:xfrm>
          <a:custGeom>
            <a:avLst/>
            <a:gdLst/>
            <a:ahLst/>
            <a:cxnLst/>
            <a:rect l="l" t="t" r="r" b="b"/>
            <a:pathLst>
              <a:path w="5102352" h="8229600">
                <a:moveTo>
                  <a:pt x="0" y="0"/>
                </a:moveTo>
                <a:lnTo>
                  <a:pt x="5102352" y="0"/>
                </a:lnTo>
                <a:lnTo>
                  <a:pt x="51023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1028700" y="4762500"/>
            <a:ext cx="1270414" cy="0"/>
          </a:xfrm>
          <a:prstGeom prst="line">
            <a:avLst/>
          </a:prstGeom>
          <a:ln w="76200" cap="flat">
            <a:solidFill>
              <a:srgbClr val="3B256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8878061" y="0"/>
            <a:ext cx="9383030" cy="10287000"/>
          </a:xfrm>
          <a:custGeom>
            <a:avLst/>
            <a:gdLst/>
            <a:ahLst/>
            <a:cxnLst/>
            <a:rect l="l" t="t" r="r" b="b"/>
            <a:pathLst>
              <a:path w="9383030" h="9383030">
                <a:moveTo>
                  <a:pt x="0" y="0"/>
                </a:moveTo>
                <a:lnTo>
                  <a:pt x="9383030" y="0"/>
                </a:lnTo>
                <a:lnTo>
                  <a:pt x="9383030" y="9383030"/>
                </a:lnTo>
                <a:lnTo>
                  <a:pt x="0" y="93830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52614" y="4073255"/>
            <a:ext cx="4412068" cy="34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242424"/>
                </a:solidFill>
                <a:latin typeface="Helvetica Now"/>
                <a:ea typeface="Helvetica Now"/>
                <a:cs typeface="Helvetica Now"/>
                <a:sym typeface="Helvetica Now"/>
              </a:rPr>
              <a:t>Core Banking + Mobile Banking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976411"/>
            <a:ext cx="4435982" cy="1004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1" spc="-349" dirty="0">
                <a:latin typeface="Helvetica Now Bold"/>
                <a:ea typeface="Helvetica Now Bold"/>
                <a:cs typeface="Helvetica Now Bold"/>
                <a:sym typeface="Helvetica Now Bold"/>
              </a:rPr>
              <a:t>Introducing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3022936"/>
            <a:ext cx="7886613" cy="100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1" spc="-349" dirty="0">
                <a:solidFill>
                  <a:srgbClr val="00B0F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SACCO</a:t>
            </a:r>
            <a:r>
              <a:rPr lang="en-US" sz="6999" b="1" spc="-349" dirty="0">
                <a:solidFill>
                  <a:schemeClr val="accent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-</a:t>
            </a:r>
            <a:r>
              <a:rPr lang="en-US" sz="6999" b="1" spc="-349" dirty="0">
                <a:solidFill>
                  <a:srgbClr val="00B0F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Link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2001" y="5170128"/>
            <a:ext cx="7886612" cy="414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dirty="0">
                <a:solidFill>
                  <a:srgbClr val="242424"/>
                </a:solidFill>
                <a:latin typeface="Helvetica Now"/>
                <a:ea typeface="Helvetica Now"/>
                <a:cs typeface="Helvetica Now"/>
                <a:sym typeface="Helvetica Now"/>
              </a:rPr>
              <a:t>Is an integrated Core and Mobile Banking platform designed for SACCOs and Unions to,</a:t>
            </a:r>
          </a:p>
          <a:p>
            <a:pPr algn="l">
              <a:lnSpc>
                <a:spcPts val="2660"/>
              </a:lnSpc>
            </a:pPr>
            <a:endParaRPr lang="en-US" sz="1900" dirty="0">
              <a:solidFill>
                <a:srgbClr val="242424"/>
              </a:solidFill>
              <a:latin typeface="Helvetica Now"/>
              <a:ea typeface="Helvetica Now"/>
              <a:cs typeface="Helvetica Now"/>
              <a:sym typeface="Helvetica Now"/>
            </a:endParaRPr>
          </a:p>
          <a:p>
            <a:pPr marL="342900" indent="-342900">
              <a:lnSpc>
                <a:spcPts val="2660"/>
              </a:lnSpc>
              <a:buFont typeface="Arial" panose="020B0604020202020204" pitchFamily="34" charset="0"/>
              <a:buChar char="•"/>
            </a:pPr>
            <a:r>
              <a:rPr lang="en-US" sz="2000" b="1" spc="85" dirty="0">
                <a:solidFill>
                  <a:srgbClr val="00000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Canva Sans"/>
              </a:rPr>
              <a:t>Digitize Manual Operations i</a:t>
            </a:r>
            <a:r>
              <a:rPr lang="en-US" sz="2000" spc="85" dirty="0">
                <a:solidFill>
                  <a:srgbClr val="00000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Canva Sans"/>
              </a:rPr>
              <a:t>nto automated, standardized, and secure digital systems.</a:t>
            </a:r>
          </a:p>
          <a:p>
            <a:pPr marL="342900" indent="-342900">
              <a:lnSpc>
                <a:spcPts val="2660"/>
              </a:lnSpc>
              <a:buFont typeface="Arial" panose="020B0604020202020204" pitchFamily="34" charset="0"/>
              <a:buChar char="•"/>
            </a:pPr>
            <a:endParaRPr lang="en-US" sz="2000" spc="85" dirty="0">
              <a:solidFill>
                <a:srgbClr val="00000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Canva Sans"/>
            </a:endParaRPr>
          </a:p>
          <a:p>
            <a:pPr marL="342900" indent="-342900" algn="l">
              <a:lnSpc>
                <a:spcPts val="266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242424"/>
                </a:solidFill>
                <a:latin typeface="Helvetica Now"/>
                <a:ea typeface="Helvetica Now"/>
                <a:cs typeface="Helvetica Now"/>
                <a:sym typeface="Helvetica Now"/>
              </a:rPr>
              <a:t>Connect </a:t>
            </a:r>
            <a:r>
              <a:rPr lang="en-US" sz="1900" dirty="0">
                <a:solidFill>
                  <a:srgbClr val="242424"/>
                </a:solidFill>
                <a:latin typeface="Helvetica Now"/>
                <a:ea typeface="Helvetica Now"/>
                <a:cs typeface="Helvetica Now"/>
                <a:sym typeface="Helvetica Now"/>
              </a:rPr>
              <a:t>Members, SACCOs/Union, and the bank in real time </a:t>
            </a:r>
          </a:p>
          <a:p>
            <a:pPr marL="342900" indent="-342900" algn="l">
              <a:lnSpc>
                <a:spcPts val="2660"/>
              </a:lnSpc>
              <a:buFont typeface="Arial" panose="020B0604020202020204" pitchFamily="34" charset="0"/>
              <a:buChar char="•"/>
            </a:pPr>
            <a:endParaRPr lang="en-US" sz="1900" dirty="0">
              <a:solidFill>
                <a:srgbClr val="242424"/>
              </a:solidFill>
              <a:latin typeface="Helvetica Now"/>
              <a:ea typeface="Helvetica Now"/>
              <a:cs typeface="Helvetica Now"/>
              <a:sym typeface="Helvetica Now"/>
            </a:endParaRPr>
          </a:p>
          <a:p>
            <a:pPr marL="342900" indent="-342900" algn="l">
              <a:lnSpc>
                <a:spcPts val="266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242424"/>
                </a:solidFill>
                <a:latin typeface="Helvetica Now"/>
                <a:ea typeface="Helvetica Now"/>
                <a:cs typeface="Helvetica Now"/>
                <a:sym typeface="Helvetica Now"/>
              </a:rPr>
              <a:t>Enable C</a:t>
            </a:r>
            <a:r>
              <a:rPr lang="en-US" sz="1900" dirty="0">
                <a:solidFill>
                  <a:srgbClr val="242424"/>
                </a:solidFill>
                <a:latin typeface="Helvetica Now"/>
                <a:ea typeface="Helvetica Now"/>
                <a:cs typeface="Helvetica Now"/>
                <a:sym typeface="Helvetica Now"/>
              </a:rPr>
              <a:t>ooperatives to operate competitively like formal FIs, and </a:t>
            </a:r>
          </a:p>
          <a:p>
            <a:pPr marL="342900" indent="-342900" algn="l">
              <a:lnSpc>
                <a:spcPts val="2660"/>
              </a:lnSpc>
              <a:buFont typeface="Arial" panose="020B0604020202020204" pitchFamily="34" charset="0"/>
              <a:buChar char="•"/>
            </a:pPr>
            <a:endParaRPr lang="en-US" sz="1900" dirty="0">
              <a:solidFill>
                <a:srgbClr val="242424"/>
              </a:solidFill>
              <a:latin typeface="Helvetica Now"/>
              <a:ea typeface="Helvetica Now"/>
              <a:cs typeface="Helvetica Now"/>
              <a:sym typeface="Helvetica Now"/>
            </a:endParaRPr>
          </a:p>
          <a:p>
            <a:pPr marL="342900" indent="-342900" algn="l">
              <a:lnSpc>
                <a:spcPts val="266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242424"/>
                </a:solidFill>
                <a:latin typeface="Helvetica Now"/>
                <a:ea typeface="Helvetica Now"/>
                <a:cs typeface="Helvetica Now"/>
                <a:sym typeface="Helvetica Now"/>
              </a:rPr>
              <a:t>Generate </a:t>
            </a:r>
            <a:r>
              <a:rPr lang="en-US" sz="1900" dirty="0">
                <a:solidFill>
                  <a:srgbClr val="242424"/>
                </a:solidFill>
                <a:latin typeface="Helvetica Now"/>
                <a:ea typeface="Helvetica Now"/>
                <a:cs typeface="Helvetica Now"/>
                <a:sym typeface="Helvetica Now"/>
              </a:rPr>
              <a:t>Reports that support smarter financial and operational decision-making.</a:t>
            </a:r>
          </a:p>
        </p:txBody>
      </p:sp>
      <p:grpSp>
        <p:nvGrpSpPr>
          <p:cNvPr id="15" name="Group 17">
            <a:extLst>
              <a:ext uri="{FF2B5EF4-FFF2-40B4-BE49-F238E27FC236}">
                <a16:creationId xmlns:a16="http://schemas.microsoft.com/office/drawing/2014/main" id="{822E2F30-14BE-5F72-2085-12D764B81855}"/>
              </a:ext>
            </a:extLst>
          </p:cNvPr>
          <p:cNvGrpSpPr/>
          <p:nvPr/>
        </p:nvGrpSpPr>
        <p:grpSpPr>
          <a:xfrm>
            <a:off x="447975" y="342900"/>
            <a:ext cx="1161450" cy="463162"/>
            <a:chOff x="0" y="0"/>
            <a:chExt cx="1548600" cy="617549"/>
          </a:xfrm>
        </p:grpSpPr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36D0ED6B-8568-8217-BF29-750EC1708353}"/>
                </a:ext>
              </a:extLst>
            </p:cNvPr>
            <p:cNvSpPr/>
            <p:nvPr/>
          </p:nvSpPr>
          <p:spPr>
            <a:xfrm>
              <a:off x="0" y="0"/>
              <a:ext cx="1548638" cy="617601"/>
            </a:xfrm>
            <a:custGeom>
              <a:avLst/>
              <a:gdLst/>
              <a:ahLst/>
              <a:cxnLst/>
              <a:rect l="l" t="t" r="r" b="b"/>
              <a:pathLst>
                <a:path w="1548638" h="617601">
                  <a:moveTo>
                    <a:pt x="0" y="0"/>
                  </a:moveTo>
                  <a:lnTo>
                    <a:pt x="1548638" y="0"/>
                  </a:lnTo>
                  <a:lnTo>
                    <a:pt x="1548638" y="617601"/>
                  </a:lnTo>
                  <a:lnTo>
                    <a:pt x="0" y="617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" r="2" b="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6186311" cy="3479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86311" cy="3479800"/>
            </a:xfrm>
            <a:custGeom>
              <a:avLst/>
              <a:gdLst/>
              <a:ahLst/>
              <a:cxnLst/>
              <a:rect l="l" t="t" r="r" b="b"/>
              <a:pathLst>
                <a:path w="6186311" h="3479800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4938988" y="3592651"/>
            <a:ext cx="8410024" cy="7081941"/>
          </a:xfrm>
          <a:custGeom>
            <a:avLst/>
            <a:gdLst/>
            <a:ahLst/>
            <a:cxnLst/>
            <a:rect l="l" t="t" r="r" b="b"/>
            <a:pathLst>
              <a:path w="8410024" h="7081941">
                <a:moveTo>
                  <a:pt x="0" y="0"/>
                </a:moveTo>
                <a:lnTo>
                  <a:pt x="8410024" y="0"/>
                </a:lnTo>
                <a:lnTo>
                  <a:pt x="8410024" y="7081941"/>
                </a:lnTo>
                <a:lnTo>
                  <a:pt x="0" y="708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152457" y="3803184"/>
            <a:ext cx="7982971" cy="4487391"/>
            <a:chOff x="0" y="0"/>
            <a:chExt cx="10643961" cy="5983187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b="13640"/>
            <a:stretch>
              <a:fillRect/>
            </a:stretch>
          </p:blipFill>
          <p:spPr>
            <a:xfrm>
              <a:off x="0" y="0"/>
              <a:ext cx="10643961" cy="5983187"/>
            </a:xfrm>
            <a:prstGeom prst="rect">
              <a:avLst/>
            </a:prstGeom>
          </p:spPr>
        </p:pic>
      </p:grpSp>
      <p:sp>
        <p:nvSpPr>
          <p:cNvPr id="7" name="AutoShape 7"/>
          <p:cNvSpPr/>
          <p:nvPr/>
        </p:nvSpPr>
        <p:spPr>
          <a:xfrm>
            <a:off x="4250615" y="4603432"/>
            <a:ext cx="972579" cy="9525"/>
          </a:xfrm>
          <a:prstGeom prst="line">
            <a:avLst/>
          </a:prstGeom>
          <a:ln w="19050" cap="rnd">
            <a:solidFill>
              <a:srgbClr val="A4A8CA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>
            <a:off x="4250615" y="7186140"/>
            <a:ext cx="1025376" cy="0"/>
          </a:xfrm>
          <a:prstGeom prst="line">
            <a:avLst/>
          </a:prstGeom>
          <a:ln w="19050" cap="rnd">
            <a:solidFill>
              <a:srgbClr val="A4A8CA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9" name="AutoShape 9"/>
          <p:cNvSpPr/>
          <p:nvPr/>
        </p:nvSpPr>
        <p:spPr>
          <a:xfrm flipH="1">
            <a:off x="13083540" y="5381625"/>
            <a:ext cx="1003268" cy="24777"/>
          </a:xfrm>
          <a:prstGeom prst="line">
            <a:avLst/>
          </a:prstGeom>
          <a:ln w="19050" cap="rnd">
            <a:solidFill>
              <a:srgbClr val="A4A8CA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AutoShape 10"/>
          <p:cNvSpPr/>
          <p:nvPr/>
        </p:nvSpPr>
        <p:spPr>
          <a:xfrm flipH="1">
            <a:off x="13091722" y="7186140"/>
            <a:ext cx="995086" cy="0"/>
          </a:xfrm>
          <a:prstGeom prst="line">
            <a:avLst/>
          </a:prstGeom>
          <a:ln w="19050" cap="rnd">
            <a:solidFill>
              <a:srgbClr val="A4A8CA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1" name="TextBox 11"/>
          <p:cNvSpPr txBox="1"/>
          <p:nvPr/>
        </p:nvSpPr>
        <p:spPr>
          <a:xfrm>
            <a:off x="3764011" y="2248672"/>
            <a:ext cx="10759977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6000" b="1" spc="-300" dirty="0">
                <a:solidFill>
                  <a:srgbClr val="41A7E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Core Banking Features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41273" y="3976013"/>
            <a:ext cx="3018027" cy="35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-42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Loan Management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41273" y="4760872"/>
            <a:ext cx="3216246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Account based Principal, interest and penalty calculation automations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976013"/>
            <a:ext cx="3018027" cy="35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spc="-42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Digital KYC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2588" y="4574858"/>
            <a:ext cx="3018027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Clean, and  complete members profile management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961426"/>
            <a:ext cx="3018027" cy="339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spc="-42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Savings &amp; Share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7374810"/>
            <a:ext cx="3018027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Secure and transparent Savings, Share and Asset Management Module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41273" y="6961426"/>
            <a:ext cx="3018027" cy="72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-42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Seamless Financial Reports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41273" y="7746285"/>
            <a:ext cx="3216246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Real-time Balance Sheets, Income Statements and TB Reports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40833" y="1335859"/>
            <a:ext cx="6606335" cy="257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spc="80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Modules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3221BA3-49B5-F20E-3C2B-AD010089A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67571" y="2758717"/>
            <a:ext cx="1218154" cy="1218154"/>
          </a:xfrm>
          <a:prstGeom prst="rect">
            <a:avLst/>
          </a:prstGeom>
          <a:noFill/>
          <a:effectLst>
            <a:outerShdw dir="21540000" sx="1000" sy="1000" algn="ctr" rotWithShape="0">
              <a:srgbClr val="000000">
                <a:alpha val="9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reeform 6">
            <a:extLst>
              <a:ext uri="{FF2B5EF4-FFF2-40B4-BE49-F238E27FC236}">
                <a16:creationId xmlns:a16="http://schemas.microsoft.com/office/drawing/2014/main" id="{F254ADED-A12E-9BB9-08D5-D7C779A3E498}"/>
              </a:ext>
            </a:extLst>
          </p:cNvPr>
          <p:cNvSpPr/>
          <p:nvPr/>
        </p:nvSpPr>
        <p:spPr>
          <a:xfrm>
            <a:off x="2494456" y="5888143"/>
            <a:ext cx="1491269" cy="1073283"/>
          </a:xfrm>
          <a:custGeom>
            <a:avLst/>
            <a:gdLst/>
            <a:ahLst/>
            <a:cxnLst/>
            <a:rect l="l" t="t" r="r" b="b"/>
            <a:pathLst>
              <a:path w="1922733" h="2288968">
                <a:moveTo>
                  <a:pt x="0" y="0"/>
                </a:moveTo>
                <a:lnTo>
                  <a:pt x="1922733" y="0"/>
                </a:lnTo>
                <a:lnTo>
                  <a:pt x="1922733" y="2288968"/>
                </a:lnTo>
                <a:lnTo>
                  <a:pt x="0" y="22889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3E3426DE-B178-7CA5-2E00-1DDBEF86A90E}"/>
              </a:ext>
            </a:extLst>
          </p:cNvPr>
          <p:cNvSpPr/>
          <p:nvPr/>
        </p:nvSpPr>
        <p:spPr>
          <a:xfrm>
            <a:off x="14708554" y="2810879"/>
            <a:ext cx="1379727" cy="1165134"/>
          </a:xfrm>
          <a:custGeom>
            <a:avLst/>
            <a:gdLst/>
            <a:ahLst/>
            <a:cxnLst/>
            <a:rect l="l" t="t" r="r" b="b"/>
            <a:pathLst>
              <a:path w="2098023" h="1694154">
                <a:moveTo>
                  <a:pt x="0" y="0"/>
                </a:moveTo>
                <a:lnTo>
                  <a:pt x="2098023" y="0"/>
                </a:lnTo>
                <a:lnTo>
                  <a:pt x="2098023" y="1694154"/>
                </a:lnTo>
                <a:lnTo>
                  <a:pt x="0" y="16941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0D426A7-2FB2-C34F-9E2A-CD87F2419EC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3042" y="6009207"/>
            <a:ext cx="1526354" cy="923644"/>
          </a:xfrm>
          <a:prstGeom prst="rect">
            <a:avLst/>
          </a:prstGeom>
        </p:spPr>
      </p:pic>
      <p:grpSp>
        <p:nvGrpSpPr>
          <p:cNvPr id="26" name="Group 17">
            <a:extLst>
              <a:ext uri="{FF2B5EF4-FFF2-40B4-BE49-F238E27FC236}">
                <a16:creationId xmlns:a16="http://schemas.microsoft.com/office/drawing/2014/main" id="{014169B2-4D19-BAA2-36AE-2FA765B98756}"/>
              </a:ext>
            </a:extLst>
          </p:cNvPr>
          <p:cNvGrpSpPr/>
          <p:nvPr/>
        </p:nvGrpSpPr>
        <p:grpSpPr>
          <a:xfrm>
            <a:off x="447975" y="342900"/>
            <a:ext cx="1161450" cy="463162"/>
            <a:chOff x="0" y="0"/>
            <a:chExt cx="1548600" cy="617549"/>
          </a:xfrm>
        </p:grpSpPr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B3FAC34C-60FF-2E44-D3BA-1362D01817F9}"/>
                </a:ext>
              </a:extLst>
            </p:cNvPr>
            <p:cNvSpPr/>
            <p:nvPr/>
          </p:nvSpPr>
          <p:spPr>
            <a:xfrm>
              <a:off x="0" y="0"/>
              <a:ext cx="1548638" cy="617601"/>
            </a:xfrm>
            <a:custGeom>
              <a:avLst/>
              <a:gdLst/>
              <a:ahLst/>
              <a:cxnLst/>
              <a:rect l="l" t="t" r="r" b="b"/>
              <a:pathLst>
                <a:path w="1548638" h="617601">
                  <a:moveTo>
                    <a:pt x="0" y="0"/>
                  </a:moveTo>
                  <a:lnTo>
                    <a:pt x="1548638" y="0"/>
                  </a:lnTo>
                  <a:lnTo>
                    <a:pt x="1548638" y="617601"/>
                  </a:lnTo>
                  <a:lnTo>
                    <a:pt x="0" y="617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" r="2" b="4"/>
              </a:stretch>
            </a:blipFill>
          </p:spPr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4541EF47-E595-76BB-69D1-CA30462AEF5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8500" y="146130"/>
            <a:ext cx="2140667" cy="1189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771641" y="7222855"/>
            <a:ext cx="748765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9771641" y="4763929"/>
            <a:ext cx="748765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9771641" y="2303623"/>
            <a:ext cx="748765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1822818" y="1835946"/>
            <a:ext cx="238125" cy="23812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w="28575" cap="sq">
              <a:solidFill>
                <a:srgbClr val="FFBD59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22818" y="4296252"/>
            <a:ext cx="238125" cy="23812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  <a:ln w="28575" cap="sq">
              <a:solidFill>
                <a:srgbClr val="008037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22818" y="6756557"/>
            <a:ext cx="238125" cy="23812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757"/>
            </a:solidFill>
            <a:ln w="28575" cap="sq">
              <a:solidFill>
                <a:srgbClr val="FF1616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5073633"/>
            <a:ext cx="186732" cy="18673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w="28575" cap="sq">
              <a:solidFill>
                <a:srgbClr val="FFBD59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4675326"/>
            <a:ext cx="186732" cy="18673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  <a:ln w="28575" cap="sq">
              <a:solidFill>
                <a:srgbClr val="008037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7355884"/>
            <a:ext cx="186732" cy="18673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757"/>
            </a:solidFill>
            <a:ln w="28575" cap="sq">
              <a:solidFill>
                <a:srgbClr val="FF1616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8700" y="5469915"/>
            <a:ext cx="186732" cy="18673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  <a:ln w="28575" cap="sq">
              <a:solidFill>
                <a:srgbClr val="008037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8700" y="6559552"/>
            <a:ext cx="186732" cy="186732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  <a:ln w="28575" cap="sq">
              <a:solidFill>
                <a:srgbClr val="008037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8700" y="6955834"/>
            <a:ext cx="186732" cy="186732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757"/>
            </a:solidFill>
            <a:ln w="28575" cap="sq">
              <a:solidFill>
                <a:srgbClr val="FF1616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9827" y="1431877"/>
            <a:ext cx="5554773" cy="523131"/>
            <a:chOff x="0" y="-38100"/>
            <a:chExt cx="4458735" cy="4251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458735" cy="387048"/>
            </a:xfrm>
            <a:custGeom>
              <a:avLst/>
              <a:gdLst/>
              <a:ahLst/>
              <a:cxnLst/>
              <a:rect l="l" t="t" r="r" b="b"/>
              <a:pathLst>
                <a:path w="4458735" h="387048">
                  <a:moveTo>
                    <a:pt x="4255535" y="0"/>
                  </a:moveTo>
                  <a:cubicBezTo>
                    <a:pt x="4367759" y="0"/>
                    <a:pt x="4458735" y="86644"/>
                    <a:pt x="4458735" y="193524"/>
                  </a:cubicBezTo>
                  <a:cubicBezTo>
                    <a:pt x="4458735" y="300404"/>
                    <a:pt x="4367759" y="387048"/>
                    <a:pt x="4255535" y="387048"/>
                  </a:cubicBezTo>
                  <a:lnTo>
                    <a:pt x="203200" y="387048"/>
                  </a:lnTo>
                  <a:cubicBezTo>
                    <a:pt x="90976" y="387048"/>
                    <a:pt x="0" y="300404"/>
                    <a:pt x="0" y="193524"/>
                  </a:cubicBezTo>
                  <a:cubicBezTo>
                    <a:pt x="0" y="8664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0A8E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342407" cy="425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SACCOPAY MOBILE BANKING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6998846" y="1257993"/>
            <a:ext cx="3938147" cy="8423844"/>
          </a:xfrm>
          <a:custGeom>
            <a:avLst/>
            <a:gdLst/>
            <a:ahLst/>
            <a:cxnLst/>
            <a:rect l="l" t="t" r="r" b="b"/>
            <a:pathLst>
              <a:path w="3938147" h="8423844">
                <a:moveTo>
                  <a:pt x="0" y="0"/>
                </a:moveTo>
                <a:lnTo>
                  <a:pt x="3938147" y="0"/>
                </a:lnTo>
                <a:lnTo>
                  <a:pt x="3938147" y="8423844"/>
                </a:lnTo>
                <a:lnTo>
                  <a:pt x="0" y="842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2227440" y="7326677"/>
            <a:ext cx="5031860" cy="79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  <a:spcBef>
                <a:spcPct val="0"/>
              </a:spcBef>
            </a:pPr>
            <a:r>
              <a:rPr lang="en-US" sz="2100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SACCOs tailored SMS and Receipts of transactions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200049" y="6624686"/>
            <a:ext cx="5059251" cy="441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SMS Alerts and Receipts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227440" y="4867752"/>
            <a:ext cx="5031860" cy="79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  <a:spcBef>
                <a:spcPct val="0"/>
              </a:spcBef>
            </a:pPr>
            <a:r>
              <a:rPr lang="en-US" sz="2100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Enables existing members to apply for loans anywhere and anytime.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200049" y="4165760"/>
            <a:ext cx="5059251" cy="441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Loan Application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227440" y="2407446"/>
            <a:ext cx="5031860" cy="120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  <a:spcBef>
                <a:spcPct val="0"/>
              </a:spcBef>
            </a:pPr>
            <a:r>
              <a:rPr lang="en-US" sz="2100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New Members can register themselves to SACCOs of their choice directly from the application.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200049" y="1705454"/>
            <a:ext cx="5059251" cy="441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Membership Application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8700" y="5898518"/>
            <a:ext cx="5227460" cy="441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Accounts Management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25152" y="6435727"/>
            <a:ext cx="5247245" cy="161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  <a:spcBef>
                <a:spcPct val="0"/>
              </a:spcBef>
            </a:pPr>
            <a:r>
              <a:rPr lang="en-US" sz="2100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View Account Balances</a:t>
            </a:r>
            <a:endParaRPr lang="en-US" sz="2100" u="none" strike="noStrike" spc="-21" dirty="0">
              <a:solidFill>
                <a:srgbClr val="2E2E2E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0" lvl="0" indent="0" algn="l">
              <a:lnSpc>
                <a:spcPts val="3150"/>
              </a:lnSpc>
              <a:spcBef>
                <a:spcPct val="0"/>
              </a:spcBef>
            </a:pPr>
            <a:r>
              <a:rPr lang="en-US" sz="2100" u="none" strike="noStrike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View &amp; Download Accounts Statements</a:t>
            </a:r>
          </a:p>
          <a:p>
            <a:pPr marL="0" lvl="0" indent="0" algn="l">
              <a:lnSpc>
                <a:spcPts val="3150"/>
              </a:lnSpc>
              <a:spcBef>
                <a:spcPct val="0"/>
              </a:spcBef>
            </a:pPr>
            <a:r>
              <a:rPr lang="en-US" sz="2100" u="none" strike="noStrike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Manage SACCO Savings, Loan and Share Accounts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28700" y="4012570"/>
            <a:ext cx="5227460" cy="441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Instant and Direct Payments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25152" y="4549779"/>
            <a:ext cx="5247245" cy="120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  <a:spcBef>
                <a:spcPct val="0"/>
              </a:spcBef>
            </a:pPr>
            <a:r>
              <a:rPr lang="en-US" sz="2100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Savings Payments(Compulsory/Voluntary)</a:t>
            </a:r>
          </a:p>
          <a:p>
            <a:pPr marL="0" lvl="0" indent="0" algn="l">
              <a:lnSpc>
                <a:spcPts val="3150"/>
              </a:lnSpc>
              <a:spcBef>
                <a:spcPct val="0"/>
              </a:spcBef>
            </a:pPr>
            <a:r>
              <a:rPr lang="en-US" sz="2100" u="none" strike="noStrike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Loan Payments (Principal/Interest)</a:t>
            </a:r>
          </a:p>
          <a:p>
            <a:pPr marL="0" lvl="0" indent="0" algn="l">
              <a:lnSpc>
                <a:spcPts val="3150"/>
              </a:lnSpc>
              <a:spcBef>
                <a:spcPct val="0"/>
              </a:spcBef>
            </a:pPr>
            <a:r>
              <a:rPr lang="en-US" sz="2100" u="none" strike="noStrike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Pay </a:t>
            </a:r>
            <a:r>
              <a:rPr lang="en-US" sz="2100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using</a:t>
            </a:r>
            <a:r>
              <a:rPr lang="en-US" sz="2100" u="none" strike="noStrike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 Bank or SACCOs Accounts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8700" y="2607471"/>
            <a:ext cx="5227460" cy="1024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1" spc="-385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Features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946427" y="9420225"/>
            <a:ext cx="431287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Features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72397" y="9838047"/>
            <a:ext cx="47092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Empowering Cooperatives with Technology</a:t>
            </a:r>
          </a:p>
        </p:txBody>
      </p:sp>
      <p:grpSp>
        <p:nvGrpSpPr>
          <p:cNvPr id="49" name="Group 17">
            <a:extLst>
              <a:ext uri="{FF2B5EF4-FFF2-40B4-BE49-F238E27FC236}">
                <a16:creationId xmlns:a16="http://schemas.microsoft.com/office/drawing/2014/main" id="{60A7AD0A-1C91-560B-4210-4C240B5A2678}"/>
              </a:ext>
            </a:extLst>
          </p:cNvPr>
          <p:cNvGrpSpPr/>
          <p:nvPr/>
        </p:nvGrpSpPr>
        <p:grpSpPr>
          <a:xfrm>
            <a:off x="447975" y="342900"/>
            <a:ext cx="1161450" cy="463162"/>
            <a:chOff x="0" y="0"/>
            <a:chExt cx="1548600" cy="617549"/>
          </a:xfrm>
        </p:grpSpPr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DA23DBA4-8445-38DF-252A-F49211872247}"/>
                </a:ext>
              </a:extLst>
            </p:cNvPr>
            <p:cNvSpPr/>
            <p:nvPr/>
          </p:nvSpPr>
          <p:spPr>
            <a:xfrm>
              <a:off x="0" y="0"/>
              <a:ext cx="1548638" cy="617601"/>
            </a:xfrm>
            <a:custGeom>
              <a:avLst/>
              <a:gdLst/>
              <a:ahLst/>
              <a:cxnLst/>
              <a:rect l="l" t="t" r="r" b="b"/>
              <a:pathLst>
                <a:path w="1548638" h="617601">
                  <a:moveTo>
                    <a:pt x="0" y="0"/>
                  </a:moveTo>
                  <a:lnTo>
                    <a:pt x="1548638" y="0"/>
                  </a:lnTo>
                  <a:lnTo>
                    <a:pt x="1548638" y="617601"/>
                  </a:lnTo>
                  <a:lnTo>
                    <a:pt x="0" y="617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" r="2" b="4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76" y="6095015"/>
            <a:ext cx="1908293" cy="190829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305" y="6095015"/>
            <a:ext cx="1908293" cy="1908293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 flipV="1">
            <a:off x="3185136" y="5755605"/>
            <a:ext cx="0" cy="208867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5896229" y="5755605"/>
            <a:ext cx="0" cy="208867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677" y="6095015"/>
            <a:ext cx="1908293" cy="1908293"/>
          </a:xfrm>
          <a:prstGeom prst="rect">
            <a:avLst/>
          </a:prstGeom>
        </p:spPr>
      </p:pic>
      <p:sp>
        <p:nvSpPr>
          <p:cNvPr id="7" name="Freeform 7"/>
          <p:cNvSpPr/>
          <p:nvPr/>
        </p:nvSpPr>
        <p:spPr>
          <a:xfrm>
            <a:off x="9542788" y="0"/>
            <a:ext cx="8745212" cy="8745212"/>
          </a:xfrm>
          <a:custGeom>
            <a:avLst/>
            <a:gdLst/>
            <a:ahLst/>
            <a:cxnLst/>
            <a:rect l="l" t="t" r="r" b="b"/>
            <a:pathLst>
              <a:path w="8745212" h="8745212">
                <a:moveTo>
                  <a:pt x="0" y="0"/>
                </a:moveTo>
                <a:lnTo>
                  <a:pt x="8745212" y="0"/>
                </a:lnTo>
                <a:lnTo>
                  <a:pt x="8745212" y="8745212"/>
                </a:lnTo>
                <a:lnTo>
                  <a:pt x="0" y="874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33450" y="2714422"/>
            <a:ext cx="8115300" cy="1024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1" spc="-385" dirty="0">
                <a:solidFill>
                  <a:srgbClr val="00ADEF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Product Impact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776416"/>
            <a:ext cx="7124699" cy="7989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  <a:spcBef>
                <a:spcPct val="0"/>
              </a:spcBef>
            </a:pPr>
            <a:r>
              <a:rPr lang="en-US" sz="2100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The following are a high-level figures showing the </a:t>
            </a:r>
            <a:r>
              <a:rPr lang="en-US" sz="2100" b="1" spc="-21" dirty="0">
                <a:solidFill>
                  <a:srgbClr val="2E2E2E"/>
                </a:solidFill>
                <a:latin typeface="TT Fors Bold"/>
                <a:ea typeface="TT Fors Bold"/>
                <a:cs typeface="TT Fors Bold"/>
                <a:sym typeface="TT Fors Bold"/>
              </a:rPr>
              <a:t>SACCO-Link</a:t>
            </a:r>
            <a:r>
              <a:rPr lang="en-US" sz="2100" spc="-2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 impact so far,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74287" y="6768174"/>
            <a:ext cx="49907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40A8EF"/>
                </a:solidFill>
                <a:latin typeface="TT Norms Bold"/>
                <a:ea typeface="TT Norms Bold"/>
                <a:cs typeface="TT Norms Bold"/>
                <a:sym typeface="TT Norms Bold"/>
              </a:rPr>
              <a:t>60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03564" y="6768174"/>
            <a:ext cx="48577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ADEF"/>
                </a:solidFill>
                <a:latin typeface="TT Norms Bold"/>
                <a:ea typeface="TT Norms Bold"/>
                <a:cs typeface="TT Norms Bold"/>
                <a:sym typeface="TT Norms Bold"/>
              </a:rPr>
              <a:t>20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5444" y="5707980"/>
            <a:ext cx="2036755" cy="33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190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Onboarded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16595" y="5707980"/>
            <a:ext cx="2259712" cy="33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190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Integrated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5444" y="8015733"/>
            <a:ext cx="215643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SACCOs + Unions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257857"/>
            <a:ext cx="8115300" cy="33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273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Cooperatives Digital Solution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11120" y="7996683"/>
            <a:ext cx="215643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SACCOs + Unions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29592" y="5707980"/>
            <a:ext cx="3027848" cy="33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190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Activated Mobile Banking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37408" y="6768174"/>
            <a:ext cx="22483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ADEF"/>
                </a:solidFill>
                <a:latin typeface="TT Norms Bold"/>
                <a:ea typeface="TT Norms Bold"/>
                <a:cs typeface="TT Norms Bold"/>
                <a:sym typeface="TT Norms Bold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20032" y="7996683"/>
            <a:ext cx="215643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     SACCOs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12424" y="9181597"/>
            <a:ext cx="2927794" cy="894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6700" b="1" spc="-335" dirty="0">
                <a:solidFill>
                  <a:srgbClr val="00ADEF"/>
                </a:solidFill>
                <a:latin typeface="TT Norms Bold"/>
                <a:ea typeface="TT Norms Bold"/>
                <a:cs typeface="TT Norms Bold"/>
                <a:sym typeface="TT Norms Bold"/>
              </a:rPr>
              <a:t>400M+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29073" y="9407217"/>
            <a:ext cx="5972304" cy="352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1900" dirty="0">
                <a:solidFill>
                  <a:srgbClr val="46251E"/>
                </a:solidFill>
                <a:latin typeface="TT Norms Bold"/>
                <a:ea typeface="TT Norms Bold"/>
                <a:cs typeface="TT Norms Bold"/>
                <a:sym typeface="TT Norms Bold"/>
              </a:rPr>
              <a:t>DEPOSITs MOBILIZED THROUGH THE PLATFORM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2C35B976-627F-C9C1-4A01-90BBF2D9123B}"/>
              </a:ext>
            </a:extLst>
          </p:cNvPr>
          <p:cNvSpPr txBox="1"/>
          <p:nvPr/>
        </p:nvSpPr>
        <p:spPr>
          <a:xfrm>
            <a:off x="611475" y="8989864"/>
            <a:ext cx="834449" cy="753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2800" b="1" spc="-335" dirty="0">
                <a:solidFill>
                  <a:srgbClr val="00ADEF"/>
                </a:solidFill>
                <a:latin typeface="TT Norms Bold"/>
                <a:ea typeface="TT Norms Bold"/>
                <a:cs typeface="TT Norms Bold"/>
                <a:sym typeface="TT Norms Bold"/>
              </a:rPr>
              <a:t>50K+  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D222939B-0D99-CC90-A1FF-F4F0260B5285}"/>
              </a:ext>
            </a:extLst>
          </p:cNvPr>
          <p:cNvSpPr txBox="1"/>
          <p:nvPr/>
        </p:nvSpPr>
        <p:spPr>
          <a:xfrm>
            <a:off x="3949561" y="9027072"/>
            <a:ext cx="834449" cy="753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2800" b="1" spc="-335" dirty="0">
                <a:solidFill>
                  <a:srgbClr val="00ADEF"/>
                </a:solidFill>
                <a:latin typeface="TT Norms Bold"/>
                <a:ea typeface="TT Norms Bold"/>
                <a:cs typeface="TT Norms Bold"/>
                <a:sym typeface="TT Norms Bold"/>
              </a:rPr>
              <a:t>2K+   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2E2431DA-7174-AC64-E296-56396496DBBE}"/>
              </a:ext>
            </a:extLst>
          </p:cNvPr>
          <p:cNvSpPr txBox="1"/>
          <p:nvPr/>
        </p:nvSpPr>
        <p:spPr>
          <a:xfrm>
            <a:off x="654018" y="9358826"/>
            <a:ext cx="3872179" cy="352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1900" b="1" dirty="0">
                <a:solidFill>
                  <a:srgbClr val="46251E"/>
                </a:solidFill>
                <a:latin typeface="TT Norms Bold"/>
                <a:ea typeface="TT Norms Bold"/>
                <a:cs typeface="TT Norms Bold"/>
                <a:sym typeface="TT Norms Bold"/>
              </a:rPr>
              <a:t>Individual Members</a:t>
            </a: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8C863106-535F-1631-9620-F4537CBAAB41}"/>
              </a:ext>
            </a:extLst>
          </p:cNvPr>
          <p:cNvSpPr txBox="1"/>
          <p:nvPr/>
        </p:nvSpPr>
        <p:spPr>
          <a:xfrm>
            <a:off x="3891700" y="9366739"/>
            <a:ext cx="3872179" cy="352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1900" b="1" dirty="0">
                <a:solidFill>
                  <a:srgbClr val="46251E"/>
                </a:solidFill>
                <a:latin typeface="TT Norms Bold"/>
                <a:ea typeface="TT Norms Bold"/>
                <a:cs typeface="TT Norms Bold"/>
                <a:sym typeface="TT Norms Bold"/>
              </a:rPr>
              <a:t>Primary Cooperatives</a:t>
            </a:r>
          </a:p>
        </p:txBody>
      </p:sp>
      <p:grpSp>
        <p:nvGrpSpPr>
          <p:cNvPr id="29" name="Group 17">
            <a:extLst>
              <a:ext uri="{FF2B5EF4-FFF2-40B4-BE49-F238E27FC236}">
                <a16:creationId xmlns:a16="http://schemas.microsoft.com/office/drawing/2014/main" id="{026DFE43-A774-BC8E-1FA8-0348A54EAD89}"/>
              </a:ext>
            </a:extLst>
          </p:cNvPr>
          <p:cNvGrpSpPr/>
          <p:nvPr/>
        </p:nvGrpSpPr>
        <p:grpSpPr>
          <a:xfrm>
            <a:off x="447975" y="342900"/>
            <a:ext cx="1161450" cy="463162"/>
            <a:chOff x="0" y="0"/>
            <a:chExt cx="1548600" cy="617549"/>
          </a:xfrm>
        </p:grpSpPr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C54E535D-0F9F-1A51-D5A0-FA88808B64EF}"/>
                </a:ext>
              </a:extLst>
            </p:cNvPr>
            <p:cNvSpPr/>
            <p:nvPr/>
          </p:nvSpPr>
          <p:spPr>
            <a:xfrm>
              <a:off x="0" y="0"/>
              <a:ext cx="1548638" cy="617601"/>
            </a:xfrm>
            <a:custGeom>
              <a:avLst/>
              <a:gdLst/>
              <a:ahLst/>
              <a:cxnLst/>
              <a:rect l="l" t="t" r="r" b="b"/>
              <a:pathLst>
                <a:path w="1548638" h="617601">
                  <a:moveTo>
                    <a:pt x="0" y="0"/>
                  </a:moveTo>
                  <a:lnTo>
                    <a:pt x="1548638" y="0"/>
                  </a:lnTo>
                  <a:lnTo>
                    <a:pt x="1548638" y="617601"/>
                  </a:lnTo>
                  <a:lnTo>
                    <a:pt x="0" y="617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" r="2" b="4"/>
              </a:stretch>
            </a:blipFill>
          </p:spPr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D7D4DD01-D129-FD73-03B3-257C9B35464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8500" y="146130"/>
            <a:ext cx="2140667" cy="11897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050018" y="4572498"/>
            <a:ext cx="8848803" cy="7802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https://coopbankoromia.com.et/coopbank-sacco-link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+251-965-2964-02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67400" y="6324961"/>
            <a:ext cx="6553200" cy="371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900" b="1" dirty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Cooperative Bank of Oromia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48780" y="5660935"/>
            <a:ext cx="8190440" cy="355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2500" i="1" dirty="0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Empowering Communities, Transforming Lives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DFC1EFD-43E7-6568-9D74-C51AE32CDAD1}"/>
              </a:ext>
            </a:extLst>
          </p:cNvPr>
          <p:cNvSpPr/>
          <p:nvPr/>
        </p:nvSpPr>
        <p:spPr>
          <a:xfrm>
            <a:off x="5410200" y="2409055"/>
            <a:ext cx="6248400" cy="1952853"/>
          </a:xfrm>
          <a:custGeom>
            <a:avLst/>
            <a:gdLst/>
            <a:ahLst/>
            <a:cxnLst/>
            <a:rect l="l" t="t" r="r" b="b"/>
            <a:pathLst>
              <a:path w="7315200" h="2088157">
                <a:moveTo>
                  <a:pt x="0" y="0"/>
                </a:moveTo>
                <a:lnTo>
                  <a:pt x="7315200" y="0"/>
                </a:lnTo>
                <a:lnTo>
                  <a:pt x="7315200" y="2088158"/>
                </a:lnTo>
                <a:lnTo>
                  <a:pt x="0" y="2088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60934</TotalTime>
  <Words>279</Words>
  <Application>Microsoft Office PowerPoint</Application>
  <PresentationFormat>Custom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TT Norms Bold</vt:lpstr>
      <vt:lpstr>Helvetica Now</vt:lpstr>
      <vt:lpstr>Proxima Nova Bold</vt:lpstr>
      <vt:lpstr>Arial</vt:lpstr>
      <vt:lpstr>TT Norms</vt:lpstr>
      <vt:lpstr>Nirmala UI Semilight</vt:lpstr>
      <vt:lpstr>Proxima Nova</vt:lpstr>
      <vt:lpstr>Calibri</vt:lpstr>
      <vt:lpstr>Helvetica Now Bold</vt:lpstr>
      <vt:lpstr>TT Fors</vt:lpstr>
      <vt:lpstr>TT Fors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SACCOPAY MOBILE BANKING SOLUTION</dc:title>
  <dc:creator>Coop</dc:creator>
  <cp:lastModifiedBy>Habib Sura</cp:lastModifiedBy>
  <cp:revision>6</cp:revision>
  <dcterms:created xsi:type="dcterms:W3CDTF">2006-08-16T00:00:00Z</dcterms:created>
  <dcterms:modified xsi:type="dcterms:W3CDTF">2026-03-09T12:24:35Z</dcterms:modified>
  <dc:identifier>DAG83hf55Sg</dc:identifier>
</cp:coreProperties>
</file>